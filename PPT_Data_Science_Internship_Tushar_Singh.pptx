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4e25b3d5a44c89" /><Relationship Type="http://schemas.openxmlformats.org/officeDocument/2006/relationships/extended-properties" Target="/docProps/app.xml" Id="R01aa327685bf4d2a" /><Relationship Type="http://schemas.openxmlformats.org/officeDocument/2006/relationships/officeDocument" Target="/ppt/presentation.xml" Id="R9334b0b3e5cb458c" /></Relationships>
</file>

<file path=ppt/presentation.xml><?xml version="1.0" encoding="utf-8"?>
<p:presentation xmlns:p="http://schemas.openxmlformats.org/presentationml/2006/main">
  <p:sldMasterIdLst>
    <p:sldMasterId xmlns:r="http://schemas.openxmlformats.org/officeDocument/2006/relationships" id="2147483648" r:id="R1c8dc05dd3f340b0"/>
  </p:sldMasterIdLst>
  <p:notesMasterIdLst>
    <p:notesMasterId xmlns:r="http://schemas.openxmlformats.org/officeDocument/2006/relationships" r:id="R307333b8a86d4fae"/>
  </p:notesMasterIdLst>
  <p:sldIdLst>
    <p:sldId xmlns:r="http://schemas.openxmlformats.org/officeDocument/2006/relationships" id="256" r:id="R2677bfec72e64ced"/>
    <p:sldId xmlns:r="http://schemas.openxmlformats.org/officeDocument/2006/relationships" id="257" r:id="R4fdc96f770864a46"/>
    <p:sldId xmlns:r="http://schemas.openxmlformats.org/officeDocument/2006/relationships" id="258" r:id="R48198c6ac5ef47a2"/>
    <p:sldId xmlns:r="http://schemas.openxmlformats.org/officeDocument/2006/relationships" id="259" r:id="R687c384f2fb34279"/>
    <p:sldId xmlns:r="http://schemas.openxmlformats.org/officeDocument/2006/relationships" id="260" r:id="R4d1c02fd63a14e71"/>
    <p:sldId xmlns:r="http://schemas.openxmlformats.org/officeDocument/2006/relationships" id="261" r:id="R977521d7519c462e"/>
    <p:sldId xmlns:r="http://schemas.openxmlformats.org/officeDocument/2006/relationships" id="262" r:id="R0fbe63323d9b476a"/>
    <p:sldId xmlns:r="http://schemas.openxmlformats.org/officeDocument/2006/relationships" id="263" r:id="R7152e7d32c0c44cd"/>
    <p:sldId xmlns:r="http://schemas.openxmlformats.org/officeDocument/2006/relationships" id="264" r:id="Re8c0c45aff0d4e84"/>
    <p:sldId xmlns:r="http://schemas.openxmlformats.org/officeDocument/2006/relationships" id="265" r:id="R06a8d1ef70c44580"/>
    <p:sldId xmlns:r="http://schemas.openxmlformats.org/officeDocument/2006/relationships" id="266" r:id="R871415c1dbb94b19"/>
    <p:sldId xmlns:r="http://schemas.openxmlformats.org/officeDocument/2006/relationships" id="267" r:id="R420a9cf38c4b4921"/>
    <p:sldId xmlns:r="http://schemas.openxmlformats.org/officeDocument/2006/relationships" id="268" r:id="R0af8fdec3b1044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e927f53708424d" /><Relationship Type="http://schemas.openxmlformats.org/officeDocument/2006/relationships/slideMaster" Target="/ppt/slideMasters/slideMaster1.xml" Id="R1c8dc05dd3f340b0" /><Relationship Type="http://schemas.openxmlformats.org/officeDocument/2006/relationships/notesMaster" Target="/ppt/notesMasters/notesMaster1.xml" Id="R307333b8a86d4fae" /><Relationship Type="http://schemas.openxmlformats.org/officeDocument/2006/relationships/presProps" Target="/ppt/presProps.xml" Id="Rc2fdf6c5f61d410d" /><Relationship Type="http://schemas.openxmlformats.org/officeDocument/2006/relationships/tableStyles" Target="/ppt/tableStyles.xml" Id="R168d5bd0e99b4a30" /><Relationship Type="http://schemas.openxmlformats.org/officeDocument/2006/relationships/slide" Target="/ppt/slides/slide1.xml" Id="R2677bfec72e64ced" /><Relationship Type="http://schemas.openxmlformats.org/officeDocument/2006/relationships/slide" Target="/ppt/slides/slide2.xml" Id="R4fdc96f770864a46" /><Relationship Type="http://schemas.openxmlformats.org/officeDocument/2006/relationships/slide" Target="/ppt/slides/slide3.xml" Id="R48198c6ac5ef47a2" /><Relationship Type="http://schemas.openxmlformats.org/officeDocument/2006/relationships/slide" Target="/ppt/slides/slide4.xml" Id="R687c384f2fb34279" /><Relationship Type="http://schemas.openxmlformats.org/officeDocument/2006/relationships/slide" Target="/ppt/slides/slide5.xml" Id="R4d1c02fd63a14e71" /><Relationship Type="http://schemas.openxmlformats.org/officeDocument/2006/relationships/slide" Target="/ppt/slides/slide6.xml" Id="R977521d7519c462e" /><Relationship Type="http://schemas.openxmlformats.org/officeDocument/2006/relationships/slide" Target="/ppt/slides/slide7.xml" Id="R0fbe63323d9b476a" /><Relationship Type="http://schemas.openxmlformats.org/officeDocument/2006/relationships/slide" Target="/ppt/slides/slide8.xml" Id="R7152e7d32c0c44cd" /><Relationship Type="http://schemas.openxmlformats.org/officeDocument/2006/relationships/slide" Target="/ppt/slides/slide9.xml" Id="Re8c0c45aff0d4e84" /><Relationship Type="http://schemas.openxmlformats.org/officeDocument/2006/relationships/slide" Target="/ppt/slides/slide10.xml" Id="R06a8d1ef70c44580" /><Relationship Type="http://schemas.openxmlformats.org/officeDocument/2006/relationships/slide" Target="/ppt/slides/slide11.xml" Id="R871415c1dbb94b19" /><Relationship Type="http://schemas.openxmlformats.org/officeDocument/2006/relationships/slide" Target="/ppt/slides/slide12.xml" Id="R420a9cf38c4b4921" /><Relationship Type="http://schemas.openxmlformats.org/officeDocument/2006/relationships/slide" Target="/ppt/slides/slide13.xml" Id="R0af8fdec3b1044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cbe7c4f0bb4d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1358c68644f2d" /><Relationship Type="http://schemas.openxmlformats.org/officeDocument/2006/relationships/notesMaster" Target="/ppt/notesMasters/notesMaster1.xml" Id="Rd16adc05575047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dbc3352bbd4acf" /><Relationship Type="http://schemas.openxmlformats.org/officeDocument/2006/relationships/notesMaster" Target="/ppt/notesMasters/notesMaster1.xml" Id="R7bab709ddb0743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14b5d1071d4b57" /><Relationship Type="http://schemas.openxmlformats.org/officeDocument/2006/relationships/notesMaster" Target="/ppt/notesMasters/notesMaster1.xml" Id="R66a76974ca5e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514a260f1049d0" /><Relationship Type="http://schemas.openxmlformats.org/officeDocument/2006/relationships/notesMaster" Target="/ppt/notesMasters/notesMaster1.xml" Id="Rfb2f54241dba4f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abc2ab36234e87" /><Relationship Type="http://schemas.openxmlformats.org/officeDocument/2006/relationships/notesMaster" Target="/ppt/notesMasters/notesMaster1.xml" Id="Rfa11a3f72ed049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3b69cb636a4495" /><Relationship Type="http://schemas.openxmlformats.org/officeDocument/2006/relationships/notesMaster" Target="/ppt/notesMasters/notesMaster1.xml" Id="R2f40f0a6d13648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a4dfd5f3d84d2d" /><Relationship Type="http://schemas.openxmlformats.org/officeDocument/2006/relationships/notesMaster" Target="/ppt/notesMasters/notesMaster1.xml" Id="Rd748ba3afb3745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a82d937cfe43b2" /><Relationship Type="http://schemas.openxmlformats.org/officeDocument/2006/relationships/notesMaster" Target="/ppt/notesMasters/notesMaster1.xml" Id="Rbfeb4d760d8640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1e97f7085f45f1" /><Relationship Type="http://schemas.openxmlformats.org/officeDocument/2006/relationships/notesMaster" Target="/ppt/notesMasters/notesMaster1.xml" Id="Re85410fbadd94d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fab00cade8439a" /><Relationship Type="http://schemas.openxmlformats.org/officeDocument/2006/relationships/notesMaster" Target="/ppt/notesMasters/notesMaster1.xml" Id="R8481181ddeb842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b3b18bbfa74321" /><Relationship Type="http://schemas.openxmlformats.org/officeDocument/2006/relationships/notesMaster" Target="/ppt/notesMasters/notesMaster1.xml" Id="R0455777b59374f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a8161140374935" /><Relationship Type="http://schemas.openxmlformats.org/officeDocument/2006/relationships/notesMaster" Target="/ppt/notesMasters/notesMaster1.xml" Id="R9207880b6e4343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3100e4d98f4ef9" /><Relationship Type="http://schemas.openxmlformats.org/officeDocument/2006/relationships/notesMaster" Target="/ppt/notesMasters/notesMaster1.xml" Id="Rbe2fcf136cac42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project scope and explain that all results shown are verified from the supplied dataset and scripts.</a:t>
            </a:r>
          </a:p>
          <a:p xmlns:a="http://schemas.openxmlformats.org/drawingml/2006/main">
            <a:r>
              <a:t/>
            </a:r>
          </a:p>
          <a:p xmlns:a="http://schemas.openxmlformats.org/drawingml/2006/main">
            <a:r>
              <a:t>[Sources]</a:t>
            </a:r>
          </a:p>
          <a:p xmlns:a="http://schemas.openxmlformats.org/drawingml/2006/main">
            <a:r>
              <a:t>- User-provided Internship_Report_Tushar_Singh.pdf</a:t>
            </a:r>
          </a:p>
          <a:p xmlns:a="http://schemas.openxmlformats.org/drawingml/2006/main">
            <a:r>
              <a:t>- Visual direction: user-provided PPT_Google_AI_ML_Internship_Noorain.pdf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student profile briefly, then move quickly to the internship work.</a:t>
            </a:r>
          </a:p>
          <a:p xmlns:a="http://schemas.openxmlformats.org/drawingml/2006/main">
            <a:r>
              <a:t/>
            </a:r>
          </a:p>
          <a:p xmlns:a="http://schemas.openxmlformats.org/drawingml/2006/main">
            <a:r>
              <a:t>[Sources]</a:t>
            </a:r>
          </a:p>
          <a:p xmlns:a="http://schemas.openxmlformats.org/drawingml/2006/main">
            <a:r>
              <a:t>- User-provided Internship_Report_Tushar_Singh.pdf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organization converted the internship into a clear sequence of analytical tasks.</a:t>
            </a:r>
          </a:p>
          <a:p xmlns:a="http://schemas.openxmlformats.org/drawingml/2006/main">
            <a:r>
              <a:t/>
            </a:r>
          </a:p>
          <a:p xmlns:a="http://schemas.openxmlformats.org/drawingml/2006/main">
            <a:r>
              <a:t>[Sources]</a:t>
            </a:r>
          </a:p>
          <a:p xmlns:a="http://schemas.openxmlformats.org/drawingml/2006/main">
            <a:r>
              <a:t>- User-provided Internship_Report_Tushar_Singh.pdf</a:t>
            </a:r>
          </a:p>
          <a:p xmlns:a="http://schemas.openxmlformats.org/drawingml/2006/main">
            <a:r>
              <a:t>- Authentic offer-letter image extracted from the user-authored report 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project as a data-quality and interpretation problem, not only a visualization exercise.</a:t>
            </a:r>
          </a:p>
          <a:p xmlns:a="http://schemas.openxmlformats.org/drawingml/2006/main">
            <a:r>
              <a:t/>
            </a:r>
          </a:p>
          <a:p xmlns:a="http://schemas.openxmlformats.org/drawingml/2006/main">
            <a:r>
              <a:t>[Sources]</a:t>
            </a:r>
          </a:p>
          <a:p xmlns:a="http://schemas.openxmlformats.org/drawingml/2006/main">
            <a:r>
              <a:t>- User-provided Internship_Report_Tushar_Singh.pdf, sections 4.3–4.5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Level 1 first, then Level 2; emphasize reproducibility and the separate enriched output file.</a:t>
            </a:r>
          </a:p>
          <a:p xmlns:a="http://schemas.openxmlformats.org/drawingml/2006/main">
            <a:r>
              <a:t/>
            </a:r>
          </a:p>
          <a:p xmlns:a="http://schemas.openxmlformats.org/drawingml/2006/main">
            <a:r>
              <a:t>[Sources]</a:t>
            </a:r>
          </a:p>
          <a:p xmlns:a="http://schemas.openxmlformats.org/drawingml/2006/main">
            <a:r>
              <a:t>- User-provided Internship_Report_Tushar_Singh.pdf, section 4.8</a:t>
            </a:r>
          </a:p>
          <a:p xmlns:a="http://schemas.openxmlformats.org/drawingml/2006/main">
            <a:r>
              <a:t>- User-provided level1_tasks.py and level2_tasks.py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pipeline to connect tools to analytical purpose; avoid presenting the tool list as isolated software names.</a:t>
            </a:r>
          </a:p>
          <a:p xmlns:a="http://schemas.openxmlformats.org/drawingml/2006/main">
            <a:r>
              <a:t/>
            </a:r>
          </a:p>
          <a:p xmlns:a="http://schemas.openxmlformats.org/drawingml/2006/main">
            <a:r>
              <a:t>[Sources]</a:t>
            </a:r>
          </a:p>
          <a:p xmlns:a="http://schemas.openxmlformats.org/drawingml/2006/main">
            <a:r>
              <a:t>- User-provided Internship_Report_Tushar_Singh.pdf, sections 4.6–4.7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Highlight the 22.49% unrated group because it affects later interpretation and any future modelling.</a:t>
            </a:r>
          </a:p>
          <a:p xmlns:a="http://schemas.openxmlformats.org/drawingml/2006/main">
            <a:r>
              <a:t/>
            </a:r>
          </a:p>
          <a:p xmlns:a="http://schemas.openxmlformats.org/drawingml/2006/main">
            <a:r>
              <a:t>[Sources]</a:t>
            </a:r>
          </a:p>
          <a:p xmlns:a="http://schemas.openxmlformats.org/drawingml/2006/main">
            <a:r>
              <a:t>- User-provided Dataset .csv</a:t>
            </a:r>
          </a:p>
          <a:p xmlns:a="http://schemas.openxmlformats.org/drawingml/2006/main">
            <a:r>
              <a:t>- User-provided Internship_Report_Tushar_Singh.pdf, section 4.8.1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frequency does not equal quality and that the geographic correlations are weak linear associations.</a:t>
            </a:r>
          </a:p>
          <a:p xmlns:a="http://schemas.openxmlformats.org/drawingml/2006/main">
            <a:r>
              <a:t/>
            </a:r>
          </a:p>
          <a:p xmlns:a="http://schemas.openxmlformats.org/drawingml/2006/main">
            <a:r>
              <a:t>[Sources]</a:t>
            </a:r>
          </a:p>
          <a:p xmlns:a="http://schemas.openxmlformats.org/drawingml/2006/main">
            <a:r>
              <a:t>- User-provided Dataset .csv</a:t>
            </a:r>
          </a:p>
          <a:p xmlns:a="http://schemas.openxmlformats.org/drawingml/2006/main">
            <a:r>
              <a:t>- User-provided Internship_Report_Tushar_Singh.pdf, section 4.8.1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clearly that booking status is associated with rating in this dataset; the analysis does not prove causation.</a:t>
            </a:r>
          </a:p>
          <a:p xmlns:a="http://schemas.openxmlformats.org/drawingml/2006/main">
            <a:r>
              <a:t/>
            </a:r>
          </a:p>
          <a:p xmlns:a="http://schemas.openxmlformats.org/drawingml/2006/main">
            <a:r>
              <a:t>[Sources]</a:t>
            </a:r>
          </a:p>
          <a:p xmlns:a="http://schemas.openxmlformats.org/drawingml/2006/main">
            <a:r>
              <a:t>- User-provided Dataset .csv</a:t>
            </a:r>
          </a:p>
          <a:p xmlns:a="http://schemas.openxmlformats.org/drawingml/2006/main">
            <a:r>
              <a:t>- User-provided Internship_Report_Tushar_Singh.pdf, section 4.8.2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scale and quality: Range 1 is the largest group, while Range 4 has the highest average rating.</a:t>
            </a:r>
          </a:p>
          <a:p xmlns:a="http://schemas.openxmlformats.org/drawingml/2006/main">
            <a:r>
              <a:t/>
            </a:r>
          </a:p>
          <a:p xmlns:a="http://schemas.openxmlformats.org/drawingml/2006/main">
            <a:r>
              <a:t>[Sources]</a:t>
            </a:r>
          </a:p>
          <a:p xmlns:a="http://schemas.openxmlformats.org/drawingml/2006/main">
            <a:r>
              <a:t>- User-provided Dataset .csv</a:t>
            </a:r>
          </a:p>
          <a:p xmlns:a="http://schemas.openxmlformats.org/drawingml/2006/main">
            <a:r>
              <a:t>- User-provided Internship_Report_Tushar_Singh.pdf, section 4.8.2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correlation indicates linear association, not predictive performance or causation.</a:t>
            </a:r>
          </a:p>
          <a:p xmlns:a="http://schemas.openxmlformats.org/drawingml/2006/main">
            <a:r>
              <a:t/>
            </a:r>
          </a:p>
          <a:p xmlns:a="http://schemas.openxmlformats.org/drawingml/2006/main">
            <a:r>
              <a:t>[Sources]</a:t>
            </a:r>
          </a:p>
          <a:p xmlns:a="http://schemas.openxmlformats.org/drawingml/2006/main">
            <a:r>
              <a:t>- User-provided Dataset_Enriched.csv</a:t>
            </a:r>
          </a:p>
          <a:p xmlns:a="http://schemas.openxmlformats.org/drawingml/2006/main">
            <a:r>
              <a:t>- User-provided Internship_Report_Tushar_Singh.pdf, section 4.8.3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evidence section by connecting the certificate to the actual code, datasets and report outputs.</a:t>
            </a:r>
          </a:p>
          <a:p xmlns:a="http://schemas.openxmlformats.org/drawingml/2006/main">
            <a:r>
              <a:t/>
            </a:r>
          </a:p>
          <a:p xmlns:a="http://schemas.openxmlformats.org/drawingml/2006/main">
            <a:r>
              <a:t>[Sources]</a:t>
            </a:r>
          </a:p>
          <a:p xmlns:a="http://schemas.openxmlformats.org/drawingml/2006/main">
            <a:r>
              <a:t>- User-provided Internship_Report_Tushar_Singh.pdf, sections 4.9–4.10</a:t>
            </a:r>
          </a:p>
          <a:p xmlns:a="http://schemas.openxmlformats.org/drawingml/2006/main">
            <a:r>
              <a:t>- Authentic completion-certificate image extracted from the user-authored report 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the three takeaways, then invite questions.</a:t>
            </a:r>
          </a:p>
          <a:p xmlns:a="http://schemas.openxmlformats.org/drawingml/2006/main">
            <a:r>
              <a:t/>
            </a:r>
          </a:p>
          <a:p xmlns:a="http://schemas.openxmlformats.org/drawingml/2006/main">
            <a:r>
              <a:t>[Sources]</a:t>
            </a:r>
          </a:p>
          <a:p xmlns:a="http://schemas.openxmlformats.org/drawingml/2006/main">
            <a:r>
              <a:t>- User-provided Internship_Report_Tushar_Singh.pdf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b9e539114849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10bfa7ceaf4c11" /><Relationship Type="http://schemas.openxmlformats.org/officeDocument/2006/relationships/slideLayout" Target="/ppt/slideLayouts/slideLayout1.xml" Id="Ra484a87392da49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84a87392da49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6337f7de534657" /><Relationship Type="http://schemas.openxmlformats.org/officeDocument/2006/relationships/image" Target="/ppt/media/image.png" Id="Rff3a14f777f74dad" /><Relationship Type="http://schemas.openxmlformats.org/officeDocument/2006/relationships/notesSlide" Target="/ppt/notesSlides/notesSlide1.xml" Id="Rc2b9240f85a044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0f043966a24500" /><Relationship Type="http://schemas.openxmlformats.org/officeDocument/2006/relationships/image" Target="/ppt/media/image2.png" Id="R52de1e5cd0b04173" /><Relationship Type="http://schemas.openxmlformats.org/officeDocument/2006/relationships/notesSlide" Target="/ppt/notesSlides/notesSlide2.xml" Id="Rb54274d1a9234c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6d1044bdf84dad" /><Relationship Type="http://schemas.openxmlformats.org/officeDocument/2006/relationships/image" Target="/ppt/media/image.jpeg" Id="Rbf8a2c60584e4fc2" /><Relationship Type="http://schemas.openxmlformats.org/officeDocument/2006/relationships/notesSlide" Target="/ppt/notesSlides/notesSlide3.xml" Id="R922bee5a9fa243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50c5e1fe33453a" /><Relationship Type="http://schemas.openxmlformats.org/officeDocument/2006/relationships/notesSlide" Target="/ppt/notesSlides/notesSlide4.xml" Id="Rbc221a892ca742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65e51a0c424442" /><Relationship Type="http://schemas.openxmlformats.org/officeDocument/2006/relationships/notesSlide" Target="/ppt/notesSlides/notesSlide5.xml" Id="Rb028a63ee33041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26bbf4c51e4ed8" /><Relationship Type="http://schemas.openxmlformats.org/officeDocument/2006/relationships/notesSlide" Target="/ppt/notesSlides/notesSlide6.xml" Id="Ra9ca086902a842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75ea50d0b244c9" /><Relationship Type="http://schemas.openxmlformats.org/officeDocument/2006/relationships/chart" Target="/ppt/slides/charts/chart1.xml" Id="R7d983ad83dd942d7" /><Relationship Type="http://schemas.openxmlformats.org/officeDocument/2006/relationships/notesSlide" Target="/ppt/notesSlides/notesSlide7.xml" Id="R37e6152bcc764d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de68c071634f5d" /><Relationship Type="http://schemas.openxmlformats.org/officeDocument/2006/relationships/chart" Target="/ppt/slides/charts/chart2.xml" Id="R01965ac703f04f63" /><Relationship Type="http://schemas.openxmlformats.org/officeDocument/2006/relationships/chart" Target="/ppt/slides/charts/chart3.xml" Id="R162c3687c0fc4686" /><Relationship Type="http://schemas.openxmlformats.org/officeDocument/2006/relationships/notesSlide" Target="/ppt/notesSlides/notesSlide8.xml" Id="Rdf0d2ff335994c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4dd46d8adc4745" /><Relationship Type="http://schemas.openxmlformats.org/officeDocument/2006/relationships/chart" Target="/ppt/slides/charts/chart4.xml" Id="Ra17ac020ed2d4b95" /><Relationship Type="http://schemas.openxmlformats.org/officeDocument/2006/relationships/chart" Target="/ppt/slides/charts/chart5.xml" Id="Rf4d72fa30d8a4e5c" /><Relationship Type="http://schemas.openxmlformats.org/officeDocument/2006/relationships/notesSlide" Target="/ppt/notesSlides/notesSlide9.xml" Id="R5ee73e062a404d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76ef21019b4893" /><Relationship Type="http://schemas.openxmlformats.org/officeDocument/2006/relationships/chart" Target="/ppt/slides/charts/chart6.xml" Id="R267810acf7d54d53" /><Relationship Type="http://schemas.openxmlformats.org/officeDocument/2006/relationships/chart" Target="/ppt/slides/charts/chart7.xml" Id="Ref31d63dfe6445d9" /><Relationship Type="http://schemas.openxmlformats.org/officeDocument/2006/relationships/notesSlide" Target="/ppt/notesSlides/notesSlide10.xml" Id="Rbb3f1a4bd11943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f036f2a9de46b4" /><Relationship Type="http://schemas.openxmlformats.org/officeDocument/2006/relationships/chart" Target="/ppt/slides/charts/chart8.xml" Id="R8a078fdd41ca4bb1" /><Relationship Type="http://schemas.openxmlformats.org/officeDocument/2006/relationships/notesSlide" Target="/ppt/notesSlides/notesSlide11.xml" Id="R9fe279b935ed4c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c0c6995d744fa3" /><Relationship Type="http://schemas.openxmlformats.org/officeDocument/2006/relationships/image" Target="/ppt/media/image2.jpeg" Id="Rdb77165fbc414749" /><Relationship Type="http://schemas.openxmlformats.org/officeDocument/2006/relationships/notesSlide" Target="/ppt/notesSlides/notesSlide12.xml" Id="R74278c7800ff45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b42d0cf2654ea0" /><Relationship Type="http://schemas.openxmlformats.org/officeDocument/2006/relationships/image" Target="/ppt/media/image3.png" Id="R4a6250333189441c" /><Relationship Type="http://schemas.openxmlformats.org/officeDocument/2006/relationships/notesSlide" Target="/ppt/notesSlides/notesSlide13.xml" Id="Ra0f86d53df7e422d" /></Relationships>
</file>

<file path=ppt/slides/charts/chart1.xml><?xml version="1.0" encoding="utf-8"?>
<c:chartSpace xmlns:c="http://schemas.openxmlformats.org/drawingml/2006/chart">
  <c:lang val="en-US"/>
  <c:chart>
    <c:plotArea>
      <c:doughnutChart>
        <c:ser>
          <c:idx val="0"/>
          <c:order val="0"/>
          <c:tx>
            <c:v>Restaurants</c:v>
          </c:tx>
          <c:dPt>
            <c:idx val="0"/>
            <c:spPr>
              <a:solidFill xmlns:a="http://schemas.openxmlformats.org/drawingml/2006/main">
                <a:srgbClr val="2C6EAE"/>
              </a:solidFill>
            </c:spPr>
          </c:dPt>
          <c:dPt>
            <c:idx val="1"/>
            <c:spPr>
              <a:solidFill xmlns:a="http://schemas.openxmlformats.org/drawingml/2006/main">
                <a:srgbClr val="5E6A83"/>
              </a:solidFill>
            </c:spPr>
          </c:dPt>
          <c:dPt>
            <c:idx val="2"/>
            <c:spPr>
              <a:solidFill xmlns:a="http://schemas.openxmlformats.org/drawingml/2006/main">
                <a:srgbClr val="3C9664"/>
              </a:solidFill>
            </c:spPr>
          </c:dPt>
          <c:dPt>
            <c:idx val="3"/>
            <c:spPr>
              <a:solidFill xmlns:a="http://schemas.openxmlformats.org/drawingml/2006/main">
                <a:srgbClr val="2D8196"/>
              </a:solidFill>
            </c:spPr>
          </c:dPt>
          <c:dPt>
            <c:idx val="4"/>
            <c:spPr>
              <a:solidFill xmlns:a="http://schemas.openxmlformats.org/drawingml/2006/main">
                <a:srgbClr val="F2B400"/>
              </a:solidFill>
            </c:spPr>
          </c:dPt>
          <c:dPt>
            <c:idx val="5"/>
            <c:spPr>
              <a:solidFill xmlns:a="http://schemas.openxmlformats.org/drawingml/2006/main">
                <a:srgbClr val="C45757"/>
              </a:solidFill>
            </c:spPr>
          </c:dPt>
          <c:cat>
            <c:strLit>
              <c:ptCount val="6"/>
              <c:pt idx="0">
                <c:v>Average</c:v>
              </c:pt>
              <c:pt idx="1">
                <c:v>Not rated</c:v>
              </c:pt>
              <c:pt idx="2">
                <c:v>Good</c:v>
              </c:pt>
              <c:pt idx="3">
                <c:v>Very Good</c:v>
              </c:pt>
              <c:pt idx="4">
                <c:v>Excellent</c:v>
              </c:pt>
              <c:pt idx="5">
                <c:v>Poor</c:v>
              </c:pt>
            </c:strLit>
          </c:cat>
          <c:val>
            <c:numLit>
              <c:formatCode>General</c:formatCode>
              <c:ptCount val="6"/>
              <c:pt idx="0">
                <c:v>3737</c:v>
              </c:pt>
              <c:pt idx="1">
                <c:v>2148</c:v>
              </c:pt>
              <c:pt idx="2">
                <c:v>2100</c:v>
              </c:pt>
              <c:pt idx="3">
                <c:v>1079</c:v>
              </c:pt>
              <c:pt idx="4">
                <c:v>301</c:v>
              </c:pt>
              <c:pt idx="5">
                <c:v>186</c:v>
              </c:pt>
            </c:numLit>
          </c:val>
        </c:ser>
        <c:dLbls>
          <c:txPr>
            <a:bodyPr xmlns:a="http://schemas.openxmlformats.org/drawingml/2006/main" anchorCtr="1"/>
            <a:lstStyle xmlns:a="http://schemas.openxmlformats.org/drawingml/2006/main"/>
            <a:p xmlns:a="http://schemas.openxmlformats.org/drawingml/2006/main">
              <a:pPr>
                <a:defRPr sz="825">
                  <a:solidFill>
                    <a:srgbClr val="202534"/>
                  </a:solidFill>
                </a:defRPr>
              </a:pPr>
            </a:p>
          </c:txPr>
          <c:showLegendKey val="0"/>
          <c:showVal val="0"/>
          <c:showCatName val="0"/>
          <c:showSerName val="0"/>
          <c:showPercent val="1"/>
          <c:showBubbleSize val="0"/>
          <c:showLeaderLines val="0"/>
        </c:dLbls>
        <c:holeSize val="58"/>
      </c:doughnutChart>
      <c:spPr>
        <a:solidFill xmlns:a="http://schemas.openxmlformats.org/drawingml/2006/main">
          <a:srgbClr val="FBFAF7"/>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00">
              <a:solidFill>
                <a:srgbClr val="202534"/>
              </a:solidFill>
            </a:defRPr>
          </a:pPr>
        </a:p>
      </c:txPr>
    </c:legend>
    <c:plotVisOnly val="1"/>
  </c:chart>
  <c:spPr>
    <a:solidFill xmlns:a="http://schemas.openxmlformats.org/drawingml/2006/main">
      <a:srgbClr val="FBFAF7"/>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Restaurants</c:v>
          </c:tx>
          <c:spPr>
            <a:solidFill xmlns:a="http://schemas.openxmlformats.org/drawingml/2006/main">
              <a:srgbClr val="3C9664"/>
            </a:solidFill>
          </c:spPr>
          <c:cat>
            <c:strLit>
              <c:ptCount val="5"/>
              <c:pt idx="0">
                <c:v>North Indian</c:v>
              </c:pt>
              <c:pt idx="1">
                <c:v>Chinese</c:v>
              </c:pt>
              <c:pt idx="2">
                <c:v>Fast Food</c:v>
              </c:pt>
              <c:pt idx="3">
                <c:v>Mughlai</c:v>
              </c:pt>
              <c:pt idx="4">
                <c:v>Italian</c:v>
              </c:pt>
            </c:strLit>
          </c:cat>
          <c:val>
            <c:numLit>
              <c:formatCode>General</c:formatCode>
              <c:ptCount val="5"/>
              <c:pt idx="0">
                <c:v>3960</c:v>
              </c:pt>
              <c:pt idx="1">
                <c:v>2735</c:v>
              </c:pt>
              <c:pt idx="2">
                <c:v>1986</c:v>
              </c:pt>
              <c:pt idx="3">
                <c:v>995</c:v>
              </c:pt>
              <c:pt idx="4">
                <c:v>764</c:v>
              </c:pt>
            </c:numLit>
          </c:val>
        </c:ser>
        <c:dLbls>
          <c:txPr>
            <a:bodyPr xmlns:a="http://schemas.openxmlformats.org/drawingml/2006/main" anchorCtr="1"/>
            <a:lstStyle xmlns:a="http://schemas.openxmlformats.org/drawingml/2006/main"/>
            <a:p xmlns:a="http://schemas.openxmlformats.org/drawingml/2006/main">
              <a:pPr>
                <a:defRPr sz="900" b="1">
                  <a:solidFill>
                    <a:srgbClr val="202534"/>
                  </a:solidFill>
                </a:defRPr>
              </a:pPr>
            </a:p>
          </c:txPr>
          <c:dLblPos val="out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534"/>
                </a:solidFill>
              </a:defRPr>
            </a:pPr>
          </a:p>
        </c:txPr>
        <c:crossAx val="48650112"/>
        <c:crossBetween val="between"/>
      </c:valAx>
      <c:spPr>
        <a:solidFill xmlns:a="http://schemas.openxmlformats.org/drawingml/2006/main">
          <a:srgbClr val="EEF3FB"/>
        </a:solidFill>
        <a:ln xmlns:a="http://schemas.openxmlformats.org/drawingml/2006/main" w="0">
          <a:noFill/>
          <a:prstDash val="solid"/>
        </a:ln>
      </c:spPr>
    </c:plotArea>
    <c:plotVisOnly val="1"/>
  </c:chart>
  <c:spPr>
    <a:solidFill xmlns:a="http://schemas.openxmlformats.org/drawingml/2006/main">
      <a:srgbClr val="EEF3FB"/>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Restaurants</c:v>
          </c:tx>
          <c:spPr>
            <a:solidFill xmlns:a="http://schemas.openxmlformats.org/drawingml/2006/main">
              <a:srgbClr val="2C6EAE"/>
            </a:solidFill>
          </c:spPr>
          <c:cat>
            <c:strLit>
              <c:ptCount val="4"/>
              <c:pt idx="0">
                <c:v>New Delhi</c:v>
              </c:pt>
              <c:pt idx="1">
                <c:v>Gurgaon</c:v>
              </c:pt>
              <c:pt idx="2">
                <c:v>Noida</c:v>
              </c:pt>
              <c:pt idx="3">
                <c:v>Faridabad</c:v>
              </c:pt>
            </c:strLit>
          </c:cat>
          <c:val>
            <c:numLit>
              <c:formatCode>General</c:formatCode>
              <c:ptCount val="4"/>
              <c:pt idx="0">
                <c:v>5473</c:v>
              </c:pt>
              <c:pt idx="1">
                <c:v>1118</c:v>
              </c:pt>
              <c:pt idx="2">
                <c:v>1080</c:v>
              </c:pt>
              <c:pt idx="3">
                <c:v>251</c:v>
              </c:pt>
            </c:numLit>
          </c:val>
        </c:ser>
        <c:dLbls>
          <c:txPr>
            <a:bodyPr xmlns:a="http://schemas.openxmlformats.org/drawingml/2006/main" anchorCtr="1"/>
            <a:lstStyle xmlns:a="http://schemas.openxmlformats.org/drawingml/2006/main"/>
            <a:p xmlns:a="http://schemas.openxmlformats.org/drawingml/2006/main">
              <a:pPr>
                <a:defRPr sz="900" b="1">
                  <a:solidFill>
                    <a:srgbClr val="202534"/>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534"/>
                </a:solidFill>
              </a:defRPr>
            </a:pPr>
          </a:p>
        </c:txPr>
        <c:crossAx val="48650112"/>
        <c:crossBetween val="between"/>
      </c:valAx>
      <c:spPr>
        <a:solidFill xmlns:a="http://schemas.openxmlformats.org/drawingml/2006/main">
          <a:srgbClr val="EEF3FB"/>
        </a:solidFill>
        <a:ln xmlns:a="http://schemas.openxmlformats.org/drawingml/2006/main" w="0">
          <a:noFill/>
          <a:prstDash val="solid"/>
        </a:ln>
      </c:spPr>
    </c:plotArea>
    <c:plotVisOnly val="1"/>
  </c:chart>
  <c:spPr>
    <a:solidFill xmlns:a="http://schemas.openxmlformats.org/drawingml/2006/main">
      <a:srgbClr val="EEF3FB"/>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Availability (%)</c:v>
          </c:tx>
          <c:dPt>
            <c:idx val="0"/>
            <c:invertIfNegative val="0"/>
            <c:spPr>
              <a:solidFill xmlns:a="http://schemas.openxmlformats.org/drawingml/2006/main">
                <a:srgbClr val="2C6EAE"/>
              </a:solidFill>
            </c:spPr>
          </c:dPt>
          <c:dPt>
            <c:idx val="1"/>
            <c:invertIfNegative val="0"/>
            <c:spPr>
              <a:solidFill xmlns:a="http://schemas.openxmlformats.org/drawingml/2006/main">
                <a:srgbClr val="D9822B"/>
              </a:solidFill>
            </c:spPr>
          </c:dPt>
          <c:cat>
            <c:strLit>
              <c:ptCount val="2"/>
              <c:pt idx="0">
                <c:v>Table booking</c:v>
              </c:pt>
              <c:pt idx="1">
                <c:v>Online delivery</c:v>
              </c:pt>
            </c:strLit>
          </c:cat>
          <c:val>
            <c:numLit>
              <c:formatCode>0.0</c:formatCode>
              <c:ptCount val="2"/>
              <c:pt idx="0">
                <c:v>12.12</c:v>
              </c:pt>
              <c:pt idx="1">
                <c:v>25.66</c:v>
              </c:pt>
            </c:numLit>
          </c:val>
        </c:ser>
        <c:dLbls>
          <c:txPr>
            <a:bodyPr xmlns:a="http://schemas.openxmlformats.org/drawingml/2006/main" anchorCtr="1"/>
            <a:lstStyle xmlns:a="http://schemas.openxmlformats.org/drawingml/2006/main"/>
            <a:p xmlns:a="http://schemas.openxmlformats.org/drawingml/2006/main">
              <a:pPr>
                <a:defRPr sz="975" b="1">
                  <a:solidFill>
                    <a:srgbClr val="202534"/>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534"/>
                </a:solidFill>
              </a:defRPr>
            </a:pPr>
          </a:p>
        </c:txPr>
        <c:crossAx val="48672768"/>
      </c:catAx>
      <c:valAx>
        <c:axId val="48672768"/>
        <c:scaling>
          <c:orientation val="minMax"/>
          <c:max val="30"/>
          <c:min val="0"/>
        </c:scaling>
        <c:delete val="0"/>
        <c:axPos val="l"/>
        <c:majorGridlines>
          <c:spPr>
            <a:ln xmlns:a="http://schemas.openxmlformats.org/drawingml/2006/main" w="9525">
              <a:solidFill>
                <a:srgbClr val="D4DDED"/>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6A83"/>
                </a:solidFill>
              </a:defRPr>
            </a:pPr>
          </a:p>
        </c:txPr>
        <c:crossAx val="48650112"/>
        <c:crossBetween val="between"/>
        <c:majorUnit val="10"/>
      </c:valAx>
      <c:spPr>
        <a:solidFill xmlns:a="http://schemas.openxmlformats.org/drawingml/2006/main">
          <a:srgbClr val="FBFAF7"/>
        </a:solidFill>
        <a:ln xmlns:a="http://schemas.openxmlformats.org/drawingml/2006/main" w="0">
          <a:noFill/>
          <a:prstDash val="solid"/>
        </a:ln>
      </c:spPr>
    </c:plotArea>
    <c:plotVisOnly val="1"/>
  </c:chart>
  <c:spPr>
    <a:solidFill xmlns:a="http://schemas.openxmlformats.org/drawingml/2006/main">
      <a:srgbClr val="FBFAF7"/>
    </a:solidFill>
    <a:ln xmlns:a="http://schemas.openxmlformats.org/drawingml/2006/main" w="0">
      <a:noFill/>
      <a:prstDash val="solid"/>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Average rating</c:v>
          </c:tx>
          <c:dPt>
            <c:idx val="0"/>
            <c:invertIfNegative val="0"/>
            <c:spPr>
              <a:solidFill xmlns:a="http://schemas.openxmlformats.org/drawingml/2006/main">
                <a:srgbClr val="5E6A83"/>
              </a:solidFill>
            </c:spPr>
          </c:dPt>
          <c:dPt>
            <c:idx val="1"/>
            <c:invertIfNegative val="0"/>
            <c:spPr>
              <a:solidFill xmlns:a="http://schemas.openxmlformats.org/drawingml/2006/main">
                <a:srgbClr val="3C9664"/>
              </a:solidFill>
            </c:spPr>
          </c:dPt>
          <c:cat>
            <c:strLit>
              <c:ptCount val="2"/>
              <c:pt idx="0">
                <c:v>No booking</c:v>
              </c:pt>
              <c:pt idx="1">
                <c:v>Booking available</c:v>
              </c:pt>
            </c:strLit>
          </c:cat>
          <c:val>
            <c:numLit>
              <c:formatCode>General</c:formatCode>
              <c:ptCount val="2"/>
              <c:pt idx="0">
                <c:v>2.559</c:v>
              </c:pt>
              <c:pt idx="1">
                <c:v>3.442</c:v>
              </c:pt>
            </c:numLit>
          </c:val>
        </c:ser>
        <c:dLbls>
          <c:txPr>
            <a:bodyPr xmlns:a="http://schemas.openxmlformats.org/drawingml/2006/main" anchorCtr="1"/>
            <a:lstStyle xmlns:a="http://schemas.openxmlformats.org/drawingml/2006/main"/>
            <a:p xmlns:a="http://schemas.openxmlformats.org/drawingml/2006/main">
              <a:pPr>
                <a:defRPr sz="975" b="1">
                  <a:solidFill>
                    <a:srgbClr val="202534"/>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534"/>
                </a:solidFill>
              </a:defRPr>
            </a:pPr>
          </a:p>
        </c:txPr>
        <c:crossAx val="48672768"/>
      </c:catAx>
      <c:valAx>
        <c:axId val="48672768"/>
        <c:scaling>
          <c:orientation val="minMax"/>
          <c:max val="4"/>
          <c:min val="0"/>
        </c:scaling>
        <c:delete val="0"/>
        <c:axPos val="l"/>
        <c:majorGridlines>
          <c:spPr>
            <a:ln xmlns:a="http://schemas.openxmlformats.org/drawingml/2006/main" w="9525">
              <a:solidFill>
                <a:srgbClr val="D4D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6A83"/>
                </a:solidFill>
              </a:defRPr>
            </a:pPr>
          </a:p>
        </c:txPr>
        <c:crossAx val="48650112"/>
        <c:crossBetween val="between"/>
        <c:majorUnit val="1"/>
      </c:valAx>
      <c:spPr>
        <a:solidFill xmlns:a="http://schemas.openxmlformats.org/drawingml/2006/main">
          <a:srgbClr val="FBFAF7"/>
        </a:solidFill>
        <a:ln xmlns:a="http://schemas.openxmlformats.org/drawingml/2006/main" w="0">
          <a:noFill/>
          <a:prstDash val="solid"/>
        </a:ln>
      </c:spPr>
    </c:plotArea>
    <c:plotVisOnly val="1"/>
  </c:chart>
  <c:spPr>
    <a:solidFill xmlns:a="http://schemas.openxmlformats.org/drawingml/2006/main">
      <a:srgbClr val="FBFAF7"/>
    </a:solidFill>
    <a:ln xmlns:a="http://schemas.openxmlformats.org/drawingml/2006/main" w="0">
      <a:noFill/>
      <a:prstDash val="solid"/>
    </a:ln>
  </c:spPr>
</c:chartSpace>
</file>

<file path=ppt/slides/charts/chart6.xml><?xml version="1.0" encoding="utf-8"?>
<c:chartSpace xmlns:c="http://schemas.openxmlformats.org/drawingml/2006/chart">
  <c:lang val="en-US"/>
  <c:chart>
    <c:plotArea>
      <c:barChart>
        <c:barDir val="col"/>
        <c:grouping val="clustered"/>
        <c:varyColors val="0"/>
        <c:ser>
          <c:idx val="0"/>
          <c:order val="0"/>
          <c:tx>
            <c:v>Restaurants</c:v>
          </c:tx>
          <c:dPt>
            <c:idx val="0"/>
            <c:invertIfNegative val="0"/>
            <c:spPr>
              <a:solidFill xmlns:a="http://schemas.openxmlformats.org/drawingml/2006/main">
                <a:srgbClr val="2C6EAE"/>
              </a:solidFill>
            </c:spPr>
          </c:dPt>
          <c:dPt>
            <c:idx val="1"/>
            <c:invertIfNegative val="0"/>
            <c:spPr>
              <a:solidFill xmlns:a="http://schemas.openxmlformats.org/drawingml/2006/main">
                <a:srgbClr val="3C9664"/>
              </a:solidFill>
            </c:spPr>
          </c:dPt>
          <c:dPt>
            <c:idx val="2"/>
            <c:invertIfNegative val="0"/>
            <c:spPr>
              <a:solidFill xmlns:a="http://schemas.openxmlformats.org/drawingml/2006/main">
                <a:srgbClr val="F2B400"/>
              </a:solidFill>
            </c:spPr>
          </c:dPt>
          <c:dPt>
            <c:idx val="3"/>
            <c:invertIfNegative val="0"/>
            <c:spPr>
              <a:solidFill xmlns:a="http://schemas.openxmlformats.org/drawingml/2006/main">
                <a:srgbClr val="C45757"/>
              </a:solidFill>
            </c:spPr>
          </c:dPt>
          <c:cat>
            <c:strLit>
              <c:ptCount val="4"/>
              <c:pt idx="0">
                <c:v>Range 1</c:v>
              </c:pt>
              <c:pt idx="1">
                <c:v>Range 2</c:v>
              </c:pt>
              <c:pt idx="2">
                <c:v>Range 3</c:v>
              </c:pt>
              <c:pt idx="3">
                <c:v>Range 4</c:v>
              </c:pt>
            </c:strLit>
          </c:cat>
          <c:val>
            <c:numLit>
              <c:formatCode>General</c:formatCode>
              <c:ptCount val="4"/>
              <c:pt idx="0">
                <c:v>4444</c:v>
              </c:pt>
              <c:pt idx="1">
                <c:v>3113</c:v>
              </c:pt>
              <c:pt idx="2">
                <c:v>1408</c:v>
              </c:pt>
              <c:pt idx="3">
                <c:v>586</c:v>
              </c:pt>
            </c:numLit>
          </c:val>
        </c:ser>
        <c:dLbls>
          <c:txPr>
            <a:bodyPr xmlns:a="http://schemas.openxmlformats.org/drawingml/2006/main" anchorCtr="1"/>
            <a:lstStyle xmlns:a="http://schemas.openxmlformats.org/drawingml/2006/main"/>
            <a:p xmlns:a="http://schemas.openxmlformats.org/drawingml/2006/main">
              <a:pPr>
                <a:defRPr sz="900" b="1">
                  <a:solidFill>
                    <a:srgbClr val="202534"/>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534"/>
                </a:solidFill>
              </a:defRPr>
            </a:pPr>
          </a:p>
        </c:txPr>
        <c:crossAx val="48672768"/>
      </c:catAx>
      <c:valAx>
        <c:axId val="48672768"/>
        <c:scaling>
          <c:orientation val="minMax"/>
          <c:max val="5000"/>
          <c:min val="0"/>
        </c:scaling>
        <c:delete val="0"/>
        <c:axPos val="l"/>
        <c:majorGridlines>
          <c:spPr>
            <a:ln xmlns:a="http://schemas.openxmlformats.org/drawingml/2006/main" w="9525">
              <a:solidFill>
                <a:srgbClr val="D4D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6A83"/>
                </a:solidFill>
              </a:defRPr>
            </a:pPr>
          </a:p>
        </c:txPr>
        <c:crossAx val="48650112"/>
        <c:crossBetween val="between"/>
        <c:majorUnit val="1000"/>
      </c:valAx>
      <c:spPr>
        <a:solidFill xmlns:a="http://schemas.openxmlformats.org/drawingml/2006/main">
          <a:srgbClr val="EEF3FB"/>
        </a:solidFill>
        <a:ln xmlns:a="http://schemas.openxmlformats.org/drawingml/2006/main" w="0">
          <a:noFill/>
          <a:prstDash val="solid"/>
        </a:ln>
      </c:spPr>
    </c:plotArea>
    <c:plotVisOnly val="1"/>
  </c:chart>
  <c:spPr>
    <a:solidFill xmlns:a="http://schemas.openxmlformats.org/drawingml/2006/main">
      <a:srgbClr val="EEF3FB"/>
    </a:solidFill>
    <a:ln xmlns:a="http://schemas.openxmlformats.org/drawingml/2006/main" w="0">
      <a:noFill/>
      <a:prstDash val="solid"/>
    </a:ln>
  </c:spPr>
</c:chartSpace>
</file>

<file path=ppt/slides/charts/chart7.xml><?xml version="1.0" encoding="utf-8"?>
<c:chartSpace xmlns:c="http://schemas.openxmlformats.org/drawingml/2006/chart">
  <c:lang val="en-US"/>
  <c:chart>
    <c:plotArea>
      <c:barChart>
        <c:barDir val="col"/>
        <c:grouping val="clustered"/>
        <c:varyColors val="0"/>
        <c:ser>
          <c:idx val="0"/>
          <c:order val="0"/>
          <c:tx>
            <c:v>Average rating</c:v>
          </c:tx>
          <c:dPt>
            <c:idx val="0"/>
            <c:invertIfNegative val="0"/>
            <c:spPr>
              <a:solidFill xmlns:a="http://schemas.openxmlformats.org/drawingml/2006/main">
                <a:srgbClr val="2C6EAE"/>
              </a:solidFill>
            </c:spPr>
          </c:dPt>
          <c:dPt>
            <c:idx val="1"/>
            <c:invertIfNegative val="0"/>
            <c:spPr>
              <a:solidFill xmlns:a="http://schemas.openxmlformats.org/drawingml/2006/main">
                <a:srgbClr val="3C9664"/>
              </a:solidFill>
            </c:spPr>
          </c:dPt>
          <c:dPt>
            <c:idx val="2"/>
            <c:invertIfNegative val="0"/>
            <c:spPr>
              <a:solidFill xmlns:a="http://schemas.openxmlformats.org/drawingml/2006/main">
                <a:srgbClr val="F2B400"/>
              </a:solidFill>
            </c:spPr>
          </c:dPt>
          <c:dPt>
            <c:idx val="3"/>
            <c:invertIfNegative val="0"/>
            <c:spPr>
              <a:solidFill xmlns:a="http://schemas.openxmlformats.org/drawingml/2006/main">
                <a:srgbClr val="C45757"/>
              </a:solidFill>
            </c:spPr>
          </c:dPt>
          <c:cat>
            <c:strLit>
              <c:ptCount val="4"/>
              <c:pt idx="0">
                <c:v>Range 1</c:v>
              </c:pt>
              <c:pt idx="1">
                <c:v>Range 2</c:v>
              </c:pt>
              <c:pt idx="2">
                <c:v>Range 3</c:v>
              </c:pt>
              <c:pt idx="3">
                <c:v>Range 4</c:v>
              </c:pt>
            </c:strLit>
          </c:cat>
          <c:val>
            <c:numLit>
              <c:formatCode>General</c:formatCode>
              <c:ptCount val="4"/>
              <c:pt idx="0">
                <c:v>2</c:v>
              </c:pt>
              <c:pt idx="1">
                <c:v>2.941</c:v>
              </c:pt>
              <c:pt idx="2">
                <c:v>3.683</c:v>
              </c:pt>
              <c:pt idx="3">
                <c:v>3.818</c:v>
              </c:pt>
            </c:numLit>
          </c:val>
        </c:ser>
        <c:dLbls>
          <c:txPr>
            <a:bodyPr xmlns:a="http://schemas.openxmlformats.org/drawingml/2006/main" anchorCtr="1"/>
            <a:lstStyle xmlns:a="http://schemas.openxmlformats.org/drawingml/2006/main"/>
            <a:p xmlns:a="http://schemas.openxmlformats.org/drawingml/2006/main">
              <a:pPr>
                <a:defRPr sz="900" b="1">
                  <a:solidFill>
                    <a:srgbClr val="202534"/>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534"/>
                </a:solidFill>
              </a:defRPr>
            </a:pPr>
          </a:p>
        </c:txPr>
        <c:crossAx val="48672768"/>
      </c:catAx>
      <c:valAx>
        <c:axId val="48672768"/>
        <c:scaling>
          <c:orientation val="minMax"/>
          <c:max val="4.5"/>
          <c:min val="0"/>
        </c:scaling>
        <c:delete val="0"/>
        <c:axPos val="l"/>
        <c:majorGridlines>
          <c:spPr>
            <a:ln xmlns:a="http://schemas.openxmlformats.org/drawingml/2006/main" w="9525">
              <a:solidFill>
                <a:srgbClr val="D4D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6A83"/>
                </a:solidFill>
              </a:defRPr>
            </a:pPr>
          </a:p>
        </c:txPr>
        <c:crossAx val="48650112"/>
        <c:crossBetween val="between"/>
        <c:majorUnit val="1"/>
      </c:valAx>
      <c:spPr>
        <a:solidFill xmlns:a="http://schemas.openxmlformats.org/drawingml/2006/main">
          <a:srgbClr val="EEF3FB"/>
        </a:solidFill>
        <a:ln xmlns:a="http://schemas.openxmlformats.org/drawingml/2006/main" w="0">
          <a:noFill/>
          <a:prstDash val="solid"/>
        </a:ln>
      </c:spPr>
    </c:plotArea>
    <c:plotVisOnly val="1"/>
  </c:chart>
  <c:spPr>
    <a:solidFill xmlns:a="http://schemas.openxmlformats.org/drawingml/2006/main">
      <a:srgbClr val="EEF3FB"/>
    </a:solidFill>
    <a:ln xmlns:a="http://schemas.openxmlformats.org/drawingml/2006/main" w="0">
      <a:noFill/>
      <a:prstDash val="solid"/>
    </a:ln>
  </c:spPr>
</c:chartSpace>
</file>

<file path=ppt/slides/charts/chart8.xml><?xml version="1.0" encoding="utf-8"?>
<c:chartSpace xmlns:c="http://schemas.openxmlformats.org/drawingml/2006/chart">
  <c:lang val="en-US"/>
  <c:chart>
    <c:plotArea>
      <c:barChart>
        <c:barDir val="bar"/>
        <c:grouping val="clustered"/>
        <c:varyColors val="0"/>
        <c:ser>
          <c:idx val="0"/>
          <c:order val="0"/>
          <c:tx>
            <c:v>Correlation with rating</c:v>
          </c:tx>
          <c:dPt>
            <c:idx val="0"/>
            <c:invertIfNegative val="0"/>
            <c:spPr>
              <a:solidFill xmlns:a="http://schemas.openxmlformats.org/drawingml/2006/main">
                <a:srgbClr val="2F4B91"/>
              </a:solidFill>
            </c:spPr>
          </c:dPt>
          <c:dPt>
            <c:idx val="1"/>
            <c:invertIfNegative val="0"/>
            <c:spPr>
              <a:solidFill xmlns:a="http://schemas.openxmlformats.org/drawingml/2006/main">
                <a:srgbClr val="2C6EAE"/>
              </a:solidFill>
            </c:spPr>
          </c:dPt>
          <c:dPt>
            <c:idx val="2"/>
            <c:invertIfNegative val="0"/>
            <c:spPr>
              <a:solidFill xmlns:a="http://schemas.openxmlformats.org/drawingml/2006/main">
                <a:srgbClr val="2D8196"/>
              </a:solidFill>
            </c:spPr>
          </c:dPt>
          <c:dPt>
            <c:idx val="3"/>
            <c:invertIfNegative val="0"/>
            <c:spPr>
              <a:solidFill xmlns:a="http://schemas.openxmlformats.org/drawingml/2006/main">
                <a:srgbClr val="5E6A83"/>
              </a:solidFill>
            </c:spPr>
          </c:dPt>
          <c:dPt>
            <c:idx val="4"/>
            <c:invertIfNegative val="0"/>
            <c:spPr>
              <a:solidFill xmlns:a="http://schemas.openxmlformats.org/drawingml/2006/main">
                <a:srgbClr val="5E6A83"/>
              </a:solidFill>
            </c:spPr>
          </c:dPt>
          <c:cat>
            <c:strLit>
              <c:ptCount val="5"/>
              <c:pt idx="0">
                <c:v>Cuisine Count</c:v>
              </c:pt>
              <c:pt idx="1">
                <c:v>Online Delivery</c:v>
              </c:pt>
              <c:pt idx="2">
                <c:v>Table Booking</c:v>
              </c:pt>
              <c:pt idx="3">
                <c:v>Delivering Now</c:v>
              </c:pt>
              <c:pt idx="4">
                <c:v>Address Length</c:v>
              </c:pt>
            </c:strLit>
          </c:cat>
          <c:val>
            <c:numLit>
              <c:formatCode>General</c:formatCode>
              <c:ptCount val="5"/>
              <c:pt idx="0">
                <c:v>0.249</c:v>
              </c:pt>
              <c:pt idx="1">
                <c:v>0.226</c:v>
              </c:pt>
              <c:pt idx="2">
                <c:v>0.19</c:v>
              </c:pt>
              <c:pt idx="3">
                <c:v>0.019</c:v>
              </c:pt>
              <c:pt idx="4">
                <c:v>0.002</c:v>
              </c:pt>
            </c:numLit>
          </c:val>
        </c:ser>
        <c:dLbls>
          <c:showLegendKey val="0"/>
          <c:showVal val="0"/>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4D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6A8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DED"/>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534"/>
                </a:solidFill>
              </a:defRPr>
            </a:pPr>
          </a:p>
        </c:txPr>
        <c:crossAx val="48650112"/>
        <c:crossBetween val="between"/>
      </c:valAx>
      <c:spPr>
        <a:solidFill xmlns:a="http://schemas.openxmlformats.org/drawingml/2006/main">
          <a:srgbClr val="FBFAF7"/>
        </a:solidFill>
        <a:ln xmlns:a="http://schemas.openxmlformats.org/drawingml/2006/main" w="0">
          <a:noFill/>
          <a:prstDash val="solid"/>
        </a:ln>
      </c:spPr>
    </c:plotArea>
    <c:plotVisOnly val="1"/>
  </c:chart>
  <c:spPr>
    <a:solidFill xmlns:a="http://schemas.openxmlformats.org/drawingml/2006/main">
      <a:srgbClr val="FBFAF7"/>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4215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2FCE96-91EE-4ACC-B7A0-847D0836B850}"/>
              </a:ext>
            </a:extLst>
          </p:cNvPr>
          <p:cNvSpPr>
            <a:spLocks xmlns:a="http://schemas.openxmlformats.org/drawingml/2006/main" noGrp="1"/>
          </p:cNvSpPr>
          <p:nvPr/>
        </p:nvSpPr>
        <p:spPr>
          <a:xfrm xmlns:a="http://schemas.openxmlformats.org/drawingml/2006/main" rot="0">
            <a:off x="10096500" y="0"/>
            <a:ext cx="2095500" cy="209550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3BE7B5-776A-4E47-8E68-CE026556C785}"/>
              </a:ext>
            </a:extLst>
          </p:cNvPr>
          <p:cNvSpPr>
            <a:spLocks xmlns:a="http://schemas.openxmlformats.org/drawingml/2006/main" noGrp="1"/>
          </p:cNvSpPr>
          <p:nvPr/>
        </p:nvSpPr>
        <p:spPr>
          <a:xfrm xmlns:a="http://schemas.openxmlformats.org/drawingml/2006/main" rot="0">
            <a:off x="10572750" y="5238750"/>
            <a:ext cx="1619250" cy="16192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f3a14f777f74dad"/>
          <a:stretch xmlns:a="http://schemas.openxmlformats.org/drawingml/2006/main"/>
        </p:blipFill>
        <p:spPr>
          <a:xfrm xmlns:a="http://schemas.openxmlformats.org/drawingml/2006/main">
            <a:off x="629648" y="381000"/>
            <a:ext cx="607604" cy="64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28CFE1-7AB8-42FC-87D8-557FEC013542}"/>
              </a:ext>
            </a:extLst>
          </p:cNvPr>
          <p:cNvSpPr>
            <a:spLocks xmlns:a="http://schemas.openxmlformats.org/drawingml/2006/main" noGrp="1"/>
          </p:cNvSpPr>
          <p:nvPr/>
        </p:nvSpPr>
        <p:spPr>
          <a:xfrm xmlns:a="http://schemas.openxmlformats.org/drawingml/2006/main">
            <a:off x="1381125" y="52387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D5DDF0"/>
                </a:solidFill>
              </a:defRPr>
            </a:pPr>
            <a:r>
              <a:rPr sz="1125" b="1" i="0">
                <a:solidFill>
                  <a:srgbClr val="D5DDF0"/>
                </a:solidFill>
              </a:rPr>
              <a:t>IILM UNIVERSITY, GREATER NOIDA</a:t>
            </a:r>
          </a:p>
        </p:txBody>
      </p:sp>
      <p:sp>
        <p:nvSpPr>
          <p:cNvPr id="5" name="">
            <a:extLst xmlns:a="http://schemas.openxmlformats.org/drawingml/2006/main">
              <a:ext uri="{FF2B5EF4-FFF2-40B4-BE49-F238E27FC236}">
                <a16:creationId xmlns:a16="http://schemas.microsoft.com/office/drawing/2014/main" id="{7A49FFCE-E405-44E0-B28D-AEC7C6A24E6F}"/>
              </a:ext>
            </a:extLst>
          </p:cNvPr>
          <p:cNvSpPr>
            <a:spLocks xmlns:a="http://schemas.openxmlformats.org/drawingml/2006/main" noGrp="1"/>
          </p:cNvSpPr>
          <p:nvPr/>
        </p:nvSpPr>
        <p:spPr>
          <a:xfrm xmlns:a="http://schemas.openxmlformats.org/drawingml/2006/main">
            <a:off x="628650" y="1828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F2B400"/>
                </a:solidFill>
              </a:defRPr>
            </a:pPr>
            <a:r>
              <a:rPr sz="1050" b="1" i="0">
                <a:solidFill>
                  <a:srgbClr val="F2B400"/>
                </a:solidFill>
              </a:rPr>
              <a:t>INTERNSHIP REPORT PRESENTATION</a:t>
            </a:r>
          </a:p>
        </p:txBody>
      </p:sp>
      <p:sp>
        <p:nvSpPr>
          <p:cNvPr id="6" name="">
            <a:extLst xmlns:a="http://schemas.openxmlformats.org/drawingml/2006/main">
              <a:ext uri="{FF2B5EF4-FFF2-40B4-BE49-F238E27FC236}">
                <a16:creationId xmlns:a16="http://schemas.microsoft.com/office/drawing/2014/main" id="{EF115EE1-0DC5-4474-BE2C-356FC9B6EF2E}"/>
              </a:ext>
            </a:extLst>
          </p:cNvPr>
          <p:cNvSpPr>
            <a:spLocks xmlns:a="http://schemas.openxmlformats.org/drawingml/2006/main" noGrp="1"/>
          </p:cNvSpPr>
          <p:nvPr/>
        </p:nvSpPr>
        <p:spPr>
          <a:xfrm xmlns:a="http://schemas.openxmlformats.org/drawingml/2006/main">
            <a:off x="609600" y="234315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i="0">
                <a:solidFill>
                  <a:srgbClr val="FFFFFF"/>
                </a:solidFill>
              </a:defRPr>
            </a:pPr>
            <a:r>
              <a:rPr sz="4350" b="1" i="0">
                <a:solidFill>
                  <a:srgbClr val="FFFFFF"/>
                </a:solidFill>
              </a:rPr>
              <a:t>Data Science</a:t>
            </a:r>
          </a:p>
        </p:txBody>
      </p:sp>
      <p:sp>
        <p:nvSpPr>
          <p:cNvPr id="7" name="">
            <a:extLst xmlns:a="http://schemas.openxmlformats.org/drawingml/2006/main">
              <a:ext uri="{FF2B5EF4-FFF2-40B4-BE49-F238E27FC236}">
                <a16:creationId xmlns:a16="http://schemas.microsoft.com/office/drawing/2014/main" id="{29432A69-A1EF-43CC-A78F-17919D7DEEF6}"/>
              </a:ext>
            </a:extLst>
          </p:cNvPr>
          <p:cNvSpPr>
            <a:spLocks xmlns:a="http://schemas.openxmlformats.org/drawingml/2006/main" noGrp="1"/>
          </p:cNvSpPr>
          <p:nvPr/>
        </p:nvSpPr>
        <p:spPr>
          <a:xfrm xmlns:a="http://schemas.openxmlformats.org/drawingml/2006/main">
            <a:off x="628650" y="3162300"/>
            <a:ext cx="866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0" i="0">
                <a:solidFill>
                  <a:srgbClr val="C9D3EA"/>
                </a:solidFill>
              </a:defRPr>
            </a:pPr>
            <a:r>
              <a:rPr sz="2550" b="0" i="0">
                <a:solidFill>
                  <a:srgbClr val="C9D3EA"/>
                </a:solidFill>
              </a:rPr>
              <a:t>Internship at Cognifyz Technologies</a:t>
            </a:r>
          </a:p>
        </p:txBody>
      </p:sp>
      <p:sp>
        <p:nvSpPr>
          <p:cNvPr id="8" name="">
            <a:extLst xmlns:a="http://schemas.openxmlformats.org/drawingml/2006/main">
              <a:ext uri="{FF2B5EF4-FFF2-40B4-BE49-F238E27FC236}">
                <a16:creationId xmlns:a16="http://schemas.microsoft.com/office/drawing/2014/main" id="{4206AC55-3912-405A-B2E6-5F0F8FF76DF7}"/>
              </a:ext>
            </a:extLst>
          </p:cNvPr>
          <p:cNvSpPr>
            <a:spLocks xmlns:a="http://schemas.openxmlformats.org/drawingml/2006/main" noGrp="1"/>
          </p:cNvSpPr>
          <p:nvPr/>
        </p:nvSpPr>
        <p:spPr>
          <a:xfrm xmlns:a="http://schemas.openxmlformats.org/drawingml/2006/main">
            <a:off x="628650" y="39433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AAB7D8"/>
                </a:solidFill>
              </a:defRPr>
            </a:pPr>
            <a:r>
              <a:rPr sz="1350" b="0" i="0">
                <a:solidFill>
                  <a:srgbClr val="AAB7D8"/>
                </a:solidFill>
              </a:rPr>
              <a:t>Restaurant Data Analysis • Python • Exploratory Analytics</a:t>
            </a:r>
          </a:p>
        </p:txBody>
      </p:sp>
      <p:sp>
        <p:nvSpPr>
          <p:cNvPr id="9" name="">
            <a:extLst xmlns:a="http://schemas.openxmlformats.org/drawingml/2006/main">
              <a:ext uri="{FF2B5EF4-FFF2-40B4-BE49-F238E27FC236}">
                <a16:creationId xmlns:a16="http://schemas.microsoft.com/office/drawing/2014/main" id="{934D812E-D9D6-4151-B82E-1CEAE123D2B4}"/>
              </a:ext>
            </a:extLst>
          </p:cNvPr>
          <p:cNvSpPr>
            <a:spLocks xmlns:a="http://schemas.openxmlformats.org/drawingml/2006/main" noGrp="1"/>
          </p:cNvSpPr>
          <p:nvPr/>
        </p:nvSpPr>
        <p:spPr>
          <a:xfrm xmlns:a="http://schemas.openxmlformats.org/drawingml/2006/main">
            <a:off x="628650" y="4686300"/>
            <a:ext cx="209550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10" name="">
            <a:extLst xmlns:a="http://schemas.openxmlformats.org/drawingml/2006/main">
              <a:ext uri="{FF2B5EF4-FFF2-40B4-BE49-F238E27FC236}">
                <a16:creationId xmlns:a16="http://schemas.microsoft.com/office/drawing/2014/main" id="{3AFF2199-6971-4BE4-92F0-2CFDEEC9B66D}"/>
              </a:ext>
            </a:extLst>
          </p:cNvPr>
          <p:cNvSpPr>
            <a:spLocks xmlns:a="http://schemas.openxmlformats.org/drawingml/2006/main" noGrp="1"/>
          </p:cNvSpPr>
          <p:nvPr/>
        </p:nvSpPr>
        <p:spPr>
          <a:xfrm xmlns:a="http://schemas.openxmlformats.org/drawingml/2006/main">
            <a:off x="628650" y="50482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FFFF"/>
                </a:solidFill>
              </a:defRPr>
            </a:pPr>
            <a:r>
              <a:rPr sz="1650" b="1" i="0">
                <a:solidFill>
                  <a:srgbClr val="FFFFFF"/>
                </a:solidFill>
              </a:rPr>
              <a:t>Tushar Singh</a:t>
            </a:r>
          </a:p>
        </p:txBody>
      </p:sp>
      <p:sp>
        <p:nvSpPr>
          <p:cNvPr id="11" name="">
            <a:extLst xmlns:a="http://schemas.openxmlformats.org/drawingml/2006/main">
              <a:ext uri="{FF2B5EF4-FFF2-40B4-BE49-F238E27FC236}">
                <a16:creationId xmlns:a16="http://schemas.microsoft.com/office/drawing/2014/main" id="{C806DC3B-6130-4C3C-B3C3-E99017398ED4}"/>
              </a:ext>
            </a:extLst>
          </p:cNvPr>
          <p:cNvSpPr>
            <a:spLocks xmlns:a="http://schemas.openxmlformats.org/drawingml/2006/main" noGrp="1"/>
          </p:cNvSpPr>
          <p:nvPr/>
        </p:nvSpPr>
        <p:spPr>
          <a:xfrm xmlns:a="http://schemas.openxmlformats.org/drawingml/2006/main">
            <a:off x="628650" y="54292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B9C5E2"/>
                </a:solidFill>
              </a:defRPr>
            </a:pPr>
            <a:r>
              <a:rPr sz="1200" b="0" i="0">
                <a:solidFill>
                  <a:srgbClr val="B9C5E2"/>
                </a:solidFill>
              </a:rPr>
              <a:t>Roll No. 2410030146  |  B.Tech CSE</a:t>
            </a:r>
          </a:p>
        </p:txBody>
      </p:sp>
      <p:sp>
        <p:nvSpPr>
          <p:cNvPr id="12" name="">
            <a:extLst xmlns:a="http://schemas.openxmlformats.org/drawingml/2006/main">
              <a:ext uri="{FF2B5EF4-FFF2-40B4-BE49-F238E27FC236}">
                <a16:creationId xmlns:a16="http://schemas.microsoft.com/office/drawing/2014/main" id="{34AB6E6A-4369-48B6-A5AD-878132AF9C15}"/>
              </a:ext>
            </a:extLst>
          </p:cNvPr>
          <p:cNvSpPr>
            <a:spLocks xmlns:a="http://schemas.openxmlformats.org/drawingml/2006/main" noGrp="1"/>
          </p:cNvSpPr>
          <p:nvPr/>
        </p:nvSpPr>
        <p:spPr>
          <a:xfrm xmlns:a="http://schemas.openxmlformats.org/drawingml/2006/main">
            <a:off x="628650" y="57245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B9C5E2"/>
                </a:solidFill>
              </a:defRPr>
            </a:pPr>
            <a:r>
              <a:rPr sz="1200" b="0" i="0">
                <a:solidFill>
                  <a:srgbClr val="B9C5E2"/>
                </a:solidFill>
              </a:rPr>
              <a:t>23 March – 23 April 2026</a:t>
            </a:r>
          </a:p>
        </p:txBody>
      </p:sp>
    </p:spTree>
    <p:extLst>
      <p:ext uri="{BB962C8B-B14F-4D97-AF65-F5344CB8AC3E}">
        <p14:creationId xmlns:p14="http://schemas.microsoft.com/office/powerpoint/2010/main" val="1124264750"/>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4A3EC3B-F37D-4515-8C7C-B9769D7724D6}"/>
              </a:ext>
            </a:extLst>
          </p:cNvPr>
          <p:cNvSpPr>
            <a:spLocks xmlns:a="http://schemas.openxmlformats.org/drawingml/2006/main" noGrp="1"/>
          </p:cNvSpPr>
          <p:nvPr/>
        </p:nvSpPr>
        <p:spPr>
          <a:xfrm xmlns:a="http://schemas.openxmlformats.org/drawingml/2006/main" rot="0">
            <a:off x="0" y="0"/>
            <a:ext cx="3810000" cy="6858000"/>
          </a:xfrm>
          <a:prstGeom xmlns:a="http://schemas.openxmlformats.org/drawingml/2006/main" prst="rect">
            <a:avLst/>
          </a:prstGeom>
          <a:solidFill xmlns:a="http://schemas.openxmlformats.org/drawingml/2006/main">
            <a:srgbClr val="20357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7E2D02-62A5-4CA1-BB81-DAAD959D68A8}"/>
              </a:ext>
            </a:extLst>
          </p:cNvPr>
          <p:cNvSpPr>
            <a:spLocks xmlns:a="http://schemas.openxmlformats.org/drawingml/2006/main" noGrp="1"/>
          </p:cNvSpPr>
          <p:nvPr/>
        </p:nvSpPr>
        <p:spPr>
          <a:xfrm xmlns:a="http://schemas.openxmlformats.org/drawingml/2006/main" rot="0">
            <a:off x="0" y="4953000"/>
            <a:ext cx="1905000" cy="1905000"/>
          </a:xfrm>
          <a:prstGeom xmlns:a="http://schemas.openxmlformats.org/drawingml/2006/main" prst="ellipse">
            <a:avLst/>
          </a:prstGeom>
          <a:solidFill xmlns:a="http://schemas.openxmlformats.org/drawingml/2006/main">
            <a:srgbClr val="142150"/>
          </a:solidFill>
          <a:ln xmlns:a="http://schemas.openxmlformats.org/drawingml/2006/main" w="0">
            <a:no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2de1e5cd0b04173"/>
          <a:stretch xmlns:a="http://schemas.openxmlformats.org/drawingml/2006/main"/>
        </p:blipFill>
        <p:spPr>
          <a:xfrm xmlns:a="http://schemas.openxmlformats.org/drawingml/2006/main">
            <a:off x="1428750" y="787722"/>
            <a:ext cx="952500" cy="10153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5D17404-C55D-4947-BBE5-C2875A08AC35}"/>
              </a:ext>
            </a:extLst>
          </p:cNvPr>
          <p:cNvSpPr>
            <a:spLocks xmlns:a="http://schemas.openxmlformats.org/drawingml/2006/main" noGrp="1"/>
          </p:cNvSpPr>
          <p:nvPr/>
        </p:nvSpPr>
        <p:spPr>
          <a:xfrm xmlns:a="http://schemas.openxmlformats.org/drawingml/2006/main">
            <a:off x="857250" y="2143125"/>
            <a:ext cx="2143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i="0">
                <a:solidFill>
                  <a:srgbClr val="FFFFFF"/>
                </a:solidFill>
              </a:defRPr>
            </a:pPr>
            <a:r>
              <a:rPr sz="2850" b="1" i="0">
                <a:solidFill>
                  <a:srgbClr val="FFFFFF"/>
                </a:solidFill>
              </a:rPr>
              <a:t>Tushar</a:t>
            </a:r>
          </a:p>
          <a:p xmlns:a="http://schemas.openxmlformats.org/drawingml/2006/main">
            <a:pPr algn="ctr">
              <a:defRPr sz="2850" b="1" i="0">
                <a:solidFill>
                  <a:srgbClr val="FFFFFF"/>
                </a:solidFill>
              </a:defRPr>
            </a:pPr>
            <a:r>
              <a:rPr sz="2850" b="1" i="0">
                <a:solidFill>
                  <a:srgbClr val="FFFFFF"/>
                </a:solidFill>
              </a:rPr>
              <a:t>Singh</a:t>
            </a:r>
          </a:p>
        </p:txBody>
      </p:sp>
      <p:sp>
        <p:nvSpPr>
          <p:cNvPr id="5" name="">
            <a:extLst xmlns:a="http://schemas.openxmlformats.org/drawingml/2006/main">
              <a:ext uri="{FF2B5EF4-FFF2-40B4-BE49-F238E27FC236}">
                <a16:creationId xmlns:a16="http://schemas.microsoft.com/office/drawing/2014/main" id="{7F830D33-B3E4-4558-B445-E849FF6AC932}"/>
              </a:ext>
            </a:extLst>
          </p:cNvPr>
          <p:cNvSpPr>
            <a:spLocks xmlns:a="http://schemas.openxmlformats.org/drawingml/2006/main" noGrp="1"/>
          </p:cNvSpPr>
          <p:nvPr/>
        </p:nvSpPr>
        <p:spPr>
          <a:xfrm xmlns:a="http://schemas.openxmlformats.org/drawingml/2006/main">
            <a:off x="552450" y="3581400"/>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C9D3EA"/>
                </a:solidFill>
              </a:defRPr>
            </a:pPr>
            <a:r>
              <a:rPr sz="1125" b="0" i="0">
                <a:solidFill>
                  <a:srgbClr val="C9D3EA"/>
                </a:solidFill>
              </a:rPr>
              <a:t>B.Tech – Computer Science &amp; Engineering</a:t>
            </a:r>
          </a:p>
        </p:txBody>
      </p:sp>
      <p:sp>
        <p:nvSpPr>
          <p:cNvPr id="6" name="">
            <a:extLst xmlns:a="http://schemas.openxmlformats.org/drawingml/2006/main">
              <a:ext uri="{FF2B5EF4-FFF2-40B4-BE49-F238E27FC236}">
                <a16:creationId xmlns:a16="http://schemas.microsoft.com/office/drawing/2014/main" id="{344D55BF-FAA7-4FA3-B8AA-F0E105CB93C2}"/>
              </a:ext>
            </a:extLst>
          </p:cNvPr>
          <p:cNvSpPr>
            <a:spLocks xmlns:a="http://schemas.openxmlformats.org/drawingml/2006/main" noGrp="1"/>
          </p:cNvSpPr>
          <p:nvPr/>
        </p:nvSpPr>
        <p:spPr>
          <a:xfrm xmlns:a="http://schemas.openxmlformats.org/drawingml/2006/main">
            <a:off x="428625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2B400"/>
                </a:solidFill>
              </a:defRPr>
            </a:pPr>
            <a:r>
              <a:rPr sz="975" b="1" i="0">
                <a:solidFill>
                  <a:srgbClr val="F2B400"/>
                </a:solidFill>
              </a:rPr>
              <a:t>ABOUT THE STUDENT</a:t>
            </a:r>
          </a:p>
        </p:txBody>
      </p:sp>
      <p:sp>
        <p:nvSpPr>
          <p:cNvPr id="7" name="">
            <a:extLst xmlns:a="http://schemas.openxmlformats.org/drawingml/2006/main">
              <a:ext uri="{FF2B5EF4-FFF2-40B4-BE49-F238E27FC236}">
                <a16:creationId xmlns:a16="http://schemas.microsoft.com/office/drawing/2014/main" id="{41CB1C31-1E5A-41F0-A73F-2238E85C5E49}"/>
              </a:ext>
            </a:extLst>
          </p:cNvPr>
          <p:cNvSpPr>
            <a:spLocks xmlns:a="http://schemas.openxmlformats.org/drawingml/2006/main" noGrp="1"/>
          </p:cNvSpPr>
          <p:nvPr/>
        </p:nvSpPr>
        <p:spPr>
          <a:xfrm xmlns:a="http://schemas.openxmlformats.org/drawingml/2006/main">
            <a:off x="4286250" y="78105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Candidate Profile</a:t>
            </a:r>
          </a:p>
        </p:txBody>
      </p:sp>
      <p:sp>
        <p:nvSpPr>
          <p:cNvPr id="8" name="">
            <a:extLst xmlns:a="http://schemas.openxmlformats.org/drawingml/2006/main">
              <a:ext uri="{FF2B5EF4-FFF2-40B4-BE49-F238E27FC236}">
                <a16:creationId xmlns:a16="http://schemas.microsoft.com/office/drawing/2014/main" id="{6A411467-53A9-4D85-BBDA-8D76FD8985E1}"/>
              </a:ext>
            </a:extLst>
          </p:cNvPr>
          <p:cNvSpPr>
            <a:spLocks xmlns:a="http://schemas.openxmlformats.org/drawingml/2006/main" noGrp="1"/>
          </p:cNvSpPr>
          <p:nvPr/>
        </p:nvSpPr>
        <p:spPr>
          <a:xfrm xmlns:a="http://schemas.openxmlformats.org/drawingml/2006/main" rot="0">
            <a:off x="4438650" y="1647825"/>
            <a:ext cx="495300" cy="495300"/>
          </a:xfrm>
          <a:prstGeom xmlns:a="http://schemas.openxmlformats.org/drawingml/2006/main" prst="ellipse">
            <a:avLst/>
          </a:prstGeom>
          <a:solidFill xmlns:a="http://schemas.openxmlformats.org/drawingml/2006/main">
            <a:srgbClr val="DDE7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BBA4BA4-1D91-411B-9415-CB92ADBA0920}"/>
              </a:ext>
            </a:extLst>
          </p:cNvPr>
          <p:cNvSpPr>
            <a:spLocks xmlns:a="http://schemas.openxmlformats.org/drawingml/2006/main" noGrp="1"/>
          </p:cNvSpPr>
          <p:nvPr/>
        </p:nvSpPr>
        <p:spPr>
          <a:xfrm xmlns:a="http://schemas.openxmlformats.org/drawingml/2006/main">
            <a:off x="4438650" y="1746885"/>
            <a:ext cx="495300" cy="2872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03574"/>
                </a:solidFill>
              </a:defRPr>
            </a:pPr>
            <a:r>
              <a:rPr sz="1350" b="1" i="0">
                <a:solidFill>
                  <a:srgbClr val="203574"/>
                </a:solidFill>
              </a:rPr>
              <a:t>1</a:t>
            </a:r>
          </a:p>
        </p:txBody>
      </p:sp>
      <p:sp>
        <p:nvSpPr>
          <p:cNvPr id="10" name="">
            <a:extLst xmlns:a="http://schemas.openxmlformats.org/drawingml/2006/main">
              <a:ext uri="{FF2B5EF4-FFF2-40B4-BE49-F238E27FC236}">
                <a16:creationId xmlns:a16="http://schemas.microsoft.com/office/drawing/2014/main" id="{BBF13ABD-37B3-4753-819B-A8533132146B}"/>
              </a:ext>
            </a:extLst>
          </p:cNvPr>
          <p:cNvSpPr>
            <a:spLocks xmlns:a="http://schemas.openxmlformats.org/drawingml/2006/main" noGrp="1"/>
          </p:cNvSpPr>
          <p:nvPr/>
        </p:nvSpPr>
        <p:spPr>
          <a:xfrm xmlns:a="http://schemas.openxmlformats.org/drawingml/2006/main">
            <a:off x="5143500" y="168592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E6A83"/>
                </a:solidFill>
              </a:defRPr>
            </a:pPr>
            <a:r>
              <a:rPr sz="1050" b="1" i="0">
                <a:solidFill>
                  <a:srgbClr val="5E6A83"/>
                </a:solidFill>
              </a:rPr>
              <a:t>Roll Number</a:t>
            </a:r>
          </a:p>
        </p:txBody>
      </p:sp>
      <p:sp>
        <p:nvSpPr>
          <p:cNvPr id="11" name="">
            <a:extLst xmlns:a="http://schemas.openxmlformats.org/drawingml/2006/main">
              <a:ext uri="{FF2B5EF4-FFF2-40B4-BE49-F238E27FC236}">
                <a16:creationId xmlns:a16="http://schemas.microsoft.com/office/drawing/2014/main" id="{63A6F2AF-7563-4972-A61D-C467A67081A0}"/>
              </a:ext>
            </a:extLst>
          </p:cNvPr>
          <p:cNvSpPr>
            <a:spLocks xmlns:a="http://schemas.openxmlformats.org/drawingml/2006/main" noGrp="1"/>
          </p:cNvSpPr>
          <p:nvPr/>
        </p:nvSpPr>
        <p:spPr>
          <a:xfrm xmlns:a="http://schemas.openxmlformats.org/drawingml/2006/main">
            <a:off x="5143500" y="193357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2410030146</a:t>
            </a:r>
          </a:p>
        </p:txBody>
      </p:sp>
      <p:sp>
        <p:nvSpPr>
          <p:cNvPr id="12" name="">
            <a:extLst xmlns:a="http://schemas.openxmlformats.org/drawingml/2006/main">
              <a:ext uri="{FF2B5EF4-FFF2-40B4-BE49-F238E27FC236}">
                <a16:creationId xmlns:a16="http://schemas.microsoft.com/office/drawing/2014/main" id="{CD9F8020-16CD-40A3-AA0A-40D22975D0C4}"/>
              </a:ext>
            </a:extLst>
          </p:cNvPr>
          <p:cNvSpPr>
            <a:spLocks xmlns:a="http://schemas.openxmlformats.org/drawingml/2006/main" noGrp="1"/>
          </p:cNvSpPr>
          <p:nvPr/>
        </p:nvSpPr>
        <p:spPr>
          <a:xfrm xmlns:a="http://schemas.openxmlformats.org/drawingml/2006/main" rot="0">
            <a:off x="4438650" y="2543175"/>
            <a:ext cx="495300" cy="495300"/>
          </a:xfrm>
          <a:prstGeom xmlns:a="http://schemas.openxmlformats.org/drawingml/2006/main" prst="ellipse">
            <a:avLst/>
          </a:prstGeom>
          <a:solidFill xmlns:a="http://schemas.openxmlformats.org/drawingml/2006/main">
            <a:srgbClr val="DDE7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B9D9E1-FAA3-45CB-B51D-776CCE31CA6A}"/>
              </a:ext>
            </a:extLst>
          </p:cNvPr>
          <p:cNvSpPr>
            <a:spLocks xmlns:a="http://schemas.openxmlformats.org/drawingml/2006/main" noGrp="1"/>
          </p:cNvSpPr>
          <p:nvPr/>
        </p:nvSpPr>
        <p:spPr>
          <a:xfrm xmlns:a="http://schemas.openxmlformats.org/drawingml/2006/main">
            <a:off x="4438650" y="2642235"/>
            <a:ext cx="495300" cy="2872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03574"/>
                </a:solidFill>
              </a:defRPr>
            </a:pPr>
            <a:r>
              <a:rPr sz="1350" b="1" i="0">
                <a:solidFill>
                  <a:srgbClr val="203574"/>
                </a:solidFill>
              </a:rPr>
              <a:t>2</a:t>
            </a:r>
          </a:p>
        </p:txBody>
      </p:sp>
      <p:sp>
        <p:nvSpPr>
          <p:cNvPr id="14" name="">
            <a:extLst xmlns:a="http://schemas.openxmlformats.org/drawingml/2006/main">
              <a:ext uri="{FF2B5EF4-FFF2-40B4-BE49-F238E27FC236}">
                <a16:creationId xmlns:a16="http://schemas.microsoft.com/office/drawing/2014/main" id="{BEE836FE-C4CE-43E6-8DD4-D785681119DD}"/>
              </a:ext>
            </a:extLst>
          </p:cNvPr>
          <p:cNvSpPr>
            <a:spLocks xmlns:a="http://schemas.openxmlformats.org/drawingml/2006/main" noGrp="1"/>
          </p:cNvSpPr>
          <p:nvPr/>
        </p:nvSpPr>
        <p:spPr>
          <a:xfrm xmlns:a="http://schemas.openxmlformats.org/drawingml/2006/main">
            <a:off x="5143500" y="258127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E6A83"/>
                </a:solidFill>
              </a:defRPr>
            </a:pPr>
            <a:r>
              <a:rPr sz="1050" b="1" i="0">
                <a:solidFill>
                  <a:srgbClr val="5E6A83"/>
                </a:solidFill>
              </a:rPr>
              <a:t>Institute</a:t>
            </a:r>
          </a:p>
        </p:txBody>
      </p:sp>
      <p:sp>
        <p:nvSpPr>
          <p:cNvPr id="15" name="">
            <a:extLst xmlns:a="http://schemas.openxmlformats.org/drawingml/2006/main">
              <a:ext uri="{FF2B5EF4-FFF2-40B4-BE49-F238E27FC236}">
                <a16:creationId xmlns:a16="http://schemas.microsoft.com/office/drawing/2014/main" id="{D6B1E4AF-9D95-40CE-91D9-5B9BAB927727}"/>
              </a:ext>
            </a:extLst>
          </p:cNvPr>
          <p:cNvSpPr>
            <a:spLocks xmlns:a="http://schemas.openxmlformats.org/drawingml/2006/main" noGrp="1"/>
          </p:cNvSpPr>
          <p:nvPr/>
        </p:nvSpPr>
        <p:spPr>
          <a:xfrm xmlns:a="http://schemas.openxmlformats.org/drawingml/2006/main">
            <a:off x="5143500" y="282892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IILM University, Greater Noida, U.P.</a:t>
            </a:r>
          </a:p>
        </p:txBody>
      </p:sp>
      <p:sp>
        <p:nvSpPr>
          <p:cNvPr id="16" name="">
            <a:extLst xmlns:a="http://schemas.openxmlformats.org/drawingml/2006/main">
              <a:ext uri="{FF2B5EF4-FFF2-40B4-BE49-F238E27FC236}">
                <a16:creationId xmlns:a16="http://schemas.microsoft.com/office/drawing/2014/main" id="{7BEE6C87-57BA-484E-ADD7-222697B336F0}"/>
              </a:ext>
            </a:extLst>
          </p:cNvPr>
          <p:cNvSpPr>
            <a:spLocks xmlns:a="http://schemas.openxmlformats.org/drawingml/2006/main" noGrp="1"/>
          </p:cNvSpPr>
          <p:nvPr/>
        </p:nvSpPr>
        <p:spPr>
          <a:xfrm xmlns:a="http://schemas.openxmlformats.org/drawingml/2006/main" rot="0">
            <a:off x="4438650" y="3438525"/>
            <a:ext cx="495300" cy="495300"/>
          </a:xfrm>
          <a:prstGeom xmlns:a="http://schemas.openxmlformats.org/drawingml/2006/main" prst="ellipse">
            <a:avLst/>
          </a:prstGeom>
          <a:solidFill xmlns:a="http://schemas.openxmlformats.org/drawingml/2006/main">
            <a:srgbClr val="DDE7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759E25F-3A14-4B5D-AE1C-48CED59175D3}"/>
              </a:ext>
            </a:extLst>
          </p:cNvPr>
          <p:cNvSpPr>
            <a:spLocks xmlns:a="http://schemas.openxmlformats.org/drawingml/2006/main" noGrp="1"/>
          </p:cNvSpPr>
          <p:nvPr/>
        </p:nvSpPr>
        <p:spPr>
          <a:xfrm xmlns:a="http://schemas.openxmlformats.org/drawingml/2006/main">
            <a:off x="4438650" y="3537585"/>
            <a:ext cx="495300" cy="2872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03574"/>
                </a:solidFill>
              </a:defRPr>
            </a:pPr>
            <a:r>
              <a:rPr sz="1350" b="1" i="0">
                <a:solidFill>
                  <a:srgbClr val="203574"/>
                </a:solidFill>
              </a:rPr>
              <a:t>3</a:t>
            </a:r>
          </a:p>
        </p:txBody>
      </p:sp>
      <p:sp>
        <p:nvSpPr>
          <p:cNvPr id="18" name="">
            <a:extLst xmlns:a="http://schemas.openxmlformats.org/drawingml/2006/main">
              <a:ext uri="{FF2B5EF4-FFF2-40B4-BE49-F238E27FC236}">
                <a16:creationId xmlns:a16="http://schemas.microsoft.com/office/drawing/2014/main" id="{B0A8B04B-31A4-4092-BE8D-9D822901052D}"/>
              </a:ext>
            </a:extLst>
          </p:cNvPr>
          <p:cNvSpPr>
            <a:spLocks xmlns:a="http://schemas.openxmlformats.org/drawingml/2006/main" noGrp="1"/>
          </p:cNvSpPr>
          <p:nvPr/>
        </p:nvSpPr>
        <p:spPr>
          <a:xfrm xmlns:a="http://schemas.openxmlformats.org/drawingml/2006/main">
            <a:off x="5143500" y="347662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E6A83"/>
                </a:solidFill>
              </a:defRPr>
            </a:pPr>
            <a:r>
              <a:rPr sz="1050" b="1" i="0">
                <a:solidFill>
                  <a:srgbClr val="5E6A83"/>
                </a:solidFill>
              </a:rPr>
              <a:t>Programme</a:t>
            </a:r>
          </a:p>
        </p:txBody>
      </p:sp>
      <p:sp>
        <p:nvSpPr>
          <p:cNvPr id="19" name="">
            <a:extLst xmlns:a="http://schemas.openxmlformats.org/drawingml/2006/main">
              <a:ext uri="{FF2B5EF4-FFF2-40B4-BE49-F238E27FC236}">
                <a16:creationId xmlns:a16="http://schemas.microsoft.com/office/drawing/2014/main" id="{7B1ACFDA-41AB-430F-83B4-43F6E11A3815}"/>
              </a:ext>
            </a:extLst>
          </p:cNvPr>
          <p:cNvSpPr>
            <a:spLocks xmlns:a="http://schemas.openxmlformats.org/drawingml/2006/main" noGrp="1"/>
          </p:cNvSpPr>
          <p:nvPr/>
        </p:nvSpPr>
        <p:spPr>
          <a:xfrm xmlns:a="http://schemas.openxmlformats.org/drawingml/2006/main">
            <a:off x="5143500" y="372427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B.Tech CSE, Batch 2024–2028</a:t>
            </a:r>
          </a:p>
        </p:txBody>
      </p:sp>
      <p:sp>
        <p:nvSpPr>
          <p:cNvPr id="20" name="">
            <a:extLst xmlns:a="http://schemas.openxmlformats.org/drawingml/2006/main">
              <a:ext uri="{FF2B5EF4-FFF2-40B4-BE49-F238E27FC236}">
                <a16:creationId xmlns:a16="http://schemas.microsoft.com/office/drawing/2014/main" id="{336158A3-0DC6-4596-AD45-DCB5576F8915}"/>
              </a:ext>
            </a:extLst>
          </p:cNvPr>
          <p:cNvSpPr>
            <a:spLocks xmlns:a="http://schemas.openxmlformats.org/drawingml/2006/main" noGrp="1"/>
          </p:cNvSpPr>
          <p:nvPr/>
        </p:nvSpPr>
        <p:spPr>
          <a:xfrm xmlns:a="http://schemas.openxmlformats.org/drawingml/2006/main" rot="0">
            <a:off x="4438650" y="4333875"/>
            <a:ext cx="495300" cy="495300"/>
          </a:xfrm>
          <a:prstGeom xmlns:a="http://schemas.openxmlformats.org/drawingml/2006/main" prst="ellipse">
            <a:avLst/>
          </a:prstGeom>
          <a:solidFill xmlns:a="http://schemas.openxmlformats.org/drawingml/2006/main">
            <a:srgbClr val="DDE7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BDF6B53-52DB-4CCA-8088-4BC8B0041534}"/>
              </a:ext>
            </a:extLst>
          </p:cNvPr>
          <p:cNvSpPr>
            <a:spLocks xmlns:a="http://schemas.openxmlformats.org/drawingml/2006/main" noGrp="1"/>
          </p:cNvSpPr>
          <p:nvPr/>
        </p:nvSpPr>
        <p:spPr>
          <a:xfrm xmlns:a="http://schemas.openxmlformats.org/drawingml/2006/main">
            <a:off x="4438650" y="4432935"/>
            <a:ext cx="495300" cy="2872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03574"/>
                </a:solidFill>
              </a:defRPr>
            </a:pPr>
            <a:r>
              <a:rPr sz="1350" b="1" i="0">
                <a:solidFill>
                  <a:srgbClr val="203574"/>
                </a:solidFill>
              </a:rPr>
              <a:t>4</a:t>
            </a:r>
          </a:p>
        </p:txBody>
      </p:sp>
      <p:sp>
        <p:nvSpPr>
          <p:cNvPr id="22" name="">
            <a:extLst xmlns:a="http://schemas.openxmlformats.org/drawingml/2006/main">
              <a:ext uri="{FF2B5EF4-FFF2-40B4-BE49-F238E27FC236}">
                <a16:creationId xmlns:a16="http://schemas.microsoft.com/office/drawing/2014/main" id="{EB5F6051-4A9A-43A2-8DF0-CD64168B4D7F}"/>
              </a:ext>
            </a:extLst>
          </p:cNvPr>
          <p:cNvSpPr>
            <a:spLocks xmlns:a="http://schemas.openxmlformats.org/drawingml/2006/main" noGrp="1"/>
          </p:cNvSpPr>
          <p:nvPr/>
        </p:nvSpPr>
        <p:spPr>
          <a:xfrm xmlns:a="http://schemas.openxmlformats.org/drawingml/2006/main">
            <a:off x="5143500" y="437197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E6A83"/>
                </a:solidFill>
              </a:defRPr>
            </a:pPr>
            <a:r>
              <a:rPr sz="1050" b="1" i="0">
                <a:solidFill>
                  <a:srgbClr val="5E6A83"/>
                </a:solidFill>
              </a:rPr>
              <a:t>Internship Domain</a:t>
            </a:r>
          </a:p>
        </p:txBody>
      </p:sp>
      <p:sp>
        <p:nvSpPr>
          <p:cNvPr id="23" name="">
            <a:extLst xmlns:a="http://schemas.openxmlformats.org/drawingml/2006/main">
              <a:ext uri="{FF2B5EF4-FFF2-40B4-BE49-F238E27FC236}">
                <a16:creationId xmlns:a16="http://schemas.microsoft.com/office/drawing/2014/main" id="{280B7CDC-FD61-4144-9BD7-8583CF21BD2F}"/>
              </a:ext>
            </a:extLst>
          </p:cNvPr>
          <p:cNvSpPr>
            <a:spLocks xmlns:a="http://schemas.openxmlformats.org/drawingml/2006/main" noGrp="1"/>
          </p:cNvSpPr>
          <p:nvPr/>
        </p:nvSpPr>
        <p:spPr>
          <a:xfrm xmlns:a="http://schemas.openxmlformats.org/drawingml/2006/main">
            <a:off x="5143500" y="461962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Data Science</a:t>
            </a:r>
          </a:p>
        </p:txBody>
      </p:sp>
      <p:sp>
        <p:nvSpPr>
          <p:cNvPr id="24" name="">
            <a:extLst xmlns:a="http://schemas.openxmlformats.org/drawingml/2006/main">
              <a:ext uri="{FF2B5EF4-FFF2-40B4-BE49-F238E27FC236}">
                <a16:creationId xmlns:a16="http://schemas.microsoft.com/office/drawing/2014/main" id="{495EB890-7F2E-4570-9BA7-42EE14FD5190}"/>
              </a:ext>
            </a:extLst>
          </p:cNvPr>
          <p:cNvSpPr>
            <a:spLocks xmlns:a="http://schemas.openxmlformats.org/drawingml/2006/main" noGrp="1"/>
          </p:cNvSpPr>
          <p:nvPr/>
        </p:nvSpPr>
        <p:spPr>
          <a:xfrm xmlns:a="http://schemas.openxmlformats.org/drawingml/2006/main" rot="0">
            <a:off x="4438650" y="5229225"/>
            <a:ext cx="495300" cy="495300"/>
          </a:xfrm>
          <a:prstGeom xmlns:a="http://schemas.openxmlformats.org/drawingml/2006/main" prst="ellipse">
            <a:avLst/>
          </a:prstGeom>
          <a:solidFill xmlns:a="http://schemas.openxmlformats.org/drawingml/2006/main">
            <a:srgbClr val="DDE7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D928596-5B93-49E3-A352-0883A061C740}"/>
              </a:ext>
            </a:extLst>
          </p:cNvPr>
          <p:cNvSpPr>
            <a:spLocks xmlns:a="http://schemas.openxmlformats.org/drawingml/2006/main" noGrp="1"/>
          </p:cNvSpPr>
          <p:nvPr/>
        </p:nvSpPr>
        <p:spPr>
          <a:xfrm xmlns:a="http://schemas.openxmlformats.org/drawingml/2006/main">
            <a:off x="4438650" y="5328285"/>
            <a:ext cx="495300" cy="2872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203574"/>
                </a:solidFill>
              </a:defRPr>
            </a:pPr>
            <a:r>
              <a:rPr sz="1350" b="1" i="0">
                <a:solidFill>
                  <a:srgbClr val="203574"/>
                </a:solidFill>
              </a:rPr>
              <a:t>5</a:t>
            </a:r>
          </a:p>
        </p:txBody>
      </p:sp>
      <p:sp>
        <p:nvSpPr>
          <p:cNvPr id="26" name="">
            <a:extLst xmlns:a="http://schemas.openxmlformats.org/drawingml/2006/main">
              <a:ext uri="{FF2B5EF4-FFF2-40B4-BE49-F238E27FC236}">
                <a16:creationId xmlns:a16="http://schemas.microsoft.com/office/drawing/2014/main" id="{81A618B9-BFB1-4E9E-A772-E5FA9E342B73}"/>
              </a:ext>
            </a:extLst>
          </p:cNvPr>
          <p:cNvSpPr>
            <a:spLocks xmlns:a="http://schemas.openxmlformats.org/drawingml/2006/main" noGrp="1"/>
          </p:cNvSpPr>
          <p:nvPr/>
        </p:nvSpPr>
        <p:spPr>
          <a:xfrm xmlns:a="http://schemas.openxmlformats.org/drawingml/2006/main">
            <a:off x="5143500" y="526732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5E6A83"/>
                </a:solidFill>
              </a:defRPr>
            </a:pPr>
            <a:r>
              <a:rPr sz="1050" b="1" i="0">
                <a:solidFill>
                  <a:srgbClr val="5E6A83"/>
                </a:solidFill>
              </a:rPr>
              <a:t>Duration</a:t>
            </a:r>
          </a:p>
        </p:txBody>
      </p:sp>
      <p:sp>
        <p:nvSpPr>
          <p:cNvPr id="27" name="">
            <a:extLst xmlns:a="http://schemas.openxmlformats.org/drawingml/2006/main">
              <a:ext uri="{FF2B5EF4-FFF2-40B4-BE49-F238E27FC236}">
                <a16:creationId xmlns:a16="http://schemas.microsoft.com/office/drawing/2014/main" id="{C1E64F68-CE65-4B7A-B31D-C972924922F4}"/>
              </a:ext>
            </a:extLst>
          </p:cNvPr>
          <p:cNvSpPr>
            <a:spLocks xmlns:a="http://schemas.openxmlformats.org/drawingml/2006/main" noGrp="1"/>
          </p:cNvSpPr>
          <p:nvPr/>
        </p:nvSpPr>
        <p:spPr>
          <a:xfrm xmlns:a="http://schemas.openxmlformats.org/drawingml/2006/main">
            <a:off x="5143500" y="551497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1 Month | 23 Mar – 23 Apr 2026</a:t>
            </a:r>
          </a:p>
        </p:txBody>
      </p:sp>
      <p:sp>
        <p:nvSpPr>
          <p:cNvPr id="28" name="">
            <a:extLst xmlns:a="http://schemas.openxmlformats.org/drawingml/2006/main">
              <a:ext uri="{FF2B5EF4-FFF2-40B4-BE49-F238E27FC236}">
                <a16:creationId xmlns:a16="http://schemas.microsoft.com/office/drawing/2014/main" id="{EEFBCC23-F206-4C22-9F73-A4BE6483AD3D}"/>
              </a:ext>
            </a:extLst>
          </p:cNvPr>
          <p:cNvSpPr>
            <a:spLocks xmlns:a="http://schemas.openxmlformats.org/drawingml/2006/main" noGrp="1"/>
          </p:cNvSpPr>
          <p:nvPr/>
        </p:nvSpPr>
        <p:spPr>
          <a:xfrm xmlns:a="http://schemas.openxmlformats.org/drawingml/2006/main">
            <a:off x="457200" y="64960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AAB7D8"/>
                </a:solidFill>
              </a:defRPr>
            </a:pPr>
            <a:r>
              <a:rPr sz="750" b="0" i="0">
                <a:solidFill>
                  <a:srgbClr val="AAB7D8"/>
                </a:solidFill>
              </a:rPr>
              <a:t>Data Science Internship • Tushar Singh</a:t>
            </a:r>
          </a:p>
        </p:txBody>
      </p:sp>
      <p:sp>
        <p:nvSpPr>
          <p:cNvPr id="29" name="">
            <a:extLst xmlns:a="http://schemas.openxmlformats.org/drawingml/2006/main">
              <a:ext uri="{FF2B5EF4-FFF2-40B4-BE49-F238E27FC236}">
                <a16:creationId xmlns:a16="http://schemas.microsoft.com/office/drawing/2014/main" id="{7ABF6228-2F05-4107-BDA0-47EE98BE906D}"/>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02</a:t>
            </a:r>
          </a:p>
        </p:txBody>
      </p:sp>
    </p:spTree>
    <p:extLst>
      <p:ext uri="{BB962C8B-B14F-4D97-AF65-F5344CB8AC3E}">
        <p14:creationId xmlns:p14="http://schemas.microsoft.com/office/powerpoint/2010/main" val="741316368"/>
      </p:ext>
    </p:extLst>
  </p:cSld>
</p:sld>
</file>

<file path=ppt/slides/slide3.xml><?xml version="1.0" encoding="utf-8"?>
<p:sld xmlns:p="http://schemas.openxmlformats.org/presentationml/2006/main">
  <p:cSld>
    <p:bg>
      <p:bgPr>
        <a:solidFill xmlns:a="http://schemas.openxmlformats.org/drawingml/2006/main">
          <a:srgbClr val="EEF3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D042DC1-FF27-4B7C-8F20-C5E4F2B15DF1}"/>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INTERNSHIP BRIEF</a:t>
            </a:r>
          </a:p>
        </p:txBody>
      </p:sp>
      <p:sp>
        <p:nvSpPr>
          <p:cNvPr id="2" name="">
            <a:extLst xmlns:a="http://schemas.openxmlformats.org/drawingml/2006/main">
              <a:ext uri="{FF2B5EF4-FFF2-40B4-BE49-F238E27FC236}">
                <a16:creationId xmlns:a16="http://schemas.microsoft.com/office/drawing/2014/main" id="{CF47CB92-BDDA-4429-A0E4-CA054C8D8264}"/>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Cognifyz structured the work around practical data analysis</a:t>
            </a:r>
          </a:p>
        </p:txBody>
      </p:sp>
      <p:sp>
        <p:nvSpPr>
          <p:cNvPr id="3" name="">
            <a:extLst xmlns:a="http://schemas.openxmlformats.org/drawingml/2006/main">
              <a:ext uri="{FF2B5EF4-FFF2-40B4-BE49-F238E27FC236}">
                <a16:creationId xmlns:a16="http://schemas.microsoft.com/office/drawing/2014/main" id="{93E0C769-62D3-4E00-94CC-E7DA46C62962}"/>
              </a:ext>
            </a:extLst>
          </p:cNvPr>
          <p:cNvSpPr>
            <a:spLocks xmlns:a="http://schemas.openxmlformats.org/drawingml/2006/main" noGrp="1"/>
          </p:cNvSpPr>
          <p:nvPr/>
        </p:nvSpPr>
        <p:spPr>
          <a:xfrm xmlns:a="http://schemas.openxmlformats.org/drawingml/2006/main">
            <a:off x="609600" y="16192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142150"/>
                </a:solidFill>
              </a:defRPr>
            </a:pPr>
            <a:r>
              <a:rPr sz="2025" b="1" i="0">
                <a:solidFill>
                  <a:srgbClr val="142150"/>
                </a:solidFill>
              </a:rPr>
              <a:t>Cognifyz Technologies</a:t>
            </a:r>
          </a:p>
        </p:txBody>
      </p:sp>
      <p:sp>
        <p:nvSpPr>
          <p:cNvPr id="4" name="">
            <a:extLst xmlns:a="http://schemas.openxmlformats.org/drawingml/2006/main">
              <a:ext uri="{FF2B5EF4-FFF2-40B4-BE49-F238E27FC236}">
                <a16:creationId xmlns:a16="http://schemas.microsoft.com/office/drawing/2014/main" id="{08453274-C341-4C3E-A764-D139C8E38F73}"/>
              </a:ext>
            </a:extLst>
          </p:cNvPr>
          <p:cNvSpPr>
            <a:spLocks xmlns:a="http://schemas.openxmlformats.org/drawingml/2006/main" noGrp="1"/>
          </p:cNvSpPr>
          <p:nvPr/>
        </p:nvSpPr>
        <p:spPr>
          <a:xfrm xmlns:a="http://schemas.openxmlformats.org/drawingml/2006/main">
            <a:off x="609600" y="20097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1">
                <a:solidFill>
                  <a:srgbClr val="5E6A83"/>
                </a:solidFill>
              </a:defRPr>
            </a:pPr>
            <a:r>
              <a:rPr sz="1200" b="0" i="1">
                <a:solidFill>
                  <a:srgbClr val="5E6A83"/>
                </a:solidFill>
              </a:rPr>
              <a:t>Where Data Meets Intelligence</a:t>
            </a:r>
          </a:p>
        </p:txBody>
      </p:sp>
      <p:sp>
        <p:nvSpPr>
          <p:cNvPr id="5" name="">
            <a:extLst xmlns:a="http://schemas.openxmlformats.org/drawingml/2006/main">
              <a:ext uri="{FF2B5EF4-FFF2-40B4-BE49-F238E27FC236}">
                <a16:creationId xmlns:a16="http://schemas.microsoft.com/office/drawing/2014/main" id="{3A52EA67-BF52-47AD-A398-7C0A1502573A}"/>
              </a:ext>
            </a:extLst>
          </p:cNvPr>
          <p:cNvSpPr>
            <a:spLocks xmlns:a="http://schemas.openxmlformats.org/drawingml/2006/main" noGrp="1"/>
          </p:cNvSpPr>
          <p:nvPr/>
        </p:nvSpPr>
        <p:spPr>
          <a:xfrm xmlns:a="http://schemas.openxmlformats.org/drawingml/2006/main">
            <a:off x="666750" y="2724150"/>
            <a:ext cx="247650" cy="0"/>
          </a:xfrm>
          <a:prstGeom xmlns:a="http://schemas.openxmlformats.org/drawingml/2006/main" prst="line">
            <a:avLst/>
          </a:prstGeom>
          <a:noFill xmlns:a="http://schemas.openxmlformats.org/drawingml/2006/main"/>
          <a:ln xmlns:a="http://schemas.openxmlformats.org/drawingml/2006/main" w="28575">
            <a:solidFill>
              <a:srgbClr val="2F4B91"/>
            </a:solidFill>
            <a:prstDash val="solid"/>
          </a:ln>
        </p:spPr>
      </p:sp>
      <p:sp>
        <p:nvSpPr>
          <p:cNvPr id="6" name="">
            <a:extLst xmlns:a="http://schemas.openxmlformats.org/drawingml/2006/main">
              <a:ext uri="{FF2B5EF4-FFF2-40B4-BE49-F238E27FC236}">
                <a16:creationId xmlns:a16="http://schemas.microsoft.com/office/drawing/2014/main" id="{A2A9D67A-8C2C-49C5-9EFA-38458A7F74F7}"/>
              </a:ext>
            </a:extLst>
          </p:cNvPr>
          <p:cNvSpPr>
            <a:spLocks xmlns:a="http://schemas.openxmlformats.org/drawingml/2006/main" noGrp="1"/>
          </p:cNvSpPr>
          <p:nvPr/>
        </p:nvSpPr>
        <p:spPr>
          <a:xfrm xmlns:a="http://schemas.openxmlformats.org/drawingml/2006/main">
            <a:off x="1066800" y="26098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E6A83"/>
                </a:solidFill>
              </a:defRPr>
            </a:pPr>
            <a:r>
              <a:rPr sz="900" b="1" i="0">
                <a:solidFill>
                  <a:srgbClr val="5E6A83"/>
                </a:solidFill>
              </a:rPr>
              <a:t>ROLE</a:t>
            </a:r>
          </a:p>
        </p:txBody>
      </p:sp>
      <p:sp>
        <p:nvSpPr>
          <p:cNvPr id="7" name="">
            <a:extLst xmlns:a="http://schemas.openxmlformats.org/drawingml/2006/main">
              <a:ext uri="{FF2B5EF4-FFF2-40B4-BE49-F238E27FC236}">
                <a16:creationId xmlns:a16="http://schemas.microsoft.com/office/drawing/2014/main" id="{A835C4E5-DA8F-4A84-8843-184ED4C60FD9}"/>
              </a:ext>
            </a:extLst>
          </p:cNvPr>
          <p:cNvSpPr>
            <a:spLocks xmlns:a="http://schemas.openxmlformats.org/drawingml/2006/main" noGrp="1"/>
          </p:cNvSpPr>
          <p:nvPr/>
        </p:nvSpPr>
        <p:spPr>
          <a:xfrm xmlns:a="http://schemas.openxmlformats.org/drawingml/2006/main">
            <a:off x="1066800" y="284797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Data Science Intern</a:t>
            </a:r>
          </a:p>
        </p:txBody>
      </p:sp>
      <p:sp>
        <p:nvSpPr>
          <p:cNvPr id="8" name="">
            <a:extLst xmlns:a="http://schemas.openxmlformats.org/drawingml/2006/main">
              <a:ext uri="{FF2B5EF4-FFF2-40B4-BE49-F238E27FC236}">
                <a16:creationId xmlns:a16="http://schemas.microsoft.com/office/drawing/2014/main" id="{42BCBDB5-7774-41CF-AF7B-A322A4670924}"/>
              </a:ext>
            </a:extLst>
          </p:cNvPr>
          <p:cNvSpPr>
            <a:spLocks xmlns:a="http://schemas.openxmlformats.org/drawingml/2006/main" noGrp="1"/>
          </p:cNvSpPr>
          <p:nvPr/>
        </p:nvSpPr>
        <p:spPr>
          <a:xfrm xmlns:a="http://schemas.openxmlformats.org/drawingml/2006/main">
            <a:off x="666750" y="3448050"/>
            <a:ext cx="247650" cy="0"/>
          </a:xfrm>
          <a:prstGeom xmlns:a="http://schemas.openxmlformats.org/drawingml/2006/main" prst="line">
            <a:avLst/>
          </a:prstGeom>
          <a:noFill xmlns:a="http://schemas.openxmlformats.org/drawingml/2006/main"/>
          <a:ln xmlns:a="http://schemas.openxmlformats.org/drawingml/2006/main" w="28575">
            <a:solidFill>
              <a:srgbClr val="2F4B91"/>
            </a:solidFill>
            <a:prstDash val="solid"/>
          </a:ln>
        </p:spPr>
      </p:sp>
      <p:sp>
        <p:nvSpPr>
          <p:cNvPr id="9" name="">
            <a:extLst xmlns:a="http://schemas.openxmlformats.org/drawingml/2006/main">
              <a:ext uri="{FF2B5EF4-FFF2-40B4-BE49-F238E27FC236}">
                <a16:creationId xmlns:a16="http://schemas.microsoft.com/office/drawing/2014/main" id="{01473672-2F3E-4F92-947E-C38ABAD4B4BE}"/>
              </a:ext>
            </a:extLst>
          </p:cNvPr>
          <p:cNvSpPr>
            <a:spLocks xmlns:a="http://schemas.openxmlformats.org/drawingml/2006/main" noGrp="1"/>
          </p:cNvSpPr>
          <p:nvPr/>
        </p:nvSpPr>
        <p:spPr>
          <a:xfrm xmlns:a="http://schemas.openxmlformats.org/drawingml/2006/main">
            <a:off x="1066800" y="33337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E6A83"/>
                </a:solidFill>
              </a:defRPr>
            </a:pPr>
            <a:r>
              <a:rPr sz="900" b="1" i="0">
                <a:solidFill>
                  <a:srgbClr val="5E6A83"/>
                </a:solidFill>
              </a:rPr>
              <a:t>REFERENCE</a:t>
            </a:r>
          </a:p>
        </p:txBody>
      </p:sp>
      <p:sp>
        <p:nvSpPr>
          <p:cNvPr id="10" name="">
            <a:extLst xmlns:a="http://schemas.openxmlformats.org/drawingml/2006/main">
              <a:ext uri="{FF2B5EF4-FFF2-40B4-BE49-F238E27FC236}">
                <a16:creationId xmlns:a16="http://schemas.microsoft.com/office/drawing/2014/main" id="{BBFCEBE7-D9F9-4012-B801-8F15A76316C3}"/>
              </a:ext>
            </a:extLst>
          </p:cNvPr>
          <p:cNvSpPr>
            <a:spLocks xmlns:a="http://schemas.openxmlformats.org/drawingml/2006/main" noGrp="1"/>
          </p:cNvSpPr>
          <p:nvPr/>
        </p:nvSpPr>
        <p:spPr>
          <a:xfrm xmlns:a="http://schemas.openxmlformats.org/drawingml/2006/main">
            <a:off x="1066800" y="357187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CTI/A1/C328746</a:t>
            </a:r>
          </a:p>
        </p:txBody>
      </p:sp>
      <p:sp>
        <p:nvSpPr>
          <p:cNvPr id="11" name="">
            <a:extLst xmlns:a="http://schemas.openxmlformats.org/drawingml/2006/main">
              <a:ext uri="{FF2B5EF4-FFF2-40B4-BE49-F238E27FC236}">
                <a16:creationId xmlns:a16="http://schemas.microsoft.com/office/drawing/2014/main" id="{C47F20B7-3D94-4AB5-A006-273CA3EEB6EF}"/>
              </a:ext>
            </a:extLst>
          </p:cNvPr>
          <p:cNvSpPr>
            <a:spLocks xmlns:a="http://schemas.openxmlformats.org/drawingml/2006/main" noGrp="1"/>
          </p:cNvSpPr>
          <p:nvPr/>
        </p:nvSpPr>
        <p:spPr>
          <a:xfrm xmlns:a="http://schemas.openxmlformats.org/drawingml/2006/main">
            <a:off x="666750" y="4171950"/>
            <a:ext cx="247650" cy="0"/>
          </a:xfrm>
          <a:prstGeom xmlns:a="http://schemas.openxmlformats.org/drawingml/2006/main" prst="line">
            <a:avLst/>
          </a:prstGeom>
          <a:noFill xmlns:a="http://schemas.openxmlformats.org/drawingml/2006/main"/>
          <a:ln xmlns:a="http://schemas.openxmlformats.org/drawingml/2006/main" w="28575">
            <a:solidFill>
              <a:srgbClr val="2F4B91"/>
            </a:solidFill>
            <a:prstDash val="solid"/>
          </a:ln>
        </p:spPr>
      </p:sp>
      <p:sp>
        <p:nvSpPr>
          <p:cNvPr id="12" name="">
            <a:extLst xmlns:a="http://schemas.openxmlformats.org/drawingml/2006/main">
              <a:ext uri="{FF2B5EF4-FFF2-40B4-BE49-F238E27FC236}">
                <a16:creationId xmlns:a16="http://schemas.microsoft.com/office/drawing/2014/main" id="{119FD046-0AAC-488D-8EB6-85D00F7EA4CF}"/>
              </a:ext>
            </a:extLst>
          </p:cNvPr>
          <p:cNvSpPr>
            <a:spLocks xmlns:a="http://schemas.openxmlformats.org/drawingml/2006/main" noGrp="1"/>
          </p:cNvSpPr>
          <p:nvPr/>
        </p:nvSpPr>
        <p:spPr>
          <a:xfrm xmlns:a="http://schemas.openxmlformats.org/drawingml/2006/main">
            <a:off x="1066800" y="4057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E6A83"/>
                </a:solidFill>
              </a:defRPr>
            </a:pPr>
            <a:r>
              <a:rPr sz="900" b="1" i="0">
                <a:solidFill>
                  <a:srgbClr val="5E6A83"/>
                </a:solidFill>
              </a:rPr>
              <a:t>LOCATION</a:t>
            </a:r>
          </a:p>
        </p:txBody>
      </p:sp>
      <p:sp>
        <p:nvSpPr>
          <p:cNvPr id="13" name="">
            <a:extLst xmlns:a="http://schemas.openxmlformats.org/drawingml/2006/main">
              <a:ext uri="{FF2B5EF4-FFF2-40B4-BE49-F238E27FC236}">
                <a16:creationId xmlns:a16="http://schemas.microsoft.com/office/drawing/2014/main" id="{BAB90C4B-F026-4070-9093-34674E9BC0AD}"/>
              </a:ext>
            </a:extLst>
          </p:cNvPr>
          <p:cNvSpPr>
            <a:spLocks xmlns:a="http://schemas.openxmlformats.org/drawingml/2006/main" noGrp="1"/>
          </p:cNvSpPr>
          <p:nvPr/>
        </p:nvSpPr>
        <p:spPr>
          <a:xfrm xmlns:a="http://schemas.openxmlformats.org/drawingml/2006/main">
            <a:off x="1066800" y="429577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Nagpur, Maharashtra</a:t>
            </a:r>
          </a:p>
        </p:txBody>
      </p:sp>
      <p:sp>
        <p:nvSpPr>
          <p:cNvPr id="14" name="">
            <a:extLst xmlns:a="http://schemas.openxmlformats.org/drawingml/2006/main">
              <a:ext uri="{FF2B5EF4-FFF2-40B4-BE49-F238E27FC236}">
                <a16:creationId xmlns:a16="http://schemas.microsoft.com/office/drawing/2014/main" id="{F649C2BD-0970-4824-83E1-D642B9578C3A}"/>
              </a:ext>
            </a:extLst>
          </p:cNvPr>
          <p:cNvSpPr>
            <a:spLocks xmlns:a="http://schemas.openxmlformats.org/drawingml/2006/main" noGrp="1"/>
          </p:cNvSpPr>
          <p:nvPr/>
        </p:nvSpPr>
        <p:spPr>
          <a:xfrm xmlns:a="http://schemas.openxmlformats.org/drawingml/2006/main">
            <a:off x="666750" y="4895850"/>
            <a:ext cx="24765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15" name="">
            <a:extLst xmlns:a="http://schemas.openxmlformats.org/drawingml/2006/main">
              <a:ext uri="{FF2B5EF4-FFF2-40B4-BE49-F238E27FC236}">
                <a16:creationId xmlns:a16="http://schemas.microsoft.com/office/drawing/2014/main" id="{81F575FA-8718-4B06-A7F9-E6C1AAD4A4A2}"/>
              </a:ext>
            </a:extLst>
          </p:cNvPr>
          <p:cNvSpPr>
            <a:spLocks xmlns:a="http://schemas.openxmlformats.org/drawingml/2006/main" noGrp="1"/>
          </p:cNvSpPr>
          <p:nvPr/>
        </p:nvSpPr>
        <p:spPr>
          <a:xfrm xmlns:a="http://schemas.openxmlformats.org/drawingml/2006/main">
            <a:off x="1066800" y="47815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E6A83"/>
                </a:solidFill>
              </a:defRPr>
            </a:pPr>
            <a:r>
              <a:rPr sz="900" b="1" i="0">
                <a:solidFill>
                  <a:srgbClr val="5E6A83"/>
                </a:solidFill>
              </a:rPr>
              <a:t>FOCUS</a:t>
            </a:r>
          </a:p>
        </p:txBody>
      </p:sp>
      <p:sp>
        <p:nvSpPr>
          <p:cNvPr id="16" name="">
            <a:extLst xmlns:a="http://schemas.openxmlformats.org/drawingml/2006/main">
              <a:ext uri="{FF2B5EF4-FFF2-40B4-BE49-F238E27FC236}">
                <a16:creationId xmlns:a16="http://schemas.microsoft.com/office/drawing/2014/main" id="{53828D20-7C59-4E6E-B292-F4FA5D58403D}"/>
              </a:ext>
            </a:extLst>
          </p:cNvPr>
          <p:cNvSpPr>
            <a:spLocks xmlns:a="http://schemas.openxmlformats.org/drawingml/2006/main" noGrp="1"/>
          </p:cNvSpPr>
          <p:nvPr/>
        </p:nvSpPr>
        <p:spPr>
          <a:xfrm xmlns:a="http://schemas.openxmlformats.org/drawingml/2006/main">
            <a:off x="1066800" y="5019675"/>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Restaurant-data exploration, visualization and feature engineering</a:t>
            </a:r>
          </a:p>
        </p:txBody>
      </p:sp>
      <p:sp>
        <p:nvSpPr>
          <p:cNvPr id="17" name="">
            <a:extLst xmlns:a="http://schemas.openxmlformats.org/drawingml/2006/main">
              <a:ext uri="{FF2B5EF4-FFF2-40B4-BE49-F238E27FC236}">
                <a16:creationId xmlns:a16="http://schemas.microsoft.com/office/drawing/2014/main" id="{5E02F38F-96E5-4AAB-B7BB-9A8152F56DEE}"/>
              </a:ext>
            </a:extLst>
          </p:cNvPr>
          <p:cNvSpPr>
            <a:spLocks xmlns:a="http://schemas.openxmlformats.org/drawingml/2006/main" noGrp="1"/>
          </p:cNvSpPr>
          <p:nvPr/>
        </p:nvSpPr>
        <p:spPr>
          <a:xfrm xmlns:a="http://schemas.openxmlformats.org/drawingml/2006/main" rot="0">
            <a:off x="7562850" y="1466850"/>
            <a:ext cx="3562350" cy="4476750"/>
          </a:xfrm>
          <a:prstGeom xmlns:a="http://schemas.openxmlformats.org/drawingml/2006/main" prst="roundRect">
            <a:avLst>
              <a:gd name="adj" fmla="val 4813"/>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f8a2c60584e4fc2"/>
          <a:stretch xmlns:a="http://schemas.openxmlformats.org/drawingml/2006/main"/>
        </p:blipFill>
        <p:spPr>
          <a:xfrm xmlns:a="http://schemas.openxmlformats.org/drawingml/2006/main">
            <a:off x="7896033" y="1657350"/>
            <a:ext cx="2895985" cy="409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003CDE8-E910-4FC7-986F-74E7FE301650}"/>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20" name="">
            <a:extLst xmlns:a="http://schemas.openxmlformats.org/drawingml/2006/main">
              <a:ext uri="{FF2B5EF4-FFF2-40B4-BE49-F238E27FC236}">
                <a16:creationId xmlns:a16="http://schemas.microsoft.com/office/drawing/2014/main" id="{A5DDCED0-3B8F-43F4-98E4-44661A083B78}"/>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03</a:t>
            </a:r>
          </a:p>
        </p:txBody>
      </p:sp>
    </p:spTree>
    <p:extLst>
      <p:ext uri="{BB962C8B-B14F-4D97-AF65-F5344CB8AC3E}">
        <p14:creationId xmlns:p14="http://schemas.microsoft.com/office/powerpoint/2010/main" val="1275818309"/>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8A9A113-A77E-413F-8897-3D70DE3AA6C4}"/>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PROBLEM STATEMENT</a:t>
            </a:r>
          </a:p>
        </p:txBody>
      </p:sp>
      <p:sp>
        <p:nvSpPr>
          <p:cNvPr id="2" name="">
            <a:extLst xmlns:a="http://schemas.openxmlformats.org/drawingml/2006/main">
              <a:ext uri="{FF2B5EF4-FFF2-40B4-BE49-F238E27FC236}">
                <a16:creationId xmlns:a16="http://schemas.microsoft.com/office/drawing/2014/main" id="{F75242AC-9E53-4446-8F3E-017015E050FC}"/>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Mixed restaurant data had to become clear, reliable evidence</a:t>
            </a:r>
          </a:p>
        </p:txBody>
      </p:sp>
      <p:sp>
        <p:nvSpPr>
          <p:cNvPr id="3" name="">
            <a:extLst xmlns:a="http://schemas.openxmlformats.org/drawingml/2006/main">
              <a:ext uri="{FF2B5EF4-FFF2-40B4-BE49-F238E27FC236}">
                <a16:creationId xmlns:a16="http://schemas.microsoft.com/office/drawing/2014/main" id="{C5AAE199-0D5F-41FF-B8C8-E65BC424591F}"/>
              </a:ext>
            </a:extLst>
          </p:cNvPr>
          <p:cNvSpPr>
            <a:spLocks xmlns:a="http://schemas.openxmlformats.org/drawingml/2006/main" noGrp="1"/>
          </p:cNvSpPr>
          <p:nvPr/>
        </p:nvSpPr>
        <p:spPr>
          <a:xfrm xmlns:a="http://schemas.openxmlformats.org/drawingml/2006/main" rot="0">
            <a:off x="609600" y="1571625"/>
            <a:ext cx="10972800" cy="1295400"/>
          </a:xfrm>
          <a:prstGeom xmlns:a="http://schemas.openxmlformats.org/drawingml/2006/main" prst="roundRect">
            <a:avLst>
              <a:gd name="adj" fmla="val 11765"/>
            </a:avLst>
          </a:prstGeom>
          <a:solidFill xmlns:a="http://schemas.openxmlformats.org/drawingml/2006/main">
            <a:srgbClr val="EEF3F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434A63-D998-4594-A567-AC6A36618FAB}"/>
              </a:ext>
            </a:extLst>
          </p:cNvPr>
          <p:cNvSpPr>
            <a:spLocks xmlns:a="http://schemas.openxmlformats.org/drawingml/2006/main" noGrp="1"/>
          </p:cNvSpPr>
          <p:nvPr/>
        </p:nvSpPr>
        <p:spPr>
          <a:xfrm xmlns:a="http://schemas.openxmlformats.org/drawingml/2006/main">
            <a:off x="876300" y="1847850"/>
            <a:ext cx="1043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202534"/>
                </a:solidFill>
              </a:defRPr>
            </a:pPr>
            <a:r>
              <a:rPr sz="1425" b="0" i="0">
                <a:solidFill>
                  <a:srgbClr val="202534"/>
                </a:solidFill>
              </a:rPr>
              <a:t>The dataset combined numerical, categorical, textual and geospatial fields. Missing cuisines, unrated records, skewed costs, service flags and coordinates had to be cleaned and interpreted before meaningful conclusions could be drawn.</a:t>
            </a:r>
          </a:p>
        </p:txBody>
      </p:sp>
      <p:sp>
        <p:nvSpPr>
          <p:cNvPr id="5" name="">
            <a:extLst xmlns:a="http://schemas.openxmlformats.org/drawingml/2006/main">
              <a:ext uri="{FF2B5EF4-FFF2-40B4-BE49-F238E27FC236}">
                <a16:creationId xmlns:a16="http://schemas.microsoft.com/office/drawing/2014/main" id="{D83441F1-EEA4-4BC8-8909-C2E6897B7C0E}"/>
              </a:ext>
            </a:extLst>
          </p:cNvPr>
          <p:cNvSpPr>
            <a:spLocks xmlns:a="http://schemas.openxmlformats.org/drawingml/2006/main" noGrp="1"/>
          </p:cNvSpPr>
          <p:nvPr/>
        </p:nvSpPr>
        <p:spPr>
          <a:xfrm xmlns:a="http://schemas.openxmlformats.org/drawingml/2006/main">
            <a:off x="609600" y="32194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42150"/>
                </a:solidFill>
              </a:defRPr>
            </a:pPr>
            <a:r>
              <a:rPr sz="1500" b="1" i="0">
                <a:solidFill>
                  <a:srgbClr val="142150"/>
                </a:solidFill>
              </a:rPr>
              <a:t>The analytical objective</a:t>
            </a:r>
          </a:p>
        </p:txBody>
      </p:sp>
      <p:sp>
        <p:nvSpPr>
          <p:cNvPr id="6" name="">
            <a:extLst xmlns:a="http://schemas.openxmlformats.org/drawingml/2006/main">
              <a:ext uri="{FF2B5EF4-FFF2-40B4-BE49-F238E27FC236}">
                <a16:creationId xmlns:a16="http://schemas.microsoft.com/office/drawing/2014/main" id="{4FC25323-1BBB-4BCD-A25D-8D58C13BB1E0}"/>
              </a:ext>
            </a:extLst>
          </p:cNvPr>
          <p:cNvSpPr>
            <a:spLocks xmlns:a="http://schemas.openxmlformats.org/drawingml/2006/main" noGrp="1"/>
          </p:cNvSpPr>
          <p:nvPr/>
        </p:nvSpPr>
        <p:spPr>
          <a:xfrm xmlns:a="http://schemas.openxmlformats.org/drawingml/2006/main" rot="0">
            <a:off x="609600" y="3733800"/>
            <a:ext cx="23622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4395E4A-698E-4B07-8658-040EC57F90C1}"/>
              </a:ext>
            </a:extLst>
          </p:cNvPr>
          <p:cNvSpPr>
            <a:spLocks xmlns:a="http://schemas.openxmlformats.org/drawingml/2006/main" noGrp="1"/>
          </p:cNvSpPr>
          <p:nvPr/>
        </p:nvSpPr>
        <p:spPr>
          <a:xfrm xmlns:a="http://schemas.openxmlformats.org/drawingml/2006/main" rot="0">
            <a:off x="800100" y="3924300"/>
            <a:ext cx="400050" cy="4000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60D0AD-6285-4D69-B30F-F6AAD2D9D150}"/>
              </a:ext>
            </a:extLst>
          </p:cNvPr>
          <p:cNvSpPr>
            <a:spLocks xmlns:a="http://schemas.openxmlformats.org/drawingml/2006/main" noGrp="1"/>
          </p:cNvSpPr>
          <p:nvPr/>
        </p:nvSpPr>
        <p:spPr>
          <a:xfrm xmlns:a="http://schemas.openxmlformats.org/drawingml/2006/main">
            <a:off x="800100" y="4004310"/>
            <a:ext cx="400050" cy="232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9" name="">
            <a:extLst xmlns:a="http://schemas.openxmlformats.org/drawingml/2006/main">
              <a:ext uri="{FF2B5EF4-FFF2-40B4-BE49-F238E27FC236}">
                <a16:creationId xmlns:a16="http://schemas.microsoft.com/office/drawing/2014/main" id="{A30E568E-5BD2-4AA2-A6CB-1728A10AAD84}"/>
              </a:ext>
            </a:extLst>
          </p:cNvPr>
          <p:cNvSpPr>
            <a:spLocks xmlns:a="http://schemas.openxmlformats.org/drawingml/2006/main" noGrp="1"/>
          </p:cNvSpPr>
          <p:nvPr/>
        </p:nvSpPr>
        <p:spPr>
          <a:xfrm xmlns:a="http://schemas.openxmlformats.org/drawingml/2006/main">
            <a:off x="1333500" y="3990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03574"/>
                </a:solidFill>
              </a:defRPr>
            </a:pPr>
            <a:r>
              <a:rPr sz="1125" b="1" i="0">
                <a:solidFill>
                  <a:srgbClr val="203574"/>
                </a:solidFill>
              </a:rPr>
              <a:t>CLEAN</a:t>
            </a:r>
          </a:p>
        </p:txBody>
      </p:sp>
      <p:sp>
        <p:nvSpPr>
          <p:cNvPr id="10" name="">
            <a:extLst xmlns:a="http://schemas.openxmlformats.org/drawingml/2006/main">
              <a:ext uri="{FF2B5EF4-FFF2-40B4-BE49-F238E27FC236}">
                <a16:creationId xmlns:a16="http://schemas.microsoft.com/office/drawing/2014/main" id="{5F4E3ABA-EC8C-4DF4-8CAC-F9C8F48517A6}"/>
              </a:ext>
            </a:extLst>
          </p:cNvPr>
          <p:cNvSpPr>
            <a:spLocks xmlns:a="http://schemas.openxmlformats.org/drawingml/2006/main" noGrp="1"/>
          </p:cNvSpPr>
          <p:nvPr/>
        </p:nvSpPr>
        <p:spPr>
          <a:xfrm xmlns:a="http://schemas.openxmlformats.org/drawingml/2006/main">
            <a:off x="800100" y="45339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A83"/>
                </a:solidFill>
              </a:defRPr>
            </a:pPr>
            <a:r>
              <a:rPr sz="1200" b="0" i="0">
                <a:solidFill>
                  <a:srgbClr val="5E6A83"/>
                </a:solidFill>
              </a:rPr>
              <a:t>Validate shape, types and missing values</a:t>
            </a:r>
          </a:p>
        </p:txBody>
      </p:sp>
      <p:sp>
        <p:nvSpPr>
          <p:cNvPr id="11" name="">
            <a:extLst xmlns:a="http://schemas.openxmlformats.org/drawingml/2006/main">
              <a:ext uri="{FF2B5EF4-FFF2-40B4-BE49-F238E27FC236}">
                <a16:creationId xmlns:a16="http://schemas.microsoft.com/office/drawing/2014/main" id="{BD4E141C-4B00-44F7-9F6B-E1C2EAC62B38}"/>
              </a:ext>
            </a:extLst>
          </p:cNvPr>
          <p:cNvSpPr>
            <a:spLocks xmlns:a="http://schemas.openxmlformats.org/drawingml/2006/main" noGrp="1"/>
          </p:cNvSpPr>
          <p:nvPr/>
        </p:nvSpPr>
        <p:spPr>
          <a:xfrm xmlns:a="http://schemas.openxmlformats.org/drawingml/2006/main" rot="0">
            <a:off x="3352800" y="3733800"/>
            <a:ext cx="23622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D0893CD-0137-4658-93C4-E707F86AA60B}"/>
              </a:ext>
            </a:extLst>
          </p:cNvPr>
          <p:cNvSpPr>
            <a:spLocks xmlns:a="http://schemas.openxmlformats.org/drawingml/2006/main" noGrp="1"/>
          </p:cNvSpPr>
          <p:nvPr/>
        </p:nvSpPr>
        <p:spPr>
          <a:xfrm xmlns:a="http://schemas.openxmlformats.org/drawingml/2006/main" rot="0">
            <a:off x="3543300" y="3924300"/>
            <a:ext cx="400050" cy="4000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92939C-A36F-4D28-A4ED-3337DF43B744}"/>
              </a:ext>
            </a:extLst>
          </p:cNvPr>
          <p:cNvSpPr>
            <a:spLocks xmlns:a="http://schemas.openxmlformats.org/drawingml/2006/main" noGrp="1"/>
          </p:cNvSpPr>
          <p:nvPr/>
        </p:nvSpPr>
        <p:spPr>
          <a:xfrm xmlns:a="http://schemas.openxmlformats.org/drawingml/2006/main">
            <a:off x="3543300" y="4004310"/>
            <a:ext cx="400050" cy="232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14" name="">
            <a:extLst xmlns:a="http://schemas.openxmlformats.org/drawingml/2006/main">
              <a:ext uri="{FF2B5EF4-FFF2-40B4-BE49-F238E27FC236}">
                <a16:creationId xmlns:a16="http://schemas.microsoft.com/office/drawing/2014/main" id="{86E06A3B-3536-44E1-A4B0-8E386F4F5503}"/>
              </a:ext>
            </a:extLst>
          </p:cNvPr>
          <p:cNvSpPr>
            <a:spLocks xmlns:a="http://schemas.openxmlformats.org/drawingml/2006/main" noGrp="1"/>
          </p:cNvSpPr>
          <p:nvPr/>
        </p:nvSpPr>
        <p:spPr>
          <a:xfrm xmlns:a="http://schemas.openxmlformats.org/drawingml/2006/main">
            <a:off x="4076700" y="3990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03574"/>
                </a:solidFill>
              </a:defRPr>
            </a:pPr>
            <a:r>
              <a:rPr sz="1125" b="1" i="0">
                <a:solidFill>
                  <a:srgbClr val="203574"/>
                </a:solidFill>
              </a:rPr>
              <a:t>EXPLORE</a:t>
            </a:r>
          </a:p>
        </p:txBody>
      </p:sp>
      <p:sp>
        <p:nvSpPr>
          <p:cNvPr id="15" name="">
            <a:extLst xmlns:a="http://schemas.openxmlformats.org/drawingml/2006/main">
              <a:ext uri="{FF2B5EF4-FFF2-40B4-BE49-F238E27FC236}">
                <a16:creationId xmlns:a16="http://schemas.microsoft.com/office/drawing/2014/main" id="{3A0F2995-A7B2-4874-A958-5A3CB992F4DB}"/>
              </a:ext>
            </a:extLst>
          </p:cNvPr>
          <p:cNvSpPr>
            <a:spLocks xmlns:a="http://schemas.openxmlformats.org/drawingml/2006/main" noGrp="1"/>
          </p:cNvSpPr>
          <p:nvPr/>
        </p:nvSpPr>
        <p:spPr>
          <a:xfrm xmlns:a="http://schemas.openxmlformats.org/drawingml/2006/main">
            <a:off x="3543300" y="45339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A83"/>
                </a:solidFill>
              </a:defRPr>
            </a:pPr>
            <a:r>
              <a:rPr sz="1200" b="0" i="0">
                <a:solidFill>
                  <a:srgbClr val="5E6A83"/>
                </a:solidFill>
              </a:rPr>
              <a:t>Measure ratings, cuisines, cities and costs</a:t>
            </a:r>
          </a:p>
        </p:txBody>
      </p:sp>
      <p:sp>
        <p:nvSpPr>
          <p:cNvPr id="16" name="">
            <a:extLst xmlns:a="http://schemas.openxmlformats.org/drawingml/2006/main">
              <a:ext uri="{FF2B5EF4-FFF2-40B4-BE49-F238E27FC236}">
                <a16:creationId xmlns:a16="http://schemas.microsoft.com/office/drawing/2014/main" id="{4A260C18-0ED6-4CC2-9D89-1A5C406B215F}"/>
              </a:ext>
            </a:extLst>
          </p:cNvPr>
          <p:cNvSpPr>
            <a:spLocks xmlns:a="http://schemas.openxmlformats.org/drawingml/2006/main" noGrp="1"/>
          </p:cNvSpPr>
          <p:nvPr/>
        </p:nvSpPr>
        <p:spPr>
          <a:xfrm xmlns:a="http://schemas.openxmlformats.org/drawingml/2006/main" rot="0">
            <a:off x="6096000" y="3733800"/>
            <a:ext cx="23622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6D5DB569-8E77-41D7-B356-27559C864DB6}"/>
              </a:ext>
            </a:extLst>
          </p:cNvPr>
          <p:cNvSpPr>
            <a:spLocks xmlns:a="http://schemas.openxmlformats.org/drawingml/2006/main" noGrp="1"/>
          </p:cNvSpPr>
          <p:nvPr/>
        </p:nvSpPr>
        <p:spPr>
          <a:xfrm xmlns:a="http://schemas.openxmlformats.org/drawingml/2006/main" rot="0">
            <a:off x="6286500" y="3924300"/>
            <a:ext cx="400050" cy="4000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47B2BB-EB8D-49CA-93C7-745FCC43CAE0}"/>
              </a:ext>
            </a:extLst>
          </p:cNvPr>
          <p:cNvSpPr>
            <a:spLocks xmlns:a="http://schemas.openxmlformats.org/drawingml/2006/main" noGrp="1"/>
          </p:cNvSpPr>
          <p:nvPr/>
        </p:nvSpPr>
        <p:spPr>
          <a:xfrm xmlns:a="http://schemas.openxmlformats.org/drawingml/2006/main">
            <a:off x="6286500" y="4004310"/>
            <a:ext cx="400050" cy="232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19" name="">
            <a:extLst xmlns:a="http://schemas.openxmlformats.org/drawingml/2006/main">
              <a:ext uri="{FF2B5EF4-FFF2-40B4-BE49-F238E27FC236}">
                <a16:creationId xmlns:a16="http://schemas.microsoft.com/office/drawing/2014/main" id="{B455E201-1A18-4BF5-8029-12D667A824AB}"/>
              </a:ext>
            </a:extLst>
          </p:cNvPr>
          <p:cNvSpPr>
            <a:spLocks xmlns:a="http://schemas.openxmlformats.org/drawingml/2006/main" noGrp="1"/>
          </p:cNvSpPr>
          <p:nvPr/>
        </p:nvSpPr>
        <p:spPr>
          <a:xfrm xmlns:a="http://schemas.openxmlformats.org/drawingml/2006/main">
            <a:off x="6819900" y="3990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03574"/>
                </a:solidFill>
              </a:defRPr>
            </a:pPr>
            <a:r>
              <a:rPr sz="1125" b="1" i="0">
                <a:solidFill>
                  <a:srgbClr val="203574"/>
                </a:solidFill>
              </a:rPr>
              <a:t>EXPLAIN</a:t>
            </a:r>
          </a:p>
        </p:txBody>
      </p:sp>
      <p:sp>
        <p:nvSpPr>
          <p:cNvPr id="20" name="">
            <a:extLst xmlns:a="http://schemas.openxmlformats.org/drawingml/2006/main">
              <a:ext uri="{FF2B5EF4-FFF2-40B4-BE49-F238E27FC236}">
                <a16:creationId xmlns:a16="http://schemas.microsoft.com/office/drawing/2014/main" id="{34BE1F84-DD28-4A38-929E-8EFE90917C85}"/>
              </a:ext>
            </a:extLst>
          </p:cNvPr>
          <p:cNvSpPr>
            <a:spLocks xmlns:a="http://schemas.openxmlformats.org/drawingml/2006/main" noGrp="1"/>
          </p:cNvSpPr>
          <p:nvPr/>
        </p:nvSpPr>
        <p:spPr>
          <a:xfrm xmlns:a="http://schemas.openxmlformats.org/drawingml/2006/main">
            <a:off x="6286500" y="45339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A83"/>
                </a:solidFill>
              </a:defRPr>
            </a:pPr>
            <a:r>
              <a:rPr sz="1200" b="0" i="0">
                <a:solidFill>
                  <a:srgbClr val="5E6A83"/>
                </a:solidFill>
              </a:rPr>
              <a:t>Compare location, services and price ranges</a:t>
            </a:r>
          </a:p>
        </p:txBody>
      </p:sp>
      <p:sp>
        <p:nvSpPr>
          <p:cNvPr id="21" name="">
            <a:extLst xmlns:a="http://schemas.openxmlformats.org/drawingml/2006/main">
              <a:ext uri="{FF2B5EF4-FFF2-40B4-BE49-F238E27FC236}">
                <a16:creationId xmlns:a16="http://schemas.microsoft.com/office/drawing/2014/main" id="{E5417E37-7E00-49DE-BD36-70F93C6262EA}"/>
              </a:ext>
            </a:extLst>
          </p:cNvPr>
          <p:cNvSpPr>
            <a:spLocks xmlns:a="http://schemas.openxmlformats.org/drawingml/2006/main" noGrp="1"/>
          </p:cNvSpPr>
          <p:nvPr/>
        </p:nvSpPr>
        <p:spPr>
          <a:xfrm xmlns:a="http://schemas.openxmlformats.org/drawingml/2006/main" rot="0">
            <a:off x="8839200" y="3733800"/>
            <a:ext cx="236220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02C6831-29DE-43A4-A898-65AECF00258C}"/>
              </a:ext>
            </a:extLst>
          </p:cNvPr>
          <p:cNvSpPr>
            <a:spLocks xmlns:a="http://schemas.openxmlformats.org/drawingml/2006/main" noGrp="1"/>
          </p:cNvSpPr>
          <p:nvPr/>
        </p:nvSpPr>
        <p:spPr>
          <a:xfrm xmlns:a="http://schemas.openxmlformats.org/drawingml/2006/main" rot="0">
            <a:off x="9029700" y="3924300"/>
            <a:ext cx="400050" cy="4000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A229CEF-D0B6-4D4C-ADC9-A8A363CE89E7}"/>
              </a:ext>
            </a:extLst>
          </p:cNvPr>
          <p:cNvSpPr>
            <a:spLocks xmlns:a="http://schemas.openxmlformats.org/drawingml/2006/main" noGrp="1"/>
          </p:cNvSpPr>
          <p:nvPr/>
        </p:nvSpPr>
        <p:spPr>
          <a:xfrm xmlns:a="http://schemas.openxmlformats.org/drawingml/2006/main">
            <a:off x="9029700" y="4004310"/>
            <a:ext cx="400050" cy="2320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4" name="">
            <a:extLst xmlns:a="http://schemas.openxmlformats.org/drawingml/2006/main">
              <a:ext uri="{FF2B5EF4-FFF2-40B4-BE49-F238E27FC236}">
                <a16:creationId xmlns:a16="http://schemas.microsoft.com/office/drawing/2014/main" id="{09E0838C-AEE9-4553-8674-8A13151E7274}"/>
              </a:ext>
            </a:extLst>
          </p:cNvPr>
          <p:cNvSpPr>
            <a:spLocks xmlns:a="http://schemas.openxmlformats.org/drawingml/2006/main" noGrp="1"/>
          </p:cNvSpPr>
          <p:nvPr/>
        </p:nvSpPr>
        <p:spPr>
          <a:xfrm xmlns:a="http://schemas.openxmlformats.org/drawingml/2006/main">
            <a:off x="9563100" y="3990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03574"/>
                </a:solidFill>
              </a:defRPr>
            </a:pPr>
            <a:r>
              <a:rPr sz="1125" b="1" i="0">
                <a:solidFill>
                  <a:srgbClr val="203574"/>
                </a:solidFill>
              </a:rPr>
              <a:t>ENRICH</a:t>
            </a:r>
          </a:p>
        </p:txBody>
      </p:sp>
      <p:sp>
        <p:nvSpPr>
          <p:cNvPr id="25" name="">
            <a:extLst xmlns:a="http://schemas.openxmlformats.org/drawingml/2006/main">
              <a:ext uri="{FF2B5EF4-FFF2-40B4-BE49-F238E27FC236}">
                <a16:creationId xmlns:a16="http://schemas.microsoft.com/office/drawing/2014/main" id="{0BE83D3F-0F0A-43A4-9A4E-9ACEB550EFB2}"/>
              </a:ext>
            </a:extLst>
          </p:cNvPr>
          <p:cNvSpPr>
            <a:spLocks xmlns:a="http://schemas.openxmlformats.org/drawingml/2006/main" noGrp="1"/>
          </p:cNvSpPr>
          <p:nvPr/>
        </p:nvSpPr>
        <p:spPr>
          <a:xfrm xmlns:a="http://schemas.openxmlformats.org/drawingml/2006/main">
            <a:off x="9029700" y="45339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A83"/>
                </a:solidFill>
              </a:defRPr>
            </a:pPr>
            <a:r>
              <a:rPr sz="1200" b="0" i="0">
                <a:solidFill>
                  <a:srgbClr val="5E6A83"/>
                </a:solidFill>
              </a:rPr>
              <a:t>Create model-ready numerical features</a:t>
            </a:r>
          </a:p>
        </p:txBody>
      </p:sp>
      <p:sp>
        <p:nvSpPr>
          <p:cNvPr id="26" name="">
            <a:extLst xmlns:a="http://schemas.openxmlformats.org/drawingml/2006/main">
              <a:ext uri="{FF2B5EF4-FFF2-40B4-BE49-F238E27FC236}">
                <a16:creationId xmlns:a16="http://schemas.microsoft.com/office/drawing/2014/main" id="{3A0FC8A6-9091-401D-A178-13BB52215F31}"/>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27" name="">
            <a:extLst xmlns:a="http://schemas.openxmlformats.org/drawingml/2006/main">
              <a:ext uri="{FF2B5EF4-FFF2-40B4-BE49-F238E27FC236}">
                <a16:creationId xmlns:a16="http://schemas.microsoft.com/office/drawing/2014/main" id="{45BE37A5-067D-45FC-BF1C-F79790606352}"/>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04</a:t>
            </a:r>
          </a:p>
        </p:txBody>
      </p:sp>
    </p:spTree>
    <p:extLst>
      <p:ext uri="{BB962C8B-B14F-4D97-AF65-F5344CB8AC3E}">
        <p14:creationId xmlns:p14="http://schemas.microsoft.com/office/powerpoint/2010/main" val="151433170"/>
      </p:ext>
    </p:extLst>
  </p:cSld>
</p:sld>
</file>

<file path=ppt/slides/slide5.xml><?xml version="1.0" encoding="utf-8"?>
<p:sld xmlns:p="http://schemas.openxmlformats.org/presentationml/2006/main">
  <p:cSld>
    <p:bg>
      <p:bgPr>
        <a:solidFill xmlns:a="http://schemas.openxmlformats.org/drawingml/2006/main">
          <a:srgbClr val="EEF3FB"/>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33DF5DF-68A7-48A7-A596-1ABCBFFE1497}"/>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METHODOLOGY</a:t>
            </a:r>
          </a:p>
        </p:txBody>
      </p:sp>
      <p:sp>
        <p:nvSpPr>
          <p:cNvPr id="2" name="">
            <a:extLst xmlns:a="http://schemas.openxmlformats.org/drawingml/2006/main">
              <a:ext uri="{FF2B5EF4-FFF2-40B4-BE49-F238E27FC236}">
                <a16:creationId xmlns:a16="http://schemas.microsoft.com/office/drawing/2014/main" id="{83AF8F1F-7567-413E-9EA3-CA1C86654138}"/>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Six tasks moved from raw data to an enriched analytical dataset</a:t>
            </a:r>
          </a:p>
        </p:txBody>
      </p:sp>
      <p:sp>
        <p:nvSpPr>
          <p:cNvPr id="3" name="">
            <a:extLst xmlns:a="http://schemas.openxmlformats.org/drawingml/2006/main">
              <a:ext uri="{FF2B5EF4-FFF2-40B4-BE49-F238E27FC236}">
                <a16:creationId xmlns:a16="http://schemas.microsoft.com/office/drawing/2014/main" id="{A694A66F-7D22-4CEB-9A24-EBDEFC781653}"/>
              </a:ext>
            </a:extLst>
          </p:cNvPr>
          <p:cNvSpPr>
            <a:spLocks xmlns:a="http://schemas.openxmlformats.org/drawingml/2006/main" noGrp="1"/>
          </p:cNvSpPr>
          <p:nvPr/>
        </p:nvSpPr>
        <p:spPr>
          <a:xfrm xmlns:a="http://schemas.openxmlformats.org/drawingml/2006/main">
            <a:off x="609600" y="1562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LEVEL 1 — UNDERSTAND THE DATA</a:t>
            </a:r>
          </a:p>
        </p:txBody>
      </p:sp>
      <p:sp>
        <p:nvSpPr>
          <p:cNvPr id="4" name="">
            <a:extLst xmlns:a="http://schemas.openxmlformats.org/drawingml/2006/main">
              <a:ext uri="{FF2B5EF4-FFF2-40B4-BE49-F238E27FC236}">
                <a16:creationId xmlns:a16="http://schemas.microsoft.com/office/drawing/2014/main" id="{30E18D24-EC8B-4069-A761-58C8D0B6F355}"/>
              </a:ext>
            </a:extLst>
          </p:cNvPr>
          <p:cNvSpPr>
            <a:spLocks xmlns:a="http://schemas.openxmlformats.org/drawingml/2006/main" noGrp="1"/>
          </p:cNvSpPr>
          <p:nvPr/>
        </p:nvSpPr>
        <p:spPr>
          <a:xfrm xmlns:a="http://schemas.openxmlformats.org/drawingml/2006/main">
            <a:off x="6305550" y="1562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9822B"/>
                </a:solidFill>
              </a:defRPr>
            </a:pPr>
            <a:r>
              <a:rPr sz="975" b="1" i="0">
                <a:solidFill>
                  <a:srgbClr val="D9822B"/>
                </a:solidFill>
              </a:rPr>
              <a:t>LEVEL 2 — INTERPRET &amp; ENGINEER</a:t>
            </a:r>
          </a:p>
        </p:txBody>
      </p:sp>
      <p:sp>
        <p:nvSpPr>
          <p:cNvPr id="5" name="">
            <a:extLst xmlns:a="http://schemas.openxmlformats.org/drawingml/2006/main">
              <a:ext uri="{FF2B5EF4-FFF2-40B4-BE49-F238E27FC236}">
                <a16:creationId xmlns:a16="http://schemas.microsoft.com/office/drawing/2014/main" id="{1541D8C3-CF1D-4E89-9945-05336888E923}"/>
              </a:ext>
            </a:extLst>
          </p:cNvPr>
          <p:cNvSpPr>
            <a:spLocks xmlns:a="http://schemas.openxmlformats.org/drawingml/2006/main" noGrp="1"/>
          </p:cNvSpPr>
          <p:nvPr/>
        </p:nvSpPr>
        <p:spPr>
          <a:xfrm xmlns:a="http://schemas.openxmlformats.org/drawingml/2006/main">
            <a:off x="1562100" y="3324225"/>
            <a:ext cx="400050" cy="0"/>
          </a:xfrm>
          <a:prstGeom xmlns:a="http://schemas.openxmlformats.org/drawingml/2006/main" prst="line">
            <a:avLst/>
          </a:prstGeom>
          <a:noFill xmlns:a="http://schemas.openxmlformats.org/drawingml/2006/main"/>
          <a:ln xmlns:a="http://schemas.openxmlformats.org/drawingml/2006/main" w="19050">
            <a:solidFill>
              <a:srgbClr val="2F4B91"/>
            </a:solidFill>
            <a:prstDash val="solid"/>
          </a:ln>
        </p:spPr>
      </p:sp>
      <p:sp>
        <p:nvSpPr>
          <p:cNvPr id="6" name="">
            <a:extLst xmlns:a="http://schemas.openxmlformats.org/drawingml/2006/main">
              <a:ext uri="{FF2B5EF4-FFF2-40B4-BE49-F238E27FC236}">
                <a16:creationId xmlns:a16="http://schemas.microsoft.com/office/drawing/2014/main" id="{3A4741FD-123E-4503-94E4-2A7F0575293D}"/>
              </a:ext>
            </a:extLst>
          </p:cNvPr>
          <p:cNvSpPr>
            <a:spLocks xmlns:a="http://schemas.openxmlformats.org/drawingml/2006/main" noGrp="1"/>
          </p:cNvSpPr>
          <p:nvPr/>
        </p:nvSpPr>
        <p:spPr>
          <a:xfrm xmlns:a="http://schemas.openxmlformats.org/drawingml/2006/main">
            <a:off x="3448050" y="3324225"/>
            <a:ext cx="400050" cy="0"/>
          </a:xfrm>
          <a:prstGeom xmlns:a="http://schemas.openxmlformats.org/drawingml/2006/main" prst="line">
            <a:avLst/>
          </a:prstGeom>
          <a:noFill xmlns:a="http://schemas.openxmlformats.org/drawingml/2006/main"/>
          <a:ln xmlns:a="http://schemas.openxmlformats.org/drawingml/2006/main" w="19050">
            <a:solidFill>
              <a:srgbClr val="2F4B91"/>
            </a:solidFill>
            <a:prstDash val="solid"/>
          </a:ln>
        </p:spPr>
      </p:sp>
      <p:sp>
        <p:nvSpPr>
          <p:cNvPr id="7" name="">
            <a:extLst xmlns:a="http://schemas.openxmlformats.org/drawingml/2006/main">
              <a:ext uri="{FF2B5EF4-FFF2-40B4-BE49-F238E27FC236}">
                <a16:creationId xmlns:a16="http://schemas.microsoft.com/office/drawing/2014/main" id="{CD325631-4B69-402A-8208-479B10C234F1}"/>
              </a:ext>
            </a:extLst>
          </p:cNvPr>
          <p:cNvSpPr>
            <a:spLocks xmlns:a="http://schemas.openxmlformats.org/drawingml/2006/main" noGrp="1"/>
          </p:cNvSpPr>
          <p:nvPr/>
        </p:nvSpPr>
        <p:spPr>
          <a:xfrm xmlns:a="http://schemas.openxmlformats.org/drawingml/2006/main">
            <a:off x="5334000" y="3324225"/>
            <a:ext cx="400050" cy="0"/>
          </a:xfrm>
          <a:prstGeom xmlns:a="http://schemas.openxmlformats.org/drawingml/2006/main" prst="line">
            <a:avLst/>
          </a:prstGeom>
          <a:noFill xmlns:a="http://schemas.openxmlformats.org/drawingml/2006/main"/>
          <a:ln xmlns:a="http://schemas.openxmlformats.org/drawingml/2006/main" w="19050">
            <a:solidFill>
              <a:srgbClr val="F2B400"/>
            </a:solidFill>
            <a:prstDash val="solid"/>
          </a:ln>
        </p:spPr>
      </p:sp>
      <p:sp>
        <p:nvSpPr>
          <p:cNvPr id="8" name="">
            <a:extLst xmlns:a="http://schemas.openxmlformats.org/drawingml/2006/main">
              <a:ext uri="{FF2B5EF4-FFF2-40B4-BE49-F238E27FC236}">
                <a16:creationId xmlns:a16="http://schemas.microsoft.com/office/drawing/2014/main" id="{68D7C759-11AF-4D4F-8900-6DBC2FF0EA5B}"/>
              </a:ext>
            </a:extLst>
          </p:cNvPr>
          <p:cNvSpPr>
            <a:spLocks xmlns:a="http://schemas.openxmlformats.org/drawingml/2006/main" noGrp="1"/>
          </p:cNvSpPr>
          <p:nvPr/>
        </p:nvSpPr>
        <p:spPr>
          <a:xfrm xmlns:a="http://schemas.openxmlformats.org/drawingml/2006/main">
            <a:off x="7219950" y="3324225"/>
            <a:ext cx="400050" cy="0"/>
          </a:xfrm>
          <a:prstGeom xmlns:a="http://schemas.openxmlformats.org/drawingml/2006/main" prst="line">
            <a:avLst/>
          </a:prstGeom>
          <a:noFill xmlns:a="http://schemas.openxmlformats.org/drawingml/2006/main"/>
          <a:ln xmlns:a="http://schemas.openxmlformats.org/drawingml/2006/main" w="19050">
            <a:solidFill>
              <a:srgbClr val="2F4B91"/>
            </a:solidFill>
            <a:prstDash val="solid"/>
          </a:ln>
        </p:spPr>
      </p:sp>
      <p:sp>
        <p:nvSpPr>
          <p:cNvPr id="9" name="">
            <a:extLst xmlns:a="http://schemas.openxmlformats.org/drawingml/2006/main">
              <a:ext uri="{FF2B5EF4-FFF2-40B4-BE49-F238E27FC236}">
                <a16:creationId xmlns:a16="http://schemas.microsoft.com/office/drawing/2014/main" id="{CB766F16-CC49-4581-BA11-35ACA5EA576A}"/>
              </a:ext>
            </a:extLst>
          </p:cNvPr>
          <p:cNvSpPr>
            <a:spLocks xmlns:a="http://schemas.openxmlformats.org/drawingml/2006/main" noGrp="1"/>
          </p:cNvSpPr>
          <p:nvPr/>
        </p:nvSpPr>
        <p:spPr>
          <a:xfrm xmlns:a="http://schemas.openxmlformats.org/drawingml/2006/main">
            <a:off x="9105900" y="3324225"/>
            <a:ext cx="400050" cy="0"/>
          </a:xfrm>
          <a:prstGeom xmlns:a="http://schemas.openxmlformats.org/drawingml/2006/main" prst="line">
            <a:avLst/>
          </a:prstGeom>
          <a:noFill xmlns:a="http://schemas.openxmlformats.org/drawingml/2006/main"/>
          <a:ln xmlns:a="http://schemas.openxmlformats.org/drawingml/2006/main" w="19050">
            <a:solidFill>
              <a:srgbClr val="2F4B91"/>
            </a:solidFill>
            <a:prstDash val="solid"/>
          </a:ln>
        </p:spPr>
      </p:sp>
      <p:sp>
        <p:nvSpPr>
          <p:cNvPr id="10" name="">
            <a:extLst xmlns:a="http://schemas.openxmlformats.org/drawingml/2006/main">
              <a:ext uri="{FF2B5EF4-FFF2-40B4-BE49-F238E27FC236}">
                <a16:creationId xmlns:a16="http://schemas.microsoft.com/office/drawing/2014/main" id="{57CDA09D-54F8-41D2-91B2-43BC46B4F385}"/>
              </a:ext>
            </a:extLst>
          </p:cNvPr>
          <p:cNvSpPr>
            <a:spLocks xmlns:a="http://schemas.openxmlformats.org/drawingml/2006/main" noGrp="1"/>
          </p:cNvSpPr>
          <p:nvPr/>
        </p:nvSpPr>
        <p:spPr>
          <a:xfrm xmlns:a="http://schemas.openxmlformats.org/drawingml/2006/main" rot="0">
            <a:off x="609600" y="2114550"/>
            <a:ext cx="1638300" cy="25717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26953A3-641F-44EC-8850-CD35F0D9A379}"/>
              </a:ext>
            </a:extLst>
          </p:cNvPr>
          <p:cNvSpPr>
            <a:spLocks xmlns:a="http://schemas.openxmlformats.org/drawingml/2006/main" noGrp="1"/>
          </p:cNvSpPr>
          <p:nvPr/>
        </p:nvSpPr>
        <p:spPr>
          <a:xfrm xmlns:a="http://schemas.openxmlformats.org/drawingml/2006/main" rot="0">
            <a:off x="1162050" y="2324100"/>
            <a:ext cx="533400" cy="53340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4106CB-900F-49BE-998C-D21E4A6D309B}"/>
              </a:ext>
            </a:extLst>
          </p:cNvPr>
          <p:cNvSpPr>
            <a:spLocks xmlns:a="http://schemas.openxmlformats.org/drawingml/2006/main" noGrp="1"/>
          </p:cNvSpPr>
          <p:nvPr/>
        </p:nvSpPr>
        <p:spPr>
          <a:xfrm xmlns:a="http://schemas.openxmlformats.org/drawingml/2006/main">
            <a:off x="1162050" y="2430780"/>
            <a:ext cx="533400" cy="309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1</a:t>
            </a:r>
          </a:p>
        </p:txBody>
      </p:sp>
      <p:sp>
        <p:nvSpPr>
          <p:cNvPr id="13" name="">
            <a:extLst xmlns:a="http://schemas.openxmlformats.org/drawingml/2006/main">
              <a:ext uri="{FF2B5EF4-FFF2-40B4-BE49-F238E27FC236}">
                <a16:creationId xmlns:a16="http://schemas.microsoft.com/office/drawing/2014/main" id="{D4970446-EA60-4052-A40D-0A087418951B}"/>
              </a:ext>
            </a:extLst>
          </p:cNvPr>
          <p:cNvSpPr>
            <a:spLocks xmlns:a="http://schemas.openxmlformats.org/drawingml/2006/main" noGrp="1"/>
          </p:cNvSpPr>
          <p:nvPr/>
        </p:nvSpPr>
        <p:spPr>
          <a:xfrm xmlns:a="http://schemas.openxmlformats.org/drawingml/2006/main">
            <a:off x="781050" y="304800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F4B91"/>
                </a:solidFill>
              </a:defRPr>
            </a:pPr>
            <a:r>
              <a:rPr sz="900" b="1" i="0">
                <a:solidFill>
                  <a:srgbClr val="2F4B91"/>
                </a:solidFill>
              </a:rPr>
              <a:t>L1–T1</a:t>
            </a:r>
          </a:p>
        </p:txBody>
      </p:sp>
      <p:sp>
        <p:nvSpPr>
          <p:cNvPr id="14" name="">
            <a:extLst xmlns:a="http://schemas.openxmlformats.org/drawingml/2006/main">
              <a:ext uri="{FF2B5EF4-FFF2-40B4-BE49-F238E27FC236}">
                <a16:creationId xmlns:a16="http://schemas.microsoft.com/office/drawing/2014/main" id="{8311F9CF-0BCF-45A0-8F3A-E87F1F4B8716}"/>
              </a:ext>
            </a:extLst>
          </p:cNvPr>
          <p:cNvSpPr>
            <a:spLocks xmlns:a="http://schemas.openxmlformats.org/drawingml/2006/main" noGrp="1"/>
          </p:cNvSpPr>
          <p:nvPr/>
        </p:nvSpPr>
        <p:spPr>
          <a:xfrm xmlns:a="http://schemas.openxmlformats.org/drawingml/2006/main">
            <a:off x="742950" y="3324225"/>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02534"/>
                </a:solidFill>
              </a:defRPr>
            </a:pPr>
            <a:r>
              <a:rPr sz="1275" b="1" i="0">
                <a:solidFill>
                  <a:srgbClr val="202534"/>
                </a:solidFill>
              </a:rPr>
              <a:t>Explore &amp; Clean</a:t>
            </a:r>
          </a:p>
        </p:txBody>
      </p:sp>
      <p:sp>
        <p:nvSpPr>
          <p:cNvPr id="15" name="">
            <a:extLst xmlns:a="http://schemas.openxmlformats.org/drawingml/2006/main">
              <a:ext uri="{FF2B5EF4-FFF2-40B4-BE49-F238E27FC236}">
                <a16:creationId xmlns:a16="http://schemas.microsoft.com/office/drawing/2014/main" id="{031E78A6-2038-4D9C-85F7-6FCC586EB4D8}"/>
              </a:ext>
            </a:extLst>
          </p:cNvPr>
          <p:cNvSpPr>
            <a:spLocks xmlns:a="http://schemas.openxmlformats.org/drawingml/2006/main" noGrp="1"/>
          </p:cNvSpPr>
          <p:nvPr/>
        </p:nvSpPr>
        <p:spPr>
          <a:xfrm xmlns:a="http://schemas.openxmlformats.org/drawingml/2006/main">
            <a:off x="762000" y="3914775"/>
            <a:ext cx="133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Load data, inspect types, fix missing cuisines</a:t>
            </a:r>
          </a:p>
        </p:txBody>
      </p:sp>
      <p:sp>
        <p:nvSpPr>
          <p:cNvPr id="16" name="">
            <a:extLst xmlns:a="http://schemas.openxmlformats.org/drawingml/2006/main">
              <a:ext uri="{FF2B5EF4-FFF2-40B4-BE49-F238E27FC236}">
                <a16:creationId xmlns:a16="http://schemas.microsoft.com/office/drawing/2014/main" id="{CACD1D92-31CE-460C-8514-4ED0D3126C90}"/>
              </a:ext>
            </a:extLst>
          </p:cNvPr>
          <p:cNvSpPr>
            <a:spLocks xmlns:a="http://schemas.openxmlformats.org/drawingml/2006/main" noGrp="1"/>
          </p:cNvSpPr>
          <p:nvPr/>
        </p:nvSpPr>
        <p:spPr>
          <a:xfrm xmlns:a="http://schemas.openxmlformats.org/drawingml/2006/main" rot="0">
            <a:off x="2495550" y="2114550"/>
            <a:ext cx="1638300" cy="25717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0518451-39A5-4C0A-A8EE-7235DD1E5F06}"/>
              </a:ext>
            </a:extLst>
          </p:cNvPr>
          <p:cNvSpPr>
            <a:spLocks xmlns:a="http://schemas.openxmlformats.org/drawingml/2006/main" noGrp="1"/>
          </p:cNvSpPr>
          <p:nvPr/>
        </p:nvSpPr>
        <p:spPr>
          <a:xfrm xmlns:a="http://schemas.openxmlformats.org/drawingml/2006/main" rot="0">
            <a:off x="3048000" y="2324100"/>
            <a:ext cx="533400" cy="53340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56CAC28-806D-411F-8E7E-30AD79177C90}"/>
              </a:ext>
            </a:extLst>
          </p:cNvPr>
          <p:cNvSpPr>
            <a:spLocks xmlns:a="http://schemas.openxmlformats.org/drawingml/2006/main" noGrp="1"/>
          </p:cNvSpPr>
          <p:nvPr/>
        </p:nvSpPr>
        <p:spPr>
          <a:xfrm xmlns:a="http://schemas.openxmlformats.org/drawingml/2006/main">
            <a:off x="3048000" y="2430780"/>
            <a:ext cx="533400" cy="309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2</a:t>
            </a:r>
          </a:p>
        </p:txBody>
      </p:sp>
      <p:sp>
        <p:nvSpPr>
          <p:cNvPr id="19" name="">
            <a:extLst xmlns:a="http://schemas.openxmlformats.org/drawingml/2006/main">
              <a:ext uri="{FF2B5EF4-FFF2-40B4-BE49-F238E27FC236}">
                <a16:creationId xmlns:a16="http://schemas.microsoft.com/office/drawing/2014/main" id="{AEDDC153-9AF1-4E22-928A-51775B1ADD8B}"/>
              </a:ext>
            </a:extLst>
          </p:cNvPr>
          <p:cNvSpPr>
            <a:spLocks xmlns:a="http://schemas.openxmlformats.org/drawingml/2006/main" noGrp="1"/>
          </p:cNvSpPr>
          <p:nvPr/>
        </p:nvSpPr>
        <p:spPr>
          <a:xfrm xmlns:a="http://schemas.openxmlformats.org/drawingml/2006/main">
            <a:off x="2667000" y="304800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F4B91"/>
                </a:solidFill>
              </a:defRPr>
            </a:pPr>
            <a:r>
              <a:rPr sz="900" b="1" i="0">
                <a:solidFill>
                  <a:srgbClr val="2F4B91"/>
                </a:solidFill>
              </a:rPr>
              <a:t>L1–T2</a:t>
            </a:r>
          </a:p>
        </p:txBody>
      </p:sp>
      <p:sp>
        <p:nvSpPr>
          <p:cNvPr id="20" name="">
            <a:extLst xmlns:a="http://schemas.openxmlformats.org/drawingml/2006/main">
              <a:ext uri="{FF2B5EF4-FFF2-40B4-BE49-F238E27FC236}">
                <a16:creationId xmlns:a16="http://schemas.microsoft.com/office/drawing/2014/main" id="{61405EF2-1A39-4CC7-A12E-7A04CA9A59AC}"/>
              </a:ext>
            </a:extLst>
          </p:cNvPr>
          <p:cNvSpPr>
            <a:spLocks xmlns:a="http://schemas.openxmlformats.org/drawingml/2006/main" noGrp="1"/>
          </p:cNvSpPr>
          <p:nvPr/>
        </p:nvSpPr>
        <p:spPr>
          <a:xfrm xmlns:a="http://schemas.openxmlformats.org/drawingml/2006/main">
            <a:off x="2628900" y="3324225"/>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02534"/>
                </a:solidFill>
              </a:defRPr>
            </a:pPr>
            <a:r>
              <a:rPr sz="1275" b="1" i="0">
                <a:solidFill>
                  <a:srgbClr val="202534"/>
                </a:solidFill>
              </a:rPr>
              <a:t>Describe</a:t>
            </a:r>
          </a:p>
        </p:txBody>
      </p:sp>
      <p:sp>
        <p:nvSpPr>
          <p:cNvPr id="21" name="">
            <a:extLst xmlns:a="http://schemas.openxmlformats.org/drawingml/2006/main">
              <a:ext uri="{FF2B5EF4-FFF2-40B4-BE49-F238E27FC236}">
                <a16:creationId xmlns:a16="http://schemas.microsoft.com/office/drawing/2014/main" id="{27D90C34-4539-41CF-A3E1-61B137AD37F4}"/>
              </a:ext>
            </a:extLst>
          </p:cNvPr>
          <p:cNvSpPr>
            <a:spLocks xmlns:a="http://schemas.openxmlformats.org/drawingml/2006/main" noGrp="1"/>
          </p:cNvSpPr>
          <p:nvPr/>
        </p:nvSpPr>
        <p:spPr>
          <a:xfrm xmlns:a="http://schemas.openxmlformats.org/drawingml/2006/main">
            <a:off x="2647950" y="3914775"/>
            <a:ext cx="133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Summarize ratings, cuisines, cities, costs and votes</a:t>
            </a:r>
          </a:p>
        </p:txBody>
      </p:sp>
      <p:sp>
        <p:nvSpPr>
          <p:cNvPr id="22" name="">
            <a:extLst xmlns:a="http://schemas.openxmlformats.org/drawingml/2006/main">
              <a:ext uri="{FF2B5EF4-FFF2-40B4-BE49-F238E27FC236}">
                <a16:creationId xmlns:a16="http://schemas.microsoft.com/office/drawing/2014/main" id="{AD4CA61D-E3AB-4D8E-A836-D59DA678F0E9}"/>
              </a:ext>
            </a:extLst>
          </p:cNvPr>
          <p:cNvSpPr>
            <a:spLocks xmlns:a="http://schemas.openxmlformats.org/drawingml/2006/main" noGrp="1"/>
          </p:cNvSpPr>
          <p:nvPr/>
        </p:nvSpPr>
        <p:spPr>
          <a:xfrm xmlns:a="http://schemas.openxmlformats.org/drawingml/2006/main" rot="0">
            <a:off x="4381500" y="2114550"/>
            <a:ext cx="1638300" cy="25717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ABBE73D-75D7-4B34-9804-0870ED16A49E}"/>
              </a:ext>
            </a:extLst>
          </p:cNvPr>
          <p:cNvSpPr>
            <a:spLocks xmlns:a="http://schemas.openxmlformats.org/drawingml/2006/main" noGrp="1"/>
          </p:cNvSpPr>
          <p:nvPr/>
        </p:nvSpPr>
        <p:spPr>
          <a:xfrm xmlns:a="http://schemas.openxmlformats.org/drawingml/2006/main" rot="0">
            <a:off x="4933950" y="2324100"/>
            <a:ext cx="533400" cy="53340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BBDEBAD-DF48-4A44-9CB3-6CC59EDB776B}"/>
              </a:ext>
            </a:extLst>
          </p:cNvPr>
          <p:cNvSpPr>
            <a:spLocks xmlns:a="http://schemas.openxmlformats.org/drawingml/2006/main" noGrp="1"/>
          </p:cNvSpPr>
          <p:nvPr/>
        </p:nvSpPr>
        <p:spPr>
          <a:xfrm xmlns:a="http://schemas.openxmlformats.org/drawingml/2006/main">
            <a:off x="4933950" y="2430780"/>
            <a:ext cx="533400" cy="309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3</a:t>
            </a:r>
          </a:p>
        </p:txBody>
      </p:sp>
      <p:sp>
        <p:nvSpPr>
          <p:cNvPr id="25" name="">
            <a:extLst xmlns:a="http://schemas.openxmlformats.org/drawingml/2006/main">
              <a:ext uri="{FF2B5EF4-FFF2-40B4-BE49-F238E27FC236}">
                <a16:creationId xmlns:a16="http://schemas.microsoft.com/office/drawing/2014/main" id="{FDEB184A-EC46-43BF-B9DA-3D8906CDD4CE}"/>
              </a:ext>
            </a:extLst>
          </p:cNvPr>
          <p:cNvSpPr>
            <a:spLocks xmlns:a="http://schemas.openxmlformats.org/drawingml/2006/main" noGrp="1"/>
          </p:cNvSpPr>
          <p:nvPr/>
        </p:nvSpPr>
        <p:spPr>
          <a:xfrm xmlns:a="http://schemas.openxmlformats.org/drawingml/2006/main">
            <a:off x="4552950" y="304800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2F4B91"/>
                </a:solidFill>
              </a:defRPr>
            </a:pPr>
            <a:r>
              <a:rPr sz="900" b="1" i="0">
                <a:solidFill>
                  <a:srgbClr val="2F4B91"/>
                </a:solidFill>
              </a:rPr>
              <a:t>L1–T3</a:t>
            </a:r>
          </a:p>
        </p:txBody>
      </p:sp>
      <p:sp>
        <p:nvSpPr>
          <p:cNvPr id="26" name="">
            <a:extLst xmlns:a="http://schemas.openxmlformats.org/drawingml/2006/main">
              <a:ext uri="{FF2B5EF4-FFF2-40B4-BE49-F238E27FC236}">
                <a16:creationId xmlns:a16="http://schemas.microsoft.com/office/drawing/2014/main" id="{E471012D-F71B-4BC4-81F2-F244C00ED608}"/>
              </a:ext>
            </a:extLst>
          </p:cNvPr>
          <p:cNvSpPr>
            <a:spLocks xmlns:a="http://schemas.openxmlformats.org/drawingml/2006/main" noGrp="1"/>
          </p:cNvSpPr>
          <p:nvPr/>
        </p:nvSpPr>
        <p:spPr>
          <a:xfrm xmlns:a="http://schemas.openxmlformats.org/drawingml/2006/main">
            <a:off x="4514850" y="3324225"/>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02534"/>
                </a:solidFill>
              </a:defRPr>
            </a:pPr>
            <a:r>
              <a:rPr sz="1275" b="1" i="0">
                <a:solidFill>
                  <a:srgbClr val="202534"/>
                </a:solidFill>
              </a:rPr>
              <a:t>Map</a:t>
            </a:r>
          </a:p>
        </p:txBody>
      </p:sp>
      <p:sp>
        <p:nvSpPr>
          <p:cNvPr id="27" name="">
            <a:extLst xmlns:a="http://schemas.openxmlformats.org/drawingml/2006/main">
              <a:ext uri="{FF2B5EF4-FFF2-40B4-BE49-F238E27FC236}">
                <a16:creationId xmlns:a16="http://schemas.microsoft.com/office/drawing/2014/main" id="{A8B6AC20-9EB3-47B8-B853-217B923A9CE5}"/>
              </a:ext>
            </a:extLst>
          </p:cNvPr>
          <p:cNvSpPr>
            <a:spLocks xmlns:a="http://schemas.openxmlformats.org/drawingml/2006/main" noGrp="1"/>
          </p:cNvSpPr>
          <p:nvPr/>
        </p:nvSpPr>
        <p:spPr>
          <a:xfrm xmlns:a="http://schemas.openxmlformats.org/drawingml/2006/main">
            <a:off x="4533900" y="3914775"/>
            <a:ext cx="133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Filter coordinates and test location–rating relationships</a:t>
            </a:r>
          </a:p>
        </p:txBody>
      </p:sp>
      <p:sp>
        <p:nvSpPr>
          <p:cNvPr id="28" name="">
            <a:extLst xmlns:a="http://schemas.openxmlformats.org/drawingml/2006/main">
              <a:ext uri="{FF2B5EF4-FFF2-40B4-BE49-F238E27FC236}">
                <a16:creationId xmlns:a16="http://schemas.microsoft.com/office/drawing/2014/main" id="{64BEC17D-F414-4803-8D07-595778FF6DBC}"/>
              </a:ext>
            </a:extLst>
          </p:cNvPr>
          <p:cNvSpPr>
            <a:spLocks xmlns:a="http://schemas.openxmlformats.org/drawingml/2006/main" noGrp="1"/>
          </p:cNvSpPr>
          <p:nvPr/>
        </p:nvSpPr>
        <p:spPr>
          <a:xfrm xmlns:a="http://schemas.openxmlformats.org/drawingml/2006/main" rot="0">
            <a:off x="6267450" y="2114550"/>
            <a:ext cx="1638300" cy="2571750"/>
          </a:xfrm>
          <a:prstGeom xmlns:a="http://schemas.openxmlformats.org/drawingml/2006/main" prst="roundRect">
            <a:avLst>
              <a:gd name="adj" fmla="val 9302"/>
            </a:avLst>
          </a:prstGeom>
          <a:solidFill xmlns:a="http://schemas.openxmlformats.org/drawingml/2006/main">
            <a:srgbClr val="FFF9EE"/>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E836356C-80CE-4DC4-B27C-5439C5A1F527}"/>
              </a:ext>
            </a:extLst>
          </p:cNvPr>
          <p:cNvSpPr>
            <a:spLocks xmlns:a="http://schemas.openxmlformats.org/drawingml/2006/main" noGrp="1"/>
          </p:cNvSpPr>
          <p:nvPr/>
        </p:nvSpPr>
        <p:spPr>
          <a:xfrm xmlns:a="http://schemas.openxmlformats.org/drawingml/2006/main" rot="0">
            <a:off x="6819900" y="2324100"/>
            <a:ext cx="533400" cy="533400"/>
          </a:xfrm>
          <a:prstGeom xmlns:a="http://schemas.openxmlformats.org/drawingml/2006/main" prst="ellipse">
            <a:avLst/>
          </a:prstGeom>
          <a:solidFill xmlns:a="http://schemas.openxmlformats.org/drawingml/2006/main">
            <a:srgbClr val="D9822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AC837B3-B92C-42B6-B969-6FC3B73BFE9B}"/>
              </a:ext>
            </a:extLst>
          </p:cNvPr>
          <p:cNvSpPr>
            <a:spLocks xmlns:a="http://schemas.openxmlformats.org/drawingml/2006/main" noGrp="1"/>
          </p:cNvSpPr>
          <p:nvPr/>
        </p:nvSpPr>
        <p:spPr>
          <a:xfrm xmlns:a="http://schemas.openxmlformats.org/drawingml/2006/main">
            <a:off x="6819900" y="2430780"/>
            <a:ext cx="533400" cy="309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4</a:t>
            </a:r>
          </a:p>
        </p:txBody>
      </p:sp>
      <p:sp>
        <p:nvSpPr>
          <p:cNvPr id="31" name="">
            <a:extLst xmlns:a="http://schemas.openxmlformats.org/drawingml/2006/main">
              <a:ext uri="{FF2B5EF4-FFF2-40B4-BE49-F238E27FC236}">
                <a16:creationId xmlns:a16="http://schemas.microsoft.com/office/drawing/2014/main" id="{29F32DA5-4CA7-4A98-83CF-6EFA7A7BDD21}"/>
              </a:ext>
            </a:extLst>
          </p:cNvPr>
          <p:cNvSpPr>
            <a:spLocks xmlns:a="http://schemas.openxmlformats.org/drawingml/2006/main" noGrp="1"/>
          </p:cNvSpPr>
          <p:nvPr/>
        </p:nvSpPr>
        <p:spPr>
          <a:xfrm xmlns:a="http://schemas.openxmlformats.org/drawingml/2006/main">
            <a:off x="6438900" y="304800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D9822B"/>
                </a:solidFill>
              </a:defRPr>
            </a:pPr>
            <a:r>
              <a:rPr sz="900" b="1" i="0">
                <a:solidFill>
                  <a:srgbClr val="D9822B"/>
                </a:solidFill>
              </a:rPr>
              <a:t>L2–T1</a:t>
            </a:r>
          </a:p>
        </p:txBody>
      </p:sp>
      <p:sp>
        <p:nvSpPr>
          <p:cNvPr id="32" name="">
            <a:extLst xmlns:a="http://schemas.openxmlformats.org/drawingml/2006/main">
              <a:ext uri="{FF2B5EF4-FFF2-40B4-BE49-F238E27FC236}">
                <a16:creationId xmlns:a16="http://schemas.microsoft.com/office/drawing/2014/main" id="{91375F75-2B90-45E7-B7B8-E26C5EF3FA95}"/>
              </a:ext>
            </a:extLst>
          </p:cNvPr>
          <p:cNvSpPr>
            <a:spLocks xmlns:a="http://schemas.openxmlformats.org/drawingml/2006/main" noGrp="1"/>
          </p:cNvSpPr>
          <p:nvPr/>
        </p:nvSpPr>
        <p:spPr>
          <a:xfrm xmlns:a="http://schemas.openxmlformats.org/drawingml/2006/main">
            <a:off x="6400800" y="3324225"/>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02534"/>
                </a:solidFill>
              </a:defRPr>
            </a:pPr>
            <a:r>
              <a:rPr sz="1275" b="1" i="0">
                <a:solidFill>
                  <a:srgbClr val="202534"/>
                </a:solidFill>
              </a:rPr>
              <a:t>Compare Services</a:t>
            </a:r>
          </a:p>
        </p:txBody>
      </p:sp>
      <p:sp>
        <p:nvSpPr>
          <p:cNvPr id="33" name="">
            <a:extLst xmlns:a="http://schemas.openxmlformats.org/drawingml/2006/main">
              <a:ext uri="{FF2B5EF4-FFF2-40B4-BE49-F238E27FC236}">
                <a16:creationId xmlns:a16="http://schemas.microsoft.com/office/drawing/2014/main" id="{54F5C17E-AC20-47B6-9844-73F34C42E752}"/>
              </a:ext>
            </a:extLst>
          </p:cNvPr>
          <p:cNvSpPr>
            <a:spLocks xmlns:a="http://schemas.openxmlformats.org/drawingml/2006/main" noGrp="1"/>
          </p:cNvSpPr>
          <p:nvPr/>
        </p:nvSpPr>
        <p:spPr>
          <a:xfrm xmlns:a="http://schemas.openxmlformats.org/drawingml/2006/main">
            <a:off x="6419850" y="3914775"/>
            <a:ext cx="133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Analyse booking and online-delivery behaviour</a:t>
            </a:r>
          </a:p>
        </p:txBody>
      </p:sp>
      <p:sp>
        <p:nvSpPr>
          <p:cNvPr id="34" name="">
            <a:extLst xmlns:a="http://schemas.openxmlformats.org/drawingml/2006/main">
              <a:ext uri="{FF2B5EF4-FFF2-40B4-BE49-F238E27FC236}">
                <a16:creationId xmlns:a16="http://schemas.microsoft.com/office/drawing/2014/main" id="{572CDF78-15C4-482A-A88E-E7CC5CC76799}"/>
              </a:ext>
            </a:extLst>
          </p:cNvPr>
          <p:cNvSpPr>
            <a:spLocks xmlns:a="http://schemas.openxmlformats.org/drawingml/2006/main" noGrp="1"/>
          </p:cNvSpPr>
          <p:nvPr/>
        </p:nvSpPr>
        <p:spPr>
          <a:xfrm xmlns:a="http://schemas.openxmlformats.org/drawingml/2006/main" rot="0">
            <a:off x="8153400" y="2114550"/>
            <a:ext cx="1638300" cy="2571750"/>
          </a:xfrm>
          <a:prstGeom xmlns:a="http://schemas.openxmlformats.org/drawingml/2006/main" prst="roundRect">
            <a:avLst>
              <a:gd name="adj" fmla="val 9302"/>
            </a:avLst>
          </a:prstGeom>
          <a:solidFill xmlns:a="http://schemas.openxmlformats.org/drawingml/2006/main">
            <a:srgbClr val="FFF9EE"/>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68810A39-517D-44EE-811D-D4092889654B}"/>
              </a:ext>
            </a:extLst>
          </p:cNvPr>
          <p:cNvSpPr>
            <a:spLocks xmlns:a="http://schemas.openxmlformats.org/drawingml/2006/main" noGrp="1"/>
          </p:cNvSpPr>
          <p:nvPr/>
        </p:nvSpPr>
        <p:spPr>
          <a:xfrm xmlns:a="http://schemas.openxmlformats.org/drawingml/2006/main" rot="0">
            <a:off x="8705850" y="2324100"/>
            <a:ext cx="533400" cy="533400"/>
          </a:xfrm>
          <a:prstGeom xmlns:a="http://schemas.openxmlformats.org/drawingml/2006/main" prst="ellipse">
            <a:avLst/>
          </a:prstGeom>
          <a:solidFill xmlns:a="http://schemas.openxmlformats.org/drawingml/2006/main">
            <a:srgbClr val="D9822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BA8EE1E-1162-4345-9BFC-3648FE50151B}"/>
              </a:ext>
            </a:extLst>
          </p:cNvPr>
          <p:cNvSpPr>
            <a:spLocks xmlns:a="http://schemas.openxmlformats.org/drawingml/2006/main" noGrp="1"/>
          </p:cNvSpPr>
          <p:nvPr/>
        </p:nvSpPr>
        <p:spPr>
          <a:xfrm xmlns:a="http://schemas.openxmlformats.org/drawingml/2006/main">
            <a:off x="8705850" y="2430780"/>
            <a:ext cx="533400" cy="309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5</a:t>
            </a:r>
          </a:p>
        </p:txBody>
      </p:sp>
      <p:sp>
        <p:nvSpPr>
          <p:cNvPr id="37" name="">
            <a:extLst xmlns:a="http://schemas.openxmlformats.org/drawingml/2006/main">
              <a:ext uri="{FF2B5EF4-FFF2-40B4-BE49-F238E27FC236}">
                <a16:creationId xmlns:a16="http://schemas.microsoft.com/office/drawing/2014/main" id="{F6F94845-0E5A-4DB3-9EFF-FCA0224DA25C}"/>
              </a:ext>
            </a:extLst>
          </p:cNvPr>
          <p:cNvSpPr>
            <a:spLocks xmlns:a="http://schemas.openxmlformats.org/drawingml/2006/main" noGrp="1"/>
          </p:cNvSpPr>
          <p:nvPr/>
        </p:nvSpPr>
        <p:spPr>
          <a:xfrm xmlns:a="http://schemas.openxmlformats.org/drawingml/2006/main">
            <a:off x="8324850" y="304800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D9822B"/>
                </a:solidFill>
              </a:defRPr>
            </a:pPr>
            <a:r>
              <a:rPr sz="900" b="1" i="0">
                <a:solidFill>
                  <a:srgbClr val="D9822B"/>
                </a:solidFill>
              </a:rPr>
              <a:t>L2–T2</a:t>
            </a:r>
          </a:p>
        </p:txBody>
      </p:sp>
      <p:sp>
        <p:nvSpPr>
          <p:cNvPr id="38" name="">
            <a:extLst xmlns:a="http://schemas.openxmlformats.org/drawingml/2006/main">
              <a:ext uri="{FF2B5EF4-FFF2-40B4-BE49-F238E27FC236}">
                <a16:creationId xmlns:a16="http://schemas.microsoft.com/office/drawing/2014/main" id="{784DA51D-21C3-4358-BDEB-F86C16D847BE}"/>
              </a:ext>
            </a:extLst>
          </p:cNvPr>
          <p:cNvSpPr>
            <a:spLocks xmlns:a="http://schemas.openxmlformats.org/drawingml/2006/main" noGrp="1"/>
          </p:cNvSpPr>
          <p:nvPr/>
        </p:nvSpPr>
        <p:spPr>
          <a:xfrm xmlns:a="http://schemas.openxmlformats.org/drawingml/2006/main">
            <a:off x="8286750" y="3324225"/>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02534"/>
                </a:solidFill>
              </a:defRPr>
            </a:pPr>
            <a:r>
              <a:rPr sz="1275" b="1" i="0">
                <a:solidFill>
                  <a:srgbClr val="202534"/>
                </a:solidFill>
              </a:rPr>
              <a:t>Compare Prices</a:t>
            </a:r>
          </a:p>
        </p:txBody>
      </p:sp>
      <p:sp>
        <p:nvSpPr>
          <p:cNvPr id="39" name="">
            <a:extLst xmlns:a="http://schemas.openxmlformats.org/drawingml/2006/main">
              <a:ext uri="{FF2B5EF4-FFF2-40B4-BE49-F238E27FC236}">
                <a16:creationId xmlns:a16="http://schemas.microsoft.com/office/drawing/2014/main" id="{B1426E82-7A22-439D-B81B-222044663F82}"/>
              </a:ext>
            </a:extLst>
          </p:cNvPr>
          <p:cNvSpPr>
            <a:spLocks xmlns:a="http://schemas.openxmlformats.org/drawingml/2006/main" noGrp="1"/>
          </p:cNvSpPr>
          <p:nvPr/>
        </p:nvSpPr>
        <p:spPr>
          <a:xfrm xmlns:a="http://schemas.openxmlformats.org/drawingml/2006/main">
            <a:off x="8305800" y="3914775"/>
            <a:ext cx="133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Measure counts and ratings across price ranges</a:t>
            </a:r>
          </a:p>
        </p:txBody>
      </p:sp>
      <p:sp>
        <p:nvSpPr>
          <p:cNvPr id="40" name="">
            <a:extLst xmlns:a="http://schemas.openxmlformats.org/drawingml/2006/main">
              <a:ext uri="{FF2B5EF4-FFF2-40B4-BE49-F238E27FC236}">
                <a16:creationId xmlns:a16="http://schemas.microsoft.com/office/drawing/2014/main" id="{E1AE4026-24B8-4372-BE42-91930595E910}"/>
              </a:ext>
            </a:extLst>
          </p:cNvPr>
          <p:cNvSpPr>
            <a:spLocks xmlns:a="http://schemas.openxmlformats.org/drawingml/2006/main" noGrp="1"/>
          </p:cNvSpPr>
          <p:nvPr/>
        </p:nvSpPr>
        <p:spPr>
          <a:xfrm xmlns:a="http://schemas.openxmlformats.org/drawingml/2006/main" rot="0">
            <a:off x="10039350" y="2114550"/>
            <a:ext cx="1638300" cy="2571750"/>
          </a:xfrm>
          <a:prstGeom xmlns:a="http://schemas.openxmlformats.org/drawingml/2006/main" prst="roundRect">
            <a:avLst>
              <a:gd name="adj" fmla="val 9302"/>
            </a:avLst>
          </a:prstGeom>
          <a:solidFill xmlns:a="http://schemas.openxmlformats.org/drawingml/2006/main">
            <a:srgbClr val="FFF9EE"/>
          </a:solidFill>
          <a:ln xmlns:a="http://schemas.openxmlformats.org/drawingml/2006/main" w="9525">
            <a:solidFill>
              <a:srgbClr val="D4DD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4EA735C1-50FE-458C-9372-B6886F1CBD58}"/>
              </a:ext>
            </a:extLst>
          </p:cNvPr>
          <p:cNvSpPr>
            <a:spLocks xmlns:a="http://schemas.openxmlformats.org/drawingml/2006/main" noGrp="1"/>
          </p:cNvSpPr>
          <p:nvPr/>
        </p:nvSpPr>
        <p:spPr>
          <a:xfrm xmlns:a="http://schemas.openxmlformats.org/drawingml/2006/main" rot="0">
            <a:off x="10591800" y="2324100"/>
            <a:ext cx="533400" cy="533400"/>
          </a:xfrm>
          <a:prstGeom xmlns:a="http://schemas.openxmlformats.org/drawingml/2006/main" prst="ellipse">
            <a:avLst/>
          </a:prstGeom>
          <a:solidFill xmlns:a="http://schemas.openxmlformats.org/drawingml/2006/main">
            <a:srgbClr val="D982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A3B9D6A-F752-4D49-A7C5-9C963AD52B56}"/>
              </a:ext>
            </a:extLst>
          </p:cNvPr>
          <p:cNvSpPr>
            <a:spLocks xmlns:a="http://schemas.openxmlformats.org/drawingml/2006/main" noGrp="1"/>
          </p:cNvSpPr>
          <p:nvPr/>
        </p:nvSpPr>
        <p:spPr>
          <a:xfrm xmlns:a="http://schemas.openxmlformats.org/drawingml/2006/main">
            <a:off x="10591800" y="2430780"/>
            <a:ext cx="533400" cy="309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6</a:t>
            </a:r>
          </a:p>
        </p:txBody>
      </p:sp>
      <p:sp>
        <p:nvSpPr>
          <p:cNvPr id="43" name="">
            <a:extLst xmlns:a="http://schemas.openxmlformats.org/drawingml/2006/main">
              <a:ext uri="{FF2B5EF4-FFF2-40B4-BE49-F238E27FC236}">
                <a16:creationId xmlns:a16="http://schemas.microsoft.com/office/drawing/2014/main" id="{BC03DC57-17D6-401B-9411-7E6D87288554}"/>
              </a:ext>
            </a:extLst>
          </p:cNvPr>
          <p:cNvSpPr>
            <a:spLocks xmlns:a="http://schemas.openxmlformats.org/drawingml/2006/main" noGrp="1"/>
          </p:cNvSpPr>
          <p:nvPr/>
        </p:nvSpPr>
        <p:spPr>
          <a:xfrm xmlns:a="http://schemas.openxmlformats.org/drawingml/2006/main">
            <a:off x="10210800" y="304800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D9822B"/>
                </a:solidFill>
              </a:defRPr>
            </a:pPr>
            <a:r>
              <a:rPr sz="900" b="1" i="0">
                <a:solidFill>
                  <a:srgbClr val="D9822B"/>
                </a:solidFill>
              </a:rPr>
              <a:t>L2–T3</a:t>
            </a:r>
          </a:p>
        </p:txBody>
      </p:sp>
      <p:sp>
        <p:nvSpPr>
          <p:cNvPr id="44" name="">
            <a:extLst xmlns:a="http://schemas.openxmlformats.org/drawingml/2006/main">
              <a:ext uri="{FF2B5EF4-FFF2-40B4-BE49-F238E27FC236}">
                <a16:creationId xmlns:a16="http://schemas.microsoft.com/office/drawing/2014/main" id="{857ACF6C-2B9E-4A93-9513-6130F9DB4174}"/>
              </a:ext>
            </a:extLst>
          </p:cNvPr>
          <p:cNvSpPr>
            <a:spLocks xmlns:a="http://schemas.openxmlformats.org/drawingml/2006/main" noGrp="1"/>
          </p:cNvSpPr>
          <p:nvPr/>
        </p:nvSpPr>
        <p:spPr>
          <a:xfrm xmlns:a="http://schemas.openxmlformats.org/drawingml/2006/main">
            <a:off x="10172700" y="3324225"/>
            <a:ext cx="137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02534"/>
                </a:solidFill>
              </a:defRPr>
            </a:pPr>
            <a:r>
              <a:rPr sz="1275" b="1" i="0">
                <a:solidFill>
                  <a:srgbClr val="202534"/>
                </a:solidFill>
              </a:rPr>
              <a:t>Engineer Features</a:t>
            </a:r>
          </a:p>
        </p:txBody>
      </p:sp>
      <p:sp>
        <p:nvSpPr>
          <p:cNvPr id="45" name="">
            <a:extLst xmlns:a="http://schemas.openxmlformats.org/drawingml/2006/main">
              <a:ext uri="{FF2B5EF4-FFF2-40B4-BE49-F238E27FC236}">
                <a16:creationId xmlns:a16="http://schemas.microsoft.com/office/drawing/2014/main" id="{C57E2F29-CF85-4CBF-A6AC-BA62996AC11A}"/>
              </a:ext>
            </a:extLst>
          </p:cNvPr>
          <p:cNvSpPr>
            <a:spLocks xmlns:a="http://schemas.openxmlformats.org/drawingml/2006/main" noGrp="1"/>
          </p:cNvSpPr>
          <p:nvPr/>
        </p:nvSpPr>
        <p:spPr>
          <a:xfrm xmlns:a="http://schemas.openxmlformats.org/drawingml/2006/main">
            <a:off x="10191750" y="3914775"/>
            <a:ext cx="133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Create six numerical variables and export CSV</a:t>
            </a:r>
          </a:p>
        </p:txBody>
      </p:sp>
      <p:sp>
        <p:nvSpPr>
          <p:cNvPr id="46" name="">
            <a:extLst xmlns:a="http://schemas.openxmlformats.org/drawingml/2006/main">
              <a:ext uri="{FF2B5EF4-FFF2-40B4-BE49-F238E27FC236}">
                <a16:creationId xmlns:a16="http://schemas.microsoft.com/office/drawing/2014/main" id="{2F24DBFB-22EF-409B-971C-60C6E6B1FEE5}"/>
              </a:ext>
            </a:extLst>
          </p:cNvPr>
          <p:cNvSpPr>
            <a:spLocks xmlns:a="http://schemas.openxmlformats.org/drawingml/2006/main" noGrp="1"/>
          </p:cNvSpPr>
          <p:nvPr/>
        </p:nvSpPr>
        <p:spPr>
          <a:xfrm xmlns:a="http://schemas.openxmlformats.org/drawingml/2006/main">
            <a:off x="2990850" y="5219700"/>
            <a:ext cx="6210300" cy="438150"/>
          </a:xfrm>
          <a:prstGeom xmlns:a="http://schemas.openxmlformats.org/drawingml/2006/main" prst="roundRect">
            <a:avLst>
              <a:gd name="adj" fmla="val 43478"/>
            </a:avLst>
          </a:prstGeom>
          <a:solidFill xmlns:a="http://schemas.openxmlformats.org/drawingml/2006/main">
            <a:srgbClr val="20357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OUTPUT: Dataset_Enriched.csv • 9,551 rows × 27 columns</a:t>
            </a:r>
          </a:p>
        </p:txBody>
      </p:sp>
      <p:sp>
        <p:nvSpPr>
          <p:cNvPr id="47" name="">
            <a:extLst xmlns:a="http://schemas.openxmlformats.org/drawingml/2006/main">
              <a:ext uri="{FF2B5EF4-FFF2-40B4-BE49-F238E27FC236}">
                <a16:creationId xmlns:a16="http://schemas.microsoft.com/office/drawing/2014/main" id="{45FB6109-E4EB-4F00-BAC2-12A401278F60}"/>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48" name="">
            <a:extLst xmlns:a="http://schemas.openxmlformats.org/drawingml/2006/main">
              <a:ext uri="{FF2B5EF4-FFF2-40B4-BE49-F238E27FC236}">
                <a16:creationId xmlns:a16="http://schemas.microsoft.com/office/drawing/2014/main" id="{E53410E6-48EF-42F1-A351-94400121B634}"/>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05</a:t>
            </a:r>
          </a:p>
        </p:txBody>
      </p:sp>
    </p:spTree>
    <p:extLst>
      <p:ext uri="{BB962C8B-B14F-4D97-AF65-F5344CB8AC3E}">
        <p14:creationId xmlns:p14="http://schemas.microsoft.com/office/powerpoint/2010/main" val="375951014"/>
      </p:ext>
    </p:extLst>
  </p:cSld>
</p:sld>
</file>

<file path=ppt/slides/slide6.xml><?xml version="1.0" encoding="utf-8"?>
<p:sld xmlns:p="http://schemas.openxmlformats.org/presentationml/2006/main">
  <p:cSld>
    <p:bg>
      <p:bgPr>
        <a:solidFill xmlns:a="http://schemas.openxmlformats.org/drawingml/2006/main">
          <a:srgbClr val="142150"/>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E80D04D-BF5D-4285-8D7E-EC3A9B911B2F}"/>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2B400"/>
                </a:solidFill>
              </a:defRPr>
            </a:pPr>
            <a:r>
              <a:rPr sz="975" b="1" i="0">
                <a:solidFill>
                  <a:srgbClr val="F2B400"/>
                </a:solidFill>
              </a:rPr>
              <a:t>SYSTEM ARCHITECTURE</a:t>
            </a:r>
          </a:p>
        </p:txBody>
      </p:sp>
      <p:sp>
        <p:nvSpPr>
          <p:cNvPr id="2" name="">
            <a:extLst xmlns:a="http://schemas.openxmlformats.org/drawingml/2006/main">
              <a:ext uri="{FF2B5EF4-FFF2-40B4-BE49-F238E27FC236}">
                <a16:creationId xmlns:a16="http://schemas.microsoft.com/office/drawing/2014/main" id="{F5E449A8-85BF-4A22-93A2-101152C03188}"/>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FFFFFF"/>
                </a:solidFill>
              </a:defRPr>
            </a:pPr>
            <a:r>
              <a:rPr sz="2700" b="1" i="0">
                <a:solidFill>
                  <a:srgbClr val="FFFFFF"/>
                </a:solidFill>
              </a:rPr>
              <a:t>A layered pipeline kept each analytical step reproducible</a:t>
            </a:r>
          </a:p>
        </p:txBody>
      </p:sp>
      <p:sp>
        <p:nvSpPr>
          <p:cNvPr id="3" name="">
            <a:extLst xmlns:a="http://schemas.openxmlformats.org/drawingml/2006/main">
              <a:ext uri="{FF2B5EF4-FFF2-40B4-BE49-F238E27FC236}">
                <a16:creationId xmlns:a16="http://schemas.microsoft.com/office/drawing/2014/main" id="{A8BE5829-8773-4803-969C-A9690E2947FB}"/>
              </a:ext>
            </a:extLst>
          </p:cNvPr>
          <p:cNvSpPr>
            <a:spLocks xmlns:a="http://schemas.openxmlformats.org/drawingml/2006/main" noGrp="1"/>
          </p:cNvSpPr>
          <p:nvPr/>
        </p:nvSpPr>
        <p:spPr>
          <a:xfrm xmlns:a="http://schemas.openxmlformats.org/drawingml/2006/main">
            <a:off x="2362200" y="3467100"/>
            <a:ext cx="80010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4" name="">
            <a:extLst xmlns:a="http://schemas.openxmlformats.org/drawingml/2006/main">
              <a:ext uri="{FF2B5EF4-FFF2-40B4-BE49-F238E27FC236}">
                <a16:creationId xmlns:a16="http://schemas.microsoft.com/office/drawing/2014/main" id="{F1F574C6-35A5-4D78-86A8-CBD093D8ADD0}"/>
              </a:ext>
            </a:extLst>
          </p:cNvPr>
          <p:cNvSpPr>
            <a:spLocks xmlns:a="http://schemas.openxmlformats.org/drawingml/2006/main" noGrp="1"/>
          </p:cNvSpPr>
          <p:nvPr/>
        </p:nvSpPr>
        <p:spPr>
          <a:xfrm xmlns:a="http://schemas.openxmlformats.org/drawingml/2006/main">
            <a:off x="4629150" y="3467100"/>
            <a:ext cx="80010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5" name="">
            <a:extLst xmlns:a="http://schemas.openxmlformats.org/drawingml/2006/main">
              <a:ext uri="{FF2B5EF4-FFF2-40B4-BE49-F238E27FC236}">
                <a16:creationId xmlns:a16="http://schemas.microsoft.com/office/drawing/2014/main" id="{B0E3EEBD-8F88-4207-989A-D30EBCAC0829}"/>
              </a:ext>
            </a:extLst>
          </p:cNvPr>
          <p:cNvSpPr>
            <a:spLocks xmlns:a="http://schemas.openxmlformats.org/drawingml/2006/main" noGrp="1"/>
          </p:cNvSpPr>
          <p:nvPr/>
        </p:nvSpPr>
        <p:spPr>
          <a:xfrm xmlns:a="http://schemas.openxmlformats.org/drawingml/2006/main">
            <a:off x="6896100" y="3467100"/>
            <a:ext cx="80010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6" name="">
            <a:extLst xmlns:a="http://schemas.openxmlformats.org/drawingml/2006/main">
              <a:ext uri="{FF2B5EF4-FFF2-40B4-BE49-F238E27FC236}">
                <a16:creationId xmlns:a16="http://schemas.microsoft.com/office/drawing/2014/main" id="{B2998B64-F834-4A3B-A51C-228EED1542CE}"/>
              </a:ext>
            </a:extLst>
          </p:cNvPr>
          <p:cNvSpPr>
            <a:spLocks xmlns:a="http://schemas.openxmlformats.org/drawingml/2006/main" noGrp="1"/>
          </p:cNvSpPr>
          <p:nvPr/>
        </p:nvSpPr>
        <p:spPr>
          <a:xfrm xmlns:a="http://schemas.openxmlformats.org/drawingml/2006/main">
            <a:off x="9163050" y="3467100"/>
            <a:ext cx="80010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7" name="">
            <a:extLst xmlns:a="http://schemas.openxmlformats.org/drawingml/2006/main">
              <a:ext uri="{FF2B5EF4-FFF2-40B4-BE49-F238E27FC236}">
                <a16:creationId xmlns:a16="http://schemas.microsoft.com/office/drawing/2014/main" id="{299D32BF-57D5-4BC6-B30E-3DA17B9DF41C}"/>
              </a:ext>
            </a:extLst>
          </p:cNvPr>
          <p:cNvSpPr>
            <a:spLocks xmlns:a="http://schemas.openxmlformats.org/drawingml/2006/main" noGrp="1"/>
          </p:cNvSpPr>
          <p:nvPr/>
        </p:nvSpPr>
        <p:spPr>
          <a:xfrm xmlns:a="http://schemas.openxmlformats.org/drawingml/2006/main" rot="0">
            <a:off x="1200150" y="1981200"/>
            <a:ext cx="628650" cy="6286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3BA721-0DAC-4D33-AB30-BAA69602E853}"/>
              </a:ext>
            </a:extLst>
          </p:cNvPr>
          <p:cNvSpPr>
            <a:spLocks xmlns:a="http://schemas.openxmlformats.org/drawingml/2006/main" noGrp="1"/>
          </p:cNvSpPr>
          <p:nvPr/>
        </p:nvSpPr>
        <p:spPr>
          <a:xfrm xmlns:a="http://schemas.openxmlformats.org/drawingml/2006/main">
            <a:off x="1200150" y="2106930"/>
            <a:ext cx="628650" cy="3646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FFFFFF"/>
                </a:solidFill>
              </a:defRPr>
            </a:pPr>
            <a:r>
              <a:rPr sz="1800" b="1" i="0">
                <a:solidFill>
                  <a:srgbClr val="FFFFFF"/>
                </a:solidFill>
              </a:rPr>
              <a:t>1</a:t>
            </a:r>
          </a:p>
        </p:txBody>
      </p:sp>
      <p:sp>
        <p:nvSpPr>
          <p:cNvPr id="9" name="">
            <a:extLst xmlns:a="http://schemas.openxmlformats.org/drawingml/2006/main">
              <a:ext uri="{FF2B5EF4-FFF2-40B4-BE49-F238E27FC236}">
                <a16:creationId xmlns:a16="http://schemas.microsoft.com/office/drawing/2014/main" id="{695CE80F-0B56-418D-AAA4-9F2C7FA7CC33}"/>
              </a:ext>
            </a:extLst>
          </p:cNvPr>
          <p:cNvSpPr>
            <a:spLocks xmlns:a="http://schemas.openxmlformats.org/drawingml/2006/main" noGrp="1"/>
          </p:cNvSpPr>
          <p:nvPr/>
        </p:nvSpPr>
        <p:spPr>
          <a:xfrm xmlns:a="http://schemas.openxmlformats.org/drawingml/2006/main">
            <a:off x="685800" y="28194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2B400"/>
                </a:solidFill>
              </a:defRPr>
            </a:pPr>
            <a:r>
              <a:rPr sz="975" b="1" i="0">
                <a:solidFill>
                  <a:srgbClr val="F2B400"/>
                </a:solidFill>
              </a:rPr>
              <a:t>SOURCE</a:t>
            </a:r>
          </a:p>
        </p:txBody>
      </p:sp>
      <p:sp>
        <p:nvSpPr>
          <p:cNvPr id="10" name="">
            <a:extLst xmlns:a="http://schemas.openxmlformats.org/drawingml/2006/main">
              <a:ext uri="{FF2B5EF4-FFF2-40B4-BE49-F238E27FC236}">
                <a16:creationId xmlns:a16="http://schemas.microsoft.com/office/drawing/2014/main" id="{7778E0DB-FAEE-42D6-BEDB-09F6ED11D793}"/>
              </a:ext>
            </a:extLst>
          </p:cNvPr>
          <p:cNvSpPr>
            <a:spLocks xmlns:a="http://schemas.openxmlformats.org/drawingml/2006/main" noGrp="1"/>
          </p:cNvSpPr>
          <p:nvPr/>
        </p:nvSpPr>
        <p:spPr>
          <a:xfrm xmlns:a="http://schemas.openxmlformats.org/drawingml/2006/main" rot="0">
            <a:off x="609600" y="3143250"/>
            <a:ext cx="1809750" cy="1581150"/>
          </a:xfrm>
          <a:prstGeom xmlns:a="http://schemas.openxmlformats.org/drawingml/2006/main" prst="roundRect">
            <a:avLst>
              <a:gd name="adj" fmla="val 9036"/>
            </a:avLst>
          </a:prstGeom>
          <a:solidFill xmlns:a="http://schemas.openxmlformats.org/drawingml/2006/main">
            <a:srgbClr val="203574"/>
          </a:solidFill>
          <a:ln xmlns:a="http://schemas.openxmlformats.org/drawingml/2006/main" w="9525">
            <a:solidFill>
              <a:srgbClr val="38559C"/>
            </a:solidFill>
            <a:prstDash val="solid"/>
          </a:ln>
        </p:spPr>
      </p:sp>
      <p:sp>
        <p:nvSpPr>
          <p:cNvPr id="11" name="">
            <a:extLst xmlns:a="http://schemas.openxmlformats.org/drawingml/2006/main">
              <a:ext uri="{FF2B5EF4-FFF2-40B4-BE49-F238E27FC236}">
                <a16:creationId xmlns:a16="http://schemas.microsoft.com/office/drawing/2014/main" id="{D261B1D5-B0E2-4E03-8407-69B926087D6B}"/>
              </a:ext>
            </a:extLst>
          </p:cNvPr>
          <p:cNvSpPr>
            <a:spLocks xmlns:a="http://schemas.openxmlformats.org/drawingml/2006/main" noGrp="1"/>
          </p:cNvSpPr>
          <p:nvPr/>
        </p:nvSpPr>
        <p:spPr>
          <a:xfrm xmlns:a="http://schemas.openxmlformats.org/drawingml/2006/main">
            <a:off x="742950" y="3438525"/>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Dataset .csv</a:t>
            </a:r>
          </a:p>
        </p:txBody>
      </p:sp>
      <p:sp>
        <p:nvSpPr>
          <p:cNvPr id="12" name="">
            <a:extLst xmlns:a="http://schemas.openxmlformats.org/drawingml/2006/main">
              <a:ext uri="{FF2B5EF4-FFF2-40B4-BE49-F238E27FC236}">
                <a16:creationId xmlns:a16="http://schemas.microsoft.com/office/drawing/2014/main" id="{8F5D2C6B-F4AD-497A-8543-51A51872428A}"/>
              </a:ext>
            </a:extLst>
          </p:cNvPr>
          <p:cNvSpPr>
            <a:spLocks xmlns:a="http://schemas.openxmlformats.org/drawingml/2006/main" noGrp="1"/>
          </p:cNvSpPr>
          <p:nvPr/>
        </p:nvSpPr>
        <p:spPr>
          <a:xfrm xmlns:a="http://schemas.openxmlformats.org/drawingml/2006/main">
            <a:off x="742950" y="4095750"/>
            <a:ext cx="1543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BFCBE8"/>
                </a:solidFill>
              </a:defRPr>
            </a:pPr>
            <a:r>
              <a:rPr sz="1050" b="0" i="0">
                <a:solidFill>
                  <a:srgbClr val="BFCBE8"/>
                </a:solidFill>
              </a:rPr>
              <a:t>9,551 × 21</a:t>
            </a:r>
          </a:p>
        </p:txBody>
      </p:sp>
      <p:sp>
        <p:nvSpPr>
          <p:cNvPr id="13" name="">
            <a:extLst xmlns:a="http://schemas.openxmlformats.org/drawingml/2006/main">
              <a:ext uri="{FF2B5EF4-FFF2-40B4-BE49-F238E27FC236}">
                <a16:creationId xmlns:a16="http://schemas.microsoft.com/office/drawing/2014/main" id="{44605DA7-DB20-42F5-9B42-C32211E99E80}"/>
              </a:ext>
            </a:extLst>
          </p:cNvPr>
          <p:cNvSpPr>
            <a:spLocks xmlns:a="http://schemas.openxmlformats.org/drawingml/2006/main" noGrp="1"/>
          </p:cNvSpPr>
          <p:nvPr/>
        </p:nvSpPr>
        <p:spPr>
          <a:xfrm xmlns:a="http://schemas.openxmlformats.org/drawingml/2006/main" rot="0">
            <a:off x="3467100" y="1981200"/>
            <a:ext cx="628650" cy="6286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41859D-A572-47B2-97FD-3258A1D92D2F}"/>
              </a:ext>
            </a:extLst>
          </p:cNvPr>
          <p:cNvSpPr>
            <a:spLocks xmlns:a="http://schemas.openxmlformats.org/drawingml/2006/main" noGrp="1"/>
          </p:cNvSpPr>
          <p:nvPr/>
        </p:nvSpPr>
        <p:spPr>
          <a:xfrm xmlns:a="http://schemas.openxmlformats.org/drawingml/2006/main">
            <a:off x="3467100" y="2106930"/>
            <a:ext cx="628650" cy="3646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FFFFFF"/>
                </a:solidFill>
              </a:defRPr>
            </a:pPr>
            <a:r>
              <a:rPr sz="1800" b="1" i="0">
                <a:solidFill>
                  <a:srgbClr val="FFFFFF"/>
                </a:solidFill>
              </a:rPr>
              <a:t>2</a:t>
            </a:r>
          </a:p>
        </p:txBody>
      </p:sp>
      <p:sp>
        <p:nvSpPr>
          <p:cNvPr id="15" name="">
            <a:extLst xmlns:a="http://schemas.openxmlformats.org/drawingml/2006/main">
              <a:ext uri="{FF2B5EF4-FFF2-40B4-BE49-F238E27FC236}">
                <a16:creationId xmlns:a16="http://schemas.microsoft.com/office/drawing/2014/main" id="{D7C14315-BB2E-48E5-9AD3-0EAD00BD0430}"/>
              </a:ext>
            </a:extLst>
          </p:cNvPr>
          <p:cNvSpPr>
            <a:spLocks xmlns:a="http://schemas.openxmlformats.org/drawingml/2006/main" noGrp="1"/>
          </p:cNvSpPr>
          <p:nvPr/>
        </p:nvSpPr>
        <p:spPr>
          <a:xfrm xmlns:a="http://schemas.openxmlformats.org/drawingml/2006/main">
            <a:off x="2952750" y="28194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2B400"/>
                </a:solidFill>
              </a:defRPr>
            </a:pPr>
            <a:r>
              <a:rPr sz="975" b="1" i="0">
                <a:solidFill>
                  <a:srgbClr val="F2B400"/>
                </a:solidFill>
              </a:rPr>
              <a:t>PREPARE</a:t>
            </a:r>
          </a:p>
        </p:txBody>
      </p:sp>
      <p:sp>
        <p:nvSpPr>
          <p:cNvPr id="16" name="">
            <a:extLst xmlns:a="http://schemas.openxmlformats.org/drawingml/2006/main">
              <a:ext uri="{FF2B5EF4-FFF2-40B4-BE49-F238E27FC236}">
                <a16:creationId xmlns:a16="http://schemas.microsoft.com/office/drawing/2014/main" id="{B37424EC-5C76-4D7D-8439-84F23DA72F01}"/>
              </a:ext>
            </a:extLst>
          </p:cNvPr>
          <p:cNvSpPr>
            <a:spLocks xmlns:a="http://schemas.openxmlformats.org/drawingml/2006/main" noGrp="1"/>
          </p:cNvSpPr>
          <p:nvPr/>
        </p:nvSpPr>
        <p:spPr>
          <a:xfrm xmlns:a="http://schemas.openxmlformats.org/drawingml/2006/main" rot="0">
            <a:off x="2876550" y="3143250"/>
            <a:ext cx="1809750" cy="1581150"/>
          </a:xfrm>
          <a:prstGeom xmlns:a="http://schemas.openxmlformats.org/drawingml/2006/main" prst="roundRect">
            <a:avLst>
              <a:gd name="adj" fmla="val 9036"/>
            </a:avLst>
          </a:prstGeom>
          <a:solidFill xmlns:a="http://schemas.openxmlformats.org/drawingml/2006/main">
            <a:srgbClr val="203574"/>
          </a:solidFill>
          <a:ln xmlns:a="http://schemas.openxmlformats.org/drawingml/2006/main" w="9525">
            <a:solidFill>
              <a:srgbClr val="38559C"/>
            </a:solidFill>
            <a:prstDash val="solid"/>
          </a:ln>
        </p:spPr>
      </p:sp>
      <p:sp>
        <p:nvSpPr>
          <p:cNvPr id="17" name="">
            <a:extLst xmlns:a="http://schemas.openxmlformats.org/drawingml/2006/main">
              <a:ext uri="{FF2B5EF4-FFF2-40B4-BE49-F238E27FC236}">
                <a16:creationId xmlns:a16="http://schemas.microsoft.com/office/drawing/2014/main" id="{D20C9D53-94A6-4D13-905F-1C060BC66D02}"/>
              </a:ext>
            </a:extLst>
          </p:cNvPr>
          <p:cNvSpPr>
            <a:spLocks xmlns:a="http://schemas.openxmlformats.org/drawingml/2006/main" noGrp="1"/>
          </p:cNvSpPr>
          <p:nvPr/>
        </p:nvSpPr>
        <p:spPr>
          <a:xfrm xmlns:a="http://schemas.openxmlformats.org/drawingml/2006/main">
            <a:off x="3009900" y="3438525"/>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pandas + NumPy</a:t>
            </a:r>
          </a:p>
        </p:txBody>
      </p:sp>
      <p:sp>
        <p:nvSpPr>
          <p:cNvPr id="18" name="">
            <a:extLst xmlns:a="http://schemas.openxmlformats.org/drawingml/2006/main">
              <a:ext uri="{FF2B5EF4-FFF2-40B4-BE49-F238E27FC236}">
                <a16:creationId xmlns:a16="http://schemas.microsoft.com/office/drawing/2014/main" id="{60F974F7-4908-4551-9C30-EC54DAADA082}"/>
              </a:ext>
            </a:extLst>
          </p:cNvPr>
          <p:cNvSpPr>
            <a:spLocks xmlns:a="http://schemas.openxmlformats.org/drawingml/2006/main" noGrp="1"/>
          </p:cNvSpPr>
          <p:nvPr/>
        </p:nvSpPr>
        <p:spPr>
          <a:xfrm xmlns:a="http://schemas.openxmlformats.org/drawingml/2006/main">
            <a:off x="3009900" y="4095750"/>
            <a:ext cx="1543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BFCBE8"/>
                </a:solidFill>
              </a:defRPr>
            </a:pPr>
            <a:r>
              <a:rPr sz="1050" b="0" i="0">
                <a:solidFill>
                  <a:srgbClr val="BFCBE8"/>
                </a:solidFill>
              </a:rPr>
              <a:t>clean &amp; validate</a:t>
            </a:r>
          </a:p>
        </p:txBody>
      </p:sp>
      <p:sp>
        <p:nvSpPr>
          <p:cNvPr id="19" name="">
            <a:extLst xmlns:a="http://schemas.openxmlformats.org/drawingml/2006/main">
              <a:ext uri="{FF2B5EF4-FFF2-40B4-BE49-F238E27FC236}">
                <a16:creationId xmlns:a16="http://schemas.microsoft.com/office/drawing/2014/main" id="{549D9864-B191-4AFB-8113-473304B3E175}"/>
              </a:ext>
            </a:extLst>
          </p:cNvPr>
          <p:cNvSpPr>
            <a:spLocks xmlns:a="http://schemas.openxmlformats.org/drawingml/2006/main" noGrp="1"/>
          </p:cNvSpPr>
          <p:nvPr/>
        </p:nvSpPr>
        <p:spPr>
          <a:xfrm xmlns:a="http://schemas.openxmlformats.org/drawingml/2006/main" rot="0">
            <a:off x="5734050" y="1981200"/>
            <a:ext cx="628650" cy="6286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4F87CA-751D-46ED-88A1-5BC30CF4B31E}"/>
              </a:ext>
            </a:extLst>
          </p:cNvPr>
          <p:cNvSpPr>
            <a:spLocks xmlns:a="http://schemas.openxmlformats.org/drawingml/2006/main" noGrp="1"/>
          </p:cNvSpPr>
          <p:nvPr/>
        </p:nvSpPr>
        <p:spPr>
          <a:xfrm xmlns:a="http://schemas.openxmlformats.org/drawingml/2006/main">
            <a:off x="5734050" y="2106930"/>
            <a:ext cx="628650" cy="3646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FFFFFF"/>
                </a:solidFill>
              </a:defRPr>
            </a:pPr>
            <a:r>
              <a:rPr sz="1800" b="1" i="0">
                <a:solidFill>
                  <a:srgbClr val="FFFFFF"/>
                </a:solidFill>
              </a:rPr>
              <a:t>3</a:t>
            </a:r>
          </a:p>
        </p:txBody>
      </p:sp>
      <p:sp>
        <p:nvSpPr>
          <p:cNvPr id="21" name="">
            <a:extLst xmlns:a="http://schemas.openxmlformats.org/drawingml/2006/main">
              <a:ext uri="{FF2B5EF4-FFF2-40B4-BE49-F238E27FC236}">
                <a16:creationId xmlns:a16="http://schemas.microsoft.com/office/drawing/2014/main" id="{E610539D-2C8D-460B-A1CD-6165BFA057CE}"/>
              </a:ext>
            </a:extLst>
          </p:cNvPr>
          <p:cNvSpPr>
            <a:spLocks xmlns:a="http://schemas.openxmlformats.org/drawingml/2006/main" noGrp="1"/>
          </p:cNvSpPr>
          <p:nvPr/>
        </p:nvSpPr>
        <p:spPr>
          <a:xfrm xmlns:a="http://schemas.openxmlformats.org/drawingml/2006/main">
            <a:off x="5219700" y="28194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2B400"/>
                </a:solidFill>
              </a:defRPr>
            </a:pPr>
            <a:r>
              <a:rPr sz="975" b="1" i="0">
                <a:solidFill>
                  <a:srgbClr val="F2B400"/>
                </a:solidFill>
              </a:rPr>
              <a:t>ANALYSE</a:t>
            </a:r>
          </a:p>
        </p:txBody>
      </p:sp>
      <p:sp>
        <p:nvSpPr>
          <p:cNvPr id="22" name="">
            <a:extLst xmlns:a="http://schemas.openxmlformats.org/drawingml/2006/main">
              <a:ext uri="{FF2B5EF4-FFF2-40B4-BE49-F238E27FC236}">
                <a16:creationId xmlns:a16="http://schemas.microsoft.com/office/drawing/2014/main" id="{BF6FDAF1-3E91-45FE-878A-E397249CF7E7}"/>
              </a:ext>
            </a:extLst>
          </p:cNvPr>
          <p:cNvSpPr>
            <a:spLocks xmlns:a="http://schemas.openxmlformats.org/drawingml/2006/main" noGrp="1"/>
          </p:cNvSpPr>
          <p:nvPr/>
        </p:nvSpPr>
        <p:spPr>
          <a:xfrm xmlns:a="http://schemas.openxmlformats.org/drawingml/2006/main" rot="0">
            <a:off x="5143500" y="3143250"/>
            <a:ext cx="1809750" cy="1581150"/>
          </a:xfrm>
          <a:prstGeom xmlns:a="http://schemas.openxmlformats.org/drawingml/2006/main" prst="roundRect">
            <a:avLst>
              <a:gd name="adj" fmla="val 9036"/>
            </a:avLst>
          </a:prstGeom>
          <a:solidFill xmlns:a="http://schemas.openxmlformats.org/drawingml/2006/main">
            <a:srgbClr val="203574"/>
          </a:solidFill>
          <a:ln xmlns:a="http://schemas.openxmlformats.org/drawingml/2006/main" w="9525">
            <a:solidFill>
              <a:srgbClr val="38559C"/>
            </a:solidFill>
            <a:prstDash val="solid"/>
          </a:ln>
        </p:spPr>
      </p:sp>
      <p:sp>
        <p:nvSpPr>
          <p:cNvPr id="23" name="">
            <a:extLst xmlns:a="http://schemas.openxmlformats.org/drawingml/2006/main">
              <a:ext uri="{FF2B5EF4-FFF2-40B4-BE49-F238E27FC236}">
                <a16:creationId xmlns:a16="http://schemas.microsoft.com/office/drawing/2014/main" id="{F0532B4B-8327-4982-BD0A-3889FA256A76}"/>
              </a:ext>
            </a:extLst>
          </p:cNvPr>
          <p:cNvSpPr>
            <a:spLocks xmlns:a="http://schemas.openxmlformats.org/drawingml/2006/main" noGrp="1"/>
          </p:cNvSpPr>
          <p:nvPr/>
        </p:nvSpPr>
        <p:spPr>
          <a:xfrm xmlns:a="http://schemas.openxmlformats.org/drawingml/2006/main">
            <a:off x="5276850" y="3438525"/>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Matplotlib + Seaborn</a:t>
            </a:r>
          </a:p>
        </p:txBody>
      </p:sp>
      <p:sp>
        <p:nvSpPr>
          <p:cNvPr id="24" name="">
            <a:extLst xmlns:a="http://schemas.openxmlformats.org/drawingml/2006/main">
              <a:ext uri="{FF2B5EF4-FFF2-40B4-BE49-F238E27FC236}">
                <a16:creationId xmlns:a16="http://schemas.microsoft.com/office/drawing/2014/main" id="{C18E4355-4413-4C77-B23D-40FBE783AC4D}"/>
              </a:ext>
            </a:extLst>
          </p:cNvPr>
          <p:cNvSpPr>
            <a:spLocks xmlns:a="http://schemas.openxmlformats.org/drawingml/2006/main" noGrp="1"/>
          </p:cNvSpPr>
          <p:nvPr/>
        </p:nvSpPr>
        <p:spPr>
          <a:xfrm xmlns:a="http://schemas.openxmlformats.org/drawingml/2006/main">
            <a:off x="5276850" y="4095750"/>
            <a:ext cx="1543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BFCBE8"/>
                </a:solidFill>
              </a:defRPr>
            </a:pPr>
            <a:r>
              <a:rPr sz="1050" b="0" i="0">
                <a:solidFill>
                  <a:srgbClr val="BFCBE8"/>
                </a:solidFill>
              </a:rPr>
              <a:t>explore &amp; compare</a:t>
            </a:r>
          </a:p>
        </p:txBody>
      </p:sp>
      <p:sp>
        <p:nvSpPr>
          <p:cNvPr id="25" name="">
            <a:extLst xmlns:a="http://schemas.openxmlformats.org/drawingml/2006/main">
              <a:ext uri="{FF2B5EF4-FFF2-40B4-BE49-F238E27FC236}">
                <a16:creationId xmlns:a16="http://schemas.microsoft.com/office/drawing/2014/main" id="{55EEFD2F-DCEA-42A1-A3E1-EFF9C04D7BB6}"/>
              </a:ext>
            </a:extLst>
          </p:cNvPr>
          <p:cNvSpPr>
            <a:spLocks xmlns:a="http://schemas.openxmlformats.org/drawingml/2006/main" noGrp="1"/>
          </p:cNvSpPr>
          <p:nvPr/>
        </p:nvSpPr>
        <p:spPr>
          <a:xfrm xmlns:a="http://schemas.openxmlformats.org/drawingml/2006/main" rot="0">
            <a:off x="8001000" y="1981200"/>
            <a:ext cx="628650" cy="6286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4DE0516-3D4B-48EF-BABB-9F32294E555F}"/>
              </a:ext>
            </a:extLst>
          </p:cNvPr>
          <p:cNvSpPr>
            <a:spLocks xmlns:a="http://schemas.openxmlformats.org/drawingml/2006/main" noGrp="1"/>
          </p:cNvSpPr>
          <p:nvPr/>
        </p:nvSpPr>
        <p:spPr>
          <a:xfrm xmlns:a="http://schemas.openxmlformats.org/drawingml/2006/main">
            <a:off x="8001000" y="2106930"/>
            <a:ext cx="628650" cy="3646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FFFFFF"/>
                </a:solidFill>
              </a:defRPr>
            </a:pPr>
            <a:r>
              <a:rPr sz="1800" b="1" i="0">
                <a:solidFill>
                  <a:srgbClr val="FFFFFF"/>
                </a:solidFill>
              </a:rPr>
              <a:t>4</a:t>
            </a:r>
          </a:p>
        </p:txBody>
      </p:sp>
      <p:sp>
        <p:nvSpPr>
          <p:cNvPr id="27" name="">
            <a:extLst xmlns:a="http://schemas.openxmlformats.org/drawingml/2006/main">
              <a:ext uri="{FF2B5EF4-FFF2-40B4-BE49-F238E27FC236}">
                <a16:creationId xmlns:a16="http://schemas.microsoft.com/office/drawing/2014/main" id="{CC6A790C-F03C-477D-AE5C-A61BFAA23892}"/>
              </a:ext>
            </a:extLst>
          </p:cNvPr>
          <p:cNvSpPr>
            <a:spLocks xmlns:a="http://schemas.openxmlformats.org/drawingml/2006/main" noGrp="1"/>
          </p:cNvSpPr>
          <p:nvPr/>
        </p:nvSpPr>
        <p:spPr>
          <a:xfrm xmlns:a="http://schemas.openxmlformats.org/drawingml/2006/main">
            <a:off x="7486650" y="28194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2B400"/>
                </a:solidFill>
              </a:defRPr>
            </a:pPr>
            <a:r>
              <a:rPr sz="975" b="1" i="0">
                <a:solidFill>
                  <a:srgbClr val="F2B400"/>
                </a:solidFill>
              </a:rPr>
              <a:t>ENGINEER</a:t>
            </a:r>
          </a:p>
        </p:txBody>
      </p:sp>
      <p:sp>
        <p:nvSpPr>
          <p:cNvPr id="28" name="">
            <a:extLst xmlns:a="http://schemas.openxmlformats.org/drawingml/2006/main">
              <a:ext uri="{FF2B5EF4-FFF2-40B4-BE49-F238E27FC236}">
                <a16:creationId xmlns:a16="http://schemas.microsoft.com/office/drawing/2014/main" id="{B60333D6-CF85-44D9-ACD8-181A561E374A}"/>
              </a:ext>
            </a:extLst>
          </p:cNvPr>
          <p:cNvSpPr>
            <a:spLocks xmlns:a="http://schemas.openxmlformats.org/drawingml/2006/main" noGrp="1"/>
          </p:cNvSpPr>
          <p:nvPr/>
        </p:nvSpPr>
        <p:spPr>
          <a:xfrm xmlns:a="http://schemas.openxmlformats.org/drawingml/2006/main" rot="0">
            <a:off x="7410450" y="3143250"/>
            <a:ext cx="1809750" cy="1581150"/>
          </a:xfrm>
          <a:prstGeom xmlns:a="http://schemas.openxmlformats.org/drawingml/2006/main" prst="roundRect">
            <a:avLst>
              <a:gd name="adj" fmla="val 9036"/>
            </a:avLst>
          </a:prstGeom>
          <a:solidFill xmlns:a="http://schemas.openxmlformats.org/drawingml/2006/main">
            <a:srgbClr val="203574"/>
          </a:solidFill>
          <a:ln xmlns:a="http://schemas.openxmlformats.org/drawingml/2006/main" w="9525">
            <a:solidFill>
              <a:srgbClr val="38559C"/>
            </a:solidFill>
            <a:prstDash val="solid"/>
          </a:ln>
        </p:spPr>
      </p:sp>
      <p:sp>
        <p:nvSpPr>
          <p:cNvPr id="29" name="">
            <a:extLst xmlns:a="http://schemas.openxmlformats.org/drawingml/2006/main">
              <a:ext uri="{FF2B5EF4-FFF2-40B4-BE49-F238E27FC236}">
                <a16:creationId xmlns:a16="http://schemas.microsoft.com/office/drawing/2014/main" id="{2F2A35A1-C546-4021-A657-317232FD8322}"/>
              </a:ext>
            </a:extLst>
          </p:cNvPr>
          <p:cNvSpPr>
            <a:spLocks xmlns:a="http://schemas.openxmlformats.org/drawingml/2006/main" noGrp="1"/>
          </p:cNvSpPr>
          <p:nvPr/>
        </p:nvSpPr>
        <p:spPr>
          <a:xfrm xmlns:a="http://schemas.openxmlformats.org/drawingml/2006/main">
            <a:off x="7543800" y="3438525"/>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six numerical features</a:t>
            </a:r>
          </a:p>
        </p:txBody>
      </p:sp>
      <p:sp>
        <p:nvSpPr>
          <p:cNvPr id="30" name="">
            <a:extLst xmlns:a="http://schemas.openxmlformats.org/drawingml/2006/main">
              <a:ext uri="{FF2B5EF4-FFF2-40B4-BE49-F238E27FC236}">
                <a16:creationId xmlns:a16="http://schemas.microsoft.com/office/drawing/2014/main" id="{65E6F328-5662-47CB-ACAB-D5C5CE62A2FA}"/>
              </a:ext>
            </a:extLst>
          </p:cNvPr>
          <p:cNvSpPr>
            <a:spLocks xmlns:a="http://schemas.openxmlformats.org/drawingml/2006/main" noGrp="1"/>
          </p:cNvSpPr>
          <p:nvPr/>
        </p:nvSpPr>
        <p:spPr>
          <a:xfrm xmlns:a="http://schemas.openxmlformats.org/drawingml/2006/main">
            <a:off x="7543800" y="4095750"/>
            <a:ext cx="1543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BFCBE8"/>
                </a:solidFill>
              </a:defRPr>
            </a:pPr>
            <a:r>
              <a:rPr sz="1050" b="0" i="0">
                <a:solidFill>
                  <a:srgbClr val="BFCBE8"/>
                </a:solidFill>
              </a:rPr>
              <a:t>encode text &amp; flags</a:t>
            </a:r>
          </a:p>
        </p:txBody>
      </p:sp>
      <p:sp>
        <p:nvSpPr>
          <p:cNvPr id="31" name="">
            <a:extLst xmlns:a="http://schemas.openxmlformats.org/drawingml/2006/main">
              <a:ext uri="{FF2B5EF4-FFF2-40B4-BE49-F238E27FC236}">
                <a16:creationId xmlns:a16="http://schemas.microsoft.com/office/drawing/2014/main" id="{1BEFC637-7751-4D7E-BFEE-A8486AB0518D}"/>
              </a:ext>
            </a:extLst>
          </p:cNvPr>
          <p:cNvSpPr>
            <a:spLocks xmlns:a="http://schemas.openxmlformats.org/drawingml/2006/main" noGrp="1"/>
          </p:cNvSpPr>
          <p:nvPr/>
        </p:nvSpPr>
        <p:spPr>
          <a:xfrm xmlns:a="http://schemas.openxmlformats.org/drawingml/2006/main" rot="0">
            <a:off x="10267950" y="1981200"/>
            <a:ext cx="628650" cy="628650"/>
          </a:xfrm>
          <a:prstGeom xmlns:a="http://schemas.openxmlformats.org/drawingml/2006/main" prst="ellipse">
            <a:avLst/>
          </a:prstGeom>
          <a:solidFill xmlns:a="http://schemas.openxmlformats.org/drawingml/2006/main">
            <a:srgbClr val="F2B40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D385AE1-1151-475C-8F52-CA7FE0FD0368}"/>
              </a:ext>
            </a:extLst>
          </p:cNvPr>
          <p:cNvSpPr>
            <a:spLocks xmlns:a="http://schemas.openxmlformats.org/drawingml/2006/main" noGrp="1"/>
          </p:cNvSpPr>
          <p:nvPr/>
        </p:nvSpPr>
        <p:spPr>
          <a:xfrm xmlns:a="http://schemas.openxmlformats.org/drawingml/2006/main">
            <a:off x="10267950" y="2106930"/>
            <a:ext cx="628650" cy="36461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42150"/>
                </a:solidFill>
              </a:defRPr>
            </a:pPr>
            <a:r>
              <a:rPr sz="1800" b="1" i="0">
                <a:solidFill>
                  <a:srgbClr val="142150"/>
                </a:solidFill>
              </a:rPr>
              <a:t>5</a:t>
            </a:r>
          </a:p>
        </p:txBody>
      </p:sp>
      <p:sp>
        <p:nvSpPr>
          <p:cNvPr id="33" name="">
            <a:extLst xmlns:a="http://schemas.openxmlformats.org/drawingml/2006/main">
              <a:ext uri="{FF2B5EF4-FFF2-40B4-BE49-F238E27FC236}">
                <a16:creationId xmlns:a16="http://schemas.microsoft.com/office/drawing/2014/main" id="{030C887B-5949-4855-9CF9-405675629D8B}"/>
              </a:ext>
            </a:extLst>
          </p:cNvPr>
          <p:cNvSpPr>
            <a:spLocks xmlns:a="http://schemas.openxmlformats.org/drawingml/2006/main" noGrp="1"/>
          </p:cNvSpPr>
          <p:nvPr/>
        </p:nvSpPr>
        <p:spPr>
          <a:xfrm xmlns:a="http://schemas.openxmlformats.org/drawingml/2006/main">
            <a:off x="9753600" y="28194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2B400"/>
                </a:solidFill>
              </a:defRPr>
            </a:pPr>
            <a:r>
              <a:rPr sz="975" b="1" i="0">
                <a:solidFill>
                  <a:srgbClr val="F2B400"/>
                </a:solidFill>
              </a:rPr>
              <a:t>DELIVER</a:t>
            </a:r>
          </a:p>
        </p:txBody>
      </p:sp>
      <p:sp>
        <p:nvSpPr>
          <p:cNvPr id="34" name="">
            <a:extLst xmlns:a="http://schemas.openxmlformats.org/drawingml/2006/main">
              <a:ext uri="{FF2B5EF4-FFF2-40B4-BE49-F238E27FC236}">
                <a16:creationId xmlns:a16="http://schemas.microsoft.com/office/drawing/2014/main" id="{9BC8BA71-40E6-40D4-B68C-24CE003E9B7B}"/>
              </a:ext>
            </a:extLst>
          </p:cNvPr>
          <p:cNvSpPr>
            <a:spLocks xmlns:a="http://schemas.openxmlformats.org/drawingml/2006/main" noGrp="1"/>
          </p:cNvSpPr>
          <p:nvPr/>
        </p:nvSpPr>
        <p:spPr>
          <a:xfrm xmlns:a="http://schemas.openxmlformats.org/drawingml/2006/main" rot="0">
            <a:off x="9677400" y="3143250"/>
            <a:ext cx="1809750" cy="1581150"/>
          </a:xfrm>
          <a:prstGeom xmlns:a="http://schemas.openxmlformats.org/drawingml/2006/main" prst="roundRect">
            <a:avLst>
              <a:gd name="adj" fmla="val 9036"/>
            </a:avLst>
          </a:prstGeom>
          <a:solidFill xmlns:a="http://schemas.openxmlformats.org/drawingml/2006/main">
            <a:srgbClr val="203574"/>
          </a:solidFill>
          <a:ln xmlns:a="http://schemas.openxmlformats.org/drawingml/2006/main" w="9525">
            <a:solidFill>
              <a:srgbClr val="38559C"/>
            </a:solidFill>
            <a:prstDash val="solid"/>
          </a:ln>
        </p:spPr>
      </p:sp>
      <p:sp>
        <p:nvSpPr>
          <p:cNvPr id="35" name="">
            <a:extLst xmlns:a="http://schemas.openxmlformats.org/drawingml/2006/main">
              <a:ext uri="{FF2B5EF4-FFF2-40B4-BE49-F238E27FC236}">
                <a16:creationId xmlns:a16="http://schemas.microsoft.com/office/drawing/2014/main" id="{5D776B46-3505-48C8-A776-287167B4FA2A}"/>
              </a:ext>
            </a:extLst>
          </p:cNvPr>
          <p:cNvSpPr>
            <a:spLocks xmlns:a="http://schemas.openxmlformats.org/drawingml/2006/main" noGrp="1"/>
          </p:cNvSpPr>
          <p:nvPr/>
        </p:nvSpPr>
        <p:spPr>
          <a:xfrm xmlns:a="http://schemas.openxmlformats.org/drawingml/2006/main">
            <a:off x="9810750" y="3438525"/>
            <a:ext cx="1543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CSV + HTML + report</a:t>
            </a:r>
          </a:p>
        </p:txBody>
      </p:sp>
      <p:sp>
        <p:nvSpPr>
          <p:cNvPr id="36" name="">
            <a:extLst xmlns:a="http://schemas.openxmlformats.org/drawingml/2006/main">
              <a:ext uri="{FF2B5EF4-FFF2-40B4-BE49-F238E27FC236}">
                <a16:creationId xmlns:a16="http://schemas.microsoft.com/office/drawing/2014/main" id="{1910D6B1-BCBE-435D-BAE8-4FEA21E5680A}"/>
              </a:ext>
            </a:extLst>
          </p:cNvPr>
          <p:cNvSpPr>
            <a:spLocks xmlns:a="http://schemas.openxmlformats.org/drawingml/2006/main" noGrp="1"/>
          </p:cNvSpPr>
          <p:nvPr/>
        </p:nvSpPr>
        <p:spPr>
          <a:xfrm xmlns:a="http://schemas.openxmlformats.org/drawingml/2006/main">
            <a:off x="9810750" y="4095750"/>
            <a:ext cx="1543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BFCBE8"/>
                </a:solidFill>
              </a:defRPr>
            </a:pPr>
            <a:r>
              <a:rPr sz="1050" b="0" i="0">
                <a:solidFill>
                  <a:srgbClr val="BFCBE8"/>
                </a:solidFill>
              </a:rPr>
              <a:t>27-column output</a:t>
            </a:r>
          </a:p>
        </p:txBody>
      </p:sp>
      <p:sp>
        <p:nvSpPr>
          <p:cNvPr id="37" name="">
            <a:extLst xmlns:a="http://schemas.openxmlformats.org/drawingml/2006/main">
              <a:ext uri="{FF2B5EF4-FFF2-40B4-BE49-F238E27FC236}">
                <a16:creationId xmlns:a16="http://schemas.microsoft.com/office/drawing/2014/main" id="{58ED9CE0-9CD3-452D-BC32-30D08A71CCC1}"/>
              </a:ext>
            </a:extLst>
          </p:cNvPr>
          <p:cNvSpPr>
            <a:spLocks xmlns:a="http://schemas.openxmlformats.org/drawingml/2006/main" noGrp="1"/>
          </p:cNvSpPr>
          <p:nvPr/>
        </p:nvSpPr>
        <p:spPr>
          <a:xfrm xmlns:a="http://schemas.openxmlformats.org/drawingml/2006/main">
            <a:off x="2095500" y="5314950"/>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0">
                <a:solidFill>
                  <a:srgbClr val="D6DEF1"/>
                </a:solidFill>
              </a:defRPr>
            </a:pPr>
            <a:r>
              <a:rPr sz="1350" b="0" i="0">
                <a:solidFill>
                  <a:srgbClr val="D6DEF1"/>
                </a:solidFill>
              </a:rPr>
              <a:t>Core stack: Python • pandas • NumPy • Matplotlib • Seaborn</a:t>
            </a:r>
          </a:p>
        </p:txBody>
      </p:sp>
      <p:sp>
        <p:nvSpPr>
          <p:cNvPr id="38" name="">
            <a:extLst xmlns:a="http://schemas.openxmlformats.org/drawingml/2006/main">
              <a:ext uri="{FF2B5EF4-FFF2-40B4-BE49-F238E27FC236}">
                <a16:creationId xmlns:a16="http://schemas.microsoft.com/office/drawing/2014/main" id="{1EDA40AE-AE23-4C1A-8142-335671807294}"/>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AAB7D8"/>
                </a:solidFill>
              </a:defRPr>
            </a:pPr>
            <a:r>
              <a:rPr sz="750" b="0" i="0">
                <a:solidFill>
                  <a:srgbClr val="AAB7D8"/>
                </a:solidFill>
              </a:rPr>
              <a:t>Data Science Internship • Tushar Singh</a:t>
            </a:r>
          </a:p>
        </p:txBody>
      </p:sp>
      <p:sp>
        <p:nvSpPr>
          <p:cNvPr id="39" name="">
            <a:extLst xmlns:a="http://schemas.openxmlformats.org/drawingml/2006/main">
              <a:ext uri="{FF2B5EF4-FFF2-40B4-BE49-F238E27FC236}">
                <a16:creationId xmlns:a16="http://schemas.microsoft.com/office/drawing/2014/main" id="{3343830A-B2D0-4D13-B54C-27719A18E6CA}"/>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AAB7D8"/>
                </a:solidFill>
              </a:defRPr>
            </a:pPr>
            <a:r>
              <a:rPr sz="750" b="0" i="0">
                <a:solidFill>
                  <a:srgbClr val="AAB7D8"/>
                </a:solidFill>
              </a:rPr>
              <a:t>06</a:t>
            </a:r>
          </a:p>
        </p:txBody>
      </p:sp>
    </p:spTree>
    <p:extLst>
      <p:ext uri="{BB962C8B-B14F-4D97-AF65-F5344CB8AC3E}">
        <p14:creationId xmlns:p14="http://schemas.microsoft.com/office/powerpoint/2010/main" val="1339245984"/>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5FF2B14-09E4-42DF-A2C3-EBD6017DAC50}"/>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DATASET PROFILE</a:t>
            </a:r>
          </a:p>
        </p:txBody>
      </p:sp>
      <p:sp>
        <p:nvSpPr>
          <p:cNvPr id="2" name="">
            <a:extLst xmlns:a="http://schemas.openxmlformats.org/drawingml/2006/main">
              <a:ext uri="{FF2B5EF4-FFF2-40B4-BE49-F238E27FC236}">
                <a16:creationId xmlns:a16="http://schemas.microsoft.com/office/drawing/2014/main" id="{FF6ECC2A-4F16-47E4-8FE6-F1DB6F948F07}"/>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The dataset was nearly complete—but highly uneven</a:t>
            </a:r>
          </a:p>
        </p:txBody>
      </p:sp>
      <p:sp>
        <p:nvSpPr>
          <p:cNvPr id="3" name="">
            <a:extLst xmlns:a="http://schemas.openxmlformats.org/drawingml/2006/main">
              <a:ext uri="{FF2B5EF4-FFF2-40B4-BE49-F238E27FC236}">
                <a16:creationId xmlns:a16="http://schemas.microsoft.com/office/drawing/2014/main" id="{FAD10A15-5733-416C-9654-FD3050BB3E3C}"/>
              </a:ext>
            </a:extLst>
          </p:cNvPr>
          <p:cNvSpPr>
            <a:spLocks xmlns:a="http://schemas.openxmlformats.org/drawingml/2006/main" noGrp="1"/>
          </p:cNvSpPr>
          <p:nvPr/>
        </p:nvSpPr>
        <p:spPr>
          <a:xfrm xmlns:a="http://schemas.openxmlformats.org/drawingml/2006/main">
            <a:off x="609600" y="16002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203574"/>
                </a:solidFill>
              </a:defRPr>
            </a:pPr>
            <a:r>
              <a:rPr sz="2550" b="1" i="0">
                <a:solidFill>
                  <a:srgbClr val="203574"/>
                </a:solidFill>
              </a:rPr>
              <a:t>9,551</a:t>
            </a:r>
          </a:p>
        </p:txBody>
      </p:sp>
      <p:sp>
        <p:nvSpPr>
          <p:cNvPr id="4" name="">
            <a:extLst xmlns:a="http://schemas.openxmlformats.org/drawingml/2006/main">
              <a:ext uri="{FF2B5EF4-FFF2-40B4-BE49-F238E27FC236}">
                <a16:creationId xmlns:a16="http://schemas.microsoft.com/office/drawing/2014/main" id="{41EB2186-3923-445F-9CA4-D0208B1F2042}"/>
              </a:ext>
            </a:extLst>
          </p:cNvPr>
          <p:cNvSpPr>
            <a:spLocks xmlns:a="http://schemas.openxmlformats.org/drawingml/2006/main" noGrp="1"/>
          </p:cNvSpPr>
          <p:nvPr/>
        </p:nvSpPr>
        <p:spPr>
          <a:xfrm xmlns:a="http://schemas.openxmlformats.org/drawingml/2006/main">
            <a:off x="609600" y="20955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E6A83"/>
                </a:solidFill>
              </a:defRPr>
            </a:pPr>
            <a:r>
              <a:rPr sz="1050" b="0" i="0">
                <a:solidFill>
                  <a:srgbClr val="5E6A83"/>
                </a:solidFill>
              </a:rPr>
              <a:t>restaurant records</a:t>
            </a:r>
          </a:p>
        </p:txBody>
      </p:sp>
      <p:sp>
        <p:nvSpPr>
          <p:cNvPr id="5" name="">
            <a:extLst xmlns:a="http://schemas.openxmlformats.org/drawingml/2006/main">
              <a:ext uri="{FF2B5EF4-FFF2-40B4-BE49-F238E27FC236}">
                <a16:creationId xmlns:a16="http://schemas.microsoft.com/office/drawing/2014/main" id="{60C06FF1-CDD2-4F73-9B8B-E212ED5B82AD}"/>
              </a:ext>
            </a:extLst>
          </p:cNvPr>
          <p:cNvSpPr>
            <a:spLocks xmlns:a="http://schemas.openxmlformats.org/drawingml/2006/main" noGrp="1"/>
          </p:cNvSpPr>
          <p:nvPr/>
        </p:nvSpPr>
        <p:spPr>
          <a:xfrm xmlns:a="http://schemas.openxmlformats.org/drawingml/2006/main">
            <a:off x="2533650" y="16002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2C6EAE"/>
                </a:solidFill>
              </a:defRPr>
            </a:pPr>
            <a:r>
              <a:rPr sz="2550" b="1" i="0">
                <a:solidFill>
                  <a:srgbClr val="2C6EAE"/>
                </a:solidFill>
              </a:rPr>
              <a:t>21 → 27</a:t>
            </a:r>
          </a:p>
        </p:txBody>
      </p:sp>
      <p:sp>
        <p:nvSpPr>
          <p:cNvPr id="6" name="">
            <a:extLst xmlns:a="http://schemas.openxmlformats.org/drawingml/2006/main">
              <a:ext uri="{FF2B5EF4-FFF2-40B4-BE49-F238E27FC236}">
                <a16:creationId xmlns:a16="http://schemas.microsoft.com/office/drawing/2014/main" id="{0BC55F16-DEAE-4212-907C-E3D4E843CA61}"/>
              </a:ext>
            </a:extLst>
          </p:cNvPr>
          <p:cNvSpPr>
            <a:spLocks xmlns:a="http://schemas.openxmlformats.org/drawingml/2006/main" noGrp="1"/>
          </p:cNvSpPr>
          <p:nvPr/>
        </p:nvSpPr>
        <p:spPr>
          <a:xfrm xmlns:a="http://schemas.openxmlformats.org/drawingml/2006/main">
            <a:off x="2533650" y="20955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E6A83"/>
                </a:solidFill>
              </a:defRPr>
            </a:pPr>
            <a:r>
              <a:rPr sz="1050" b="0" i="0">
                <a:solidFill>
                  <a:srgbClr val="5E6A83"/>
                </a:solidFill>
              </a:rPr>
              <a:t>original to enriched columns</a:t>
            </a:r>
          </a:p>
        </p:txBody>
      </p:sp>
      <p:sp>
        <p:nvSpPr>
          <p:cNvPr id="7" name="">
            <a:extLst xmlns:a="http://schemas.openxmlformats.org/drawingml/2006/main">
              <a:ext uri="{FF2B5EF4-FFF2-40B4-BE49-F238E27FC236}">
                <a16:creationId xmlns:a16="http://schemas.microsoft.com/office/drawing/2014/main" id="{A39A281F-CD10-4617-B73A-4102C78796D1}"/>
              </a:ext>
            </a:extLst>
          </p:cNvPr>
          <p:cNvSpPr>
            <a:spLocks xmlns:a="http://schemas.openxmlformats.org/drawingml/2006/main" noGrp="1"/>
          </p:cNvSpPr>
          <p:nvPr/>
        </p:nvSpPr>
        <p:spPr>
          <a:xfrm xmlns:a="http://schemas.openxmlformats.org/drawingml/2006/main">
            <a:off x="4457700" y="16002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D9822B"/>
                </a:solidFill>
              </a:defRPr>
            </a:pPr>
            <a:r>
              <a:rPr sz="2550" b="1" i="0">
                <a:solidFill>
                  <a:srgbClr val="D9822B"/>
                </a:solidFill>
              </a:rPr>
              <a:t>9</a:t>
            </a:r>
          </a:p>
        </p:txBody>
      </p:sp>
      <p:sp>
        <p:nvSpPr>
          <p:cNvPr id="8" name="">
            <a:extLst xmlns:a="http://schemas.openxmlformats.org/drawingml/2006/main">
              <a:ext uri="{FF2B5EF4-FFF2-40B4-BE49-F238E27FC236}">
                <a16:creationId xmlns:a16="http://schemas.microsoft.com/office/drawing/2014/main" id="{64A3B30D-0552-4164-9FAC-95C7062231FB}"/>
              </a:ext>
            </a:extLst>
          </p:cNvPr>
          <p:cNvSpPr>
            <a:spLocks xmlns:a="http://schemas.openxmlformats.org/drawingml/2006/main" noGrp="1"/>
          </p:cNvSpPr>
          <p:nvPr/>
        </p:nvSpPr>
        <p:spPr>
          <a:xfrm xmlns:a="http://schemas.openxmlformats.org/drawingml/2006/main">
            <a:off x="4457700" y="20955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E6A83"/>
                </a:solidFill>
              </a:defRPr>
            </a:pPr>
            <a:r>
              <a:rPr sz="1050" b="0" i="0">
                <a:solidFill>
                  <a:srgbClr val="5E6A83"/>
                </a:solidFill>
              </a:rPr>
              <a:t>missing cuisine entries</a:t>
            </a:r>
          </a:p>
        </p:txBody>
      </p:sp>
      <p:sp>
        <p:nvSpPr>
          <p:cNvPr id="9" name="">
            <a:extLst xmlns:a="http://schemas.openxmlformats.org/drawingml/2006/main">
              <a:ext uri="{FF2B5EF4-FFF2-40B4-BE49-F238E27FC236}">
                <a16:creationId xmlns:a16="http://schemas.microsoft.com/office/drawing/2014/main" id="{DA813AE9-0FBA-4A3F-887B-970B93DCCDA1}"/>
              </a:ext>
            </a:extLst>
          </p:cNvPr>
          <p:cNvSpPr>
            <a:spLocks xmlns:a="http://schemas.openxmlformats.org/drawingml/2006/main" noGrp="1"/>
          </p:cNvSpPr>
          <p:nvPr/>
        </p:nvSpPr>
        <p:spPr>
          <a:xfrm xmlns:a="http://schemas.openxmlformats.org/drawingml/2006/main">
            <a:off x="6381750" y="16002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C45757"/>
                </a:solidFill>
              </a:defRPr>
            </a:pPr>
            <a:r>
              <a:rPr sz="2550" b="1" i="0">
                <a:solidFill>
                  <a:srgbClr val="C45757"/>
                </a:solidFill>
              </a:rPr>
              <a:t>22.49%</a:t>
            </a:r>
          </a:p>
        </p:txBody>
      </p:sp>
      <p:sp>
        <p:nvSpPr>
          <p:cNvPr id="10" name="">
            <a:extLst xmlns:a="http://schemas.openxmlformats.org/drawingml/2006/main">
              <a:ext uri="{FF2B5EF4-FFF2-40B4-BE49-F238E27FC236}">
                <a16:creationId xmlns:a16="http://schemas.microsoft.com/office/drawing/2014/main" id="{3F11DBF1-952F-42F0-AF90-24095AB6D71C}"/>
              </a:ext>
            </a:extLst>
          </p:cNvPr>
          <p:cNvSpPr>
            <a:spLocks xmlns:a="http://schemas.openxmlformats.org/drawingml/2006/main" noGrp="1"/>
          </p:cNvSpPr>
          <p:nvPr/>
        </p:nvSpPr>
        <p:spPr>
          <a:xfrm xmlns:a="http://schemas.openxmlformats.org/drawingml/2006/main">
            <a:off x="6381750" y="20955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E6A83"/>
                </a:solidFill>
              </a:defRPr>
            </a:pPr>
            <a:r>
              <a:rPr sz="1050" b="0" i="0">
                <a:solidFill>
                  <a:srgbClr val="5E6A83"/>
                </a:solidFill>
              </a:rPr>
              <a:t>restaurants with 0.0 rating</a:t>
            </a:r>
          </a:p>
        </p:txBody>
      </p:sp>
      <p:sp>
        <p:nvSpPr>
          <p:cNvPr id="11" name="">
            <a:extLst xmlns:a="http://schemas.openxmlformats.org/drawingml/2006/main">
              <a:ext uri="{FF2B5EF4-FFF2-40B4-BE49-F238E27FC236}">
                <a16:creationId xmlns:a16="http://schemas.microsoft.com/office/drawing/2014/main" id="{69D855A5-FF31-48C5-B856-47B06AE7C971}"/>
              </a:ext>
            </a:extLst>
          </p:cNvPr>
          <p:cNvSpPr>
            <a:spLocks xmlns:a="http://schemas.openxmlformats.org/drawingml/2006/main" noGrp="1"/>
          </p:cNvSpPr>
          <p:nvPr/>
        </p:nvSpPr>
        <p:spPr>
          <a:xfrm xmlns:a="http://schemas.openxmlformats.org/drawingml/2006/main" rot="0">
            <a:off x="609600" y="2876550"/>
            <a:ext cx="4705350" cy="2857500"/>
          </a:xfrm>
          <a:prstGeom xmlns:a="http://schemas.openxmlformats.org/drawingml/2006/main" prst="roundRect">
            <a:avLst>
              <a:gd name="adj" fmla="val 6000"/>
            </a:avLst>
          </a:prstGeom>
          <a:solidFill xmlns:a="http://schemas.openxmlformats.org/drawingml/2006/main">
            <a:srgbClr val="EEF3F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AB8DFB-AE6A-43C4-8C3B-A9AD9EB6A5C9}"/>
              </a:ext>
            </a:extLst>
          </p:cNvPr>
          <p:cNvSpPr>
            <a:spLocks xmlns:a="http://schemas.openxmlformats.org/drawingml/2006/main" noGrp="1"/>
          </p:cNvSpPr>
          <p:nvPr/>
        </p:nvSpPr>
        <p:spPr>
          <a:xfrm xmlns:a="http://schemas.openxmlformats.org/drawingml/2006/main">
            <a:off x="895350" y="31242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42150"/>
                </a:solidFill>
              </a:defRPr>
            </a:pPr>
            <a:r>
              <a:rPr sz="1500" b="1" i="0">
                <a:solidFill>
                  <a:srgbClr val="142150"/>
                </a:solidFill>
              </a:rPr>
              <a:t>Quality checks completed</a:t>
            </a:r>
          </a:p>
        </p:txBody>
      </p:sp>
      <p:sp>
        <p:nvSpPr>
          <p:cNvPr id="13" name="">
            <a:extLst xmlns:a="http://schemas.openxmlformats.org/drawingml/2006/main">
              <a:ext uri="{FF2B5EF4-FFF2-40B4-BE49-F238E27FC236}">
                <a16:creationId xmlns:a16="http://schemas.microsoft.com/office/drawing/2014/main" id="{8B9C153B-B6D0-49D7-8216-40E005FA9341}"/>
              </a:ext>
            </a:extLst>
          </p:cNvPr>
          <p:cNvSpPr>
            <a:spLocks xmlns:a="http://schemas.openxmlformats.org/drawingml/2006/main" noGrp="1"/>
          </p:cNvSpPr>
          <p:nvPr/>
        </p:nvSpPr>
        <p:spPr>
          <a:xfrm xmlns:a="http://schemas.openxmlformats.org/drawingml/2006/main" rot="0">
            <a:off x="914400" y="3657600"/>
            <a:ext cx="209550" cy="2095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1AF90EA-1E0F-4FA4-8590-F1E6C69C2882}"/>
              </a:ext>
            </a:extLst>
          </p:cNvPr>
          <p:cNvSpPr>
            <a:spLocks xmlns:a="http://schemas.openxmlformats.org/drawingml/2006/main" noGrp="1"/>
          </p:cNvSpPr>
          <p:nvPr/>
        </p:nvSpPr>
        <p:spPr>
          <a:xfrm xmlns:a="http://schemas.openxmlformats.org/drawingml/2006/main">
            <a:off x="914400" y="3699510"/>
            <a:ext cx="209550" cy="1215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a:t>
            </a:r>
          </a:p>
        </p:txBody>
      </p:sp>
      <p:sp>
        <p:nvSpPr>
          <p:cNvPr id="15" name="">
            <a:extLst xmlns:a="http://schemas.openxmlformats.org/drawingml/2006/main">
              <a:ext uri="{FF2B5EF4-FFF2-40B4-BE49-F238E27FC236}">
                <a16:creationId xmlns:a16="http://schemas.microsoft.com/office/drawing/2014/main" id="{65FFA71F-C2F4-4241-AD83-512906674385}"/>
              </a:ext>
            </a:extLst>
          </p:cNvPr>
          <p:cNvSpPr>
            <a:spLocks xmlns:a="http://schemas.openxmlformats.org/drawingml/2006/main" noGrp="1"/>
          </p:cNvSpPr>
          <p:nvPr/>
        </p:nvSpPr>
        <p:spPr>
          <a:xfrm xmlns:a="http://schemas.openxmlformats.org/drawingml/2006/main">
            <a:off x="1257300" y="36480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202534"/>
                </a:solidFill>
              </a:defRPr>
            </a:pPr>
            <a:r>
              <a:rPr sz="1200" b="0" i="0">
                <a:solidFill>
                  <a:srgbClr val="202534"/>
                </a:solidFill>
              </a:rPr>
              <a:t>Verified 9,551 × 21 source shape</a:t>
            </a:r>
          </a:p>
        </p:txBody>
      </p:sp>
      <p:sp>
        <p:nvSpPr>
          <p:cNvPr id="16" name="">
            <a:extLst xmlns:a="http://schemas.openxmlformats.org/drawingml/2006/main">
              <a:ext uri="{FF2B5EF4-FFF2-40B4-BE49-F238E27FC236}">
                <a16:creationId xmlns:a16="http://schemas.microsoft.com/office/drawing/2014/main" id="{D7BABDE0-1729-4823-A94C-7E030F500777}"/>
              </a:ext>
            </a:extLst>
          </p:cNvPr>
          <p:cNvSpPr>
            <a:spLocks xmlns:a="http://schemas.openxmlformats.org/drawingml/2006/main" noGrp="1"/>
          </p:cNvSpPr>
          <p:nvPr/>
        </p:nvSpPr>
        <p:spPr>
          <a:xfrm xmlns:a="http://schemas.openxmlformats.org/drawingml/2006/main" rot="0">
            <a:off x="914400" y="4038600"/>
            <a:ext cx="209550" cy="2095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69A78B-206F-4D5A-9B5F-C3D04DC62D87}"/>
              </a:ext>
            </a:extLst>
          </p:cNvPr>
          <p:cNvSpPr>
            <a:spLocks xmlns:a="http://schemas.openxmlformats.org/drawingml/2006/main" noGrp="1"/>
          </p:cNvSpPr>
          <p:nvPr/>
        </p:nvSpPr>
        <p:spPr>
          <a:xfrm xmlns:a="http://schemas.openxmlformats.org/drawingml/2006/main">
            <a:off x="914400" y="4080510"/>
            <a:ext cx="209550" cy="1215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a:t>
            </a:r>
          </a:p>
        </p:txBody>
      </p:sp>
      <p:sp>
        <p:nvSpPr>
          <p:cNvPr id="18" name="">
            <a:extLst xmlns:a="http://schemas.openxmlformats.org/drawingml/2006/main">
              <a:ext uri="{FF2B5EF4-FFF2-40B4-BE49-F238E27FC236}">
                <a16:creationId xmlns:a16="http://schemas.microsoft.com/office/drawing/2014/main" id="{606CF9D6-9AFC-43CE-9FEC-64304760DBC3}"/>
              </a:ext>
            </a:extLst>
          </p:cNvPr>
          <p:cNvSpPr>
            <a:spLocks xmlns:a="http://schemas.openxmlformats.org/drawingml/2006/main" noGrp="1"/>
          </p:cNvSpPr>
          <p:nvPr/>
        </p:nvSpPr>
        <p:spPr>
          <a:xfrm xmlns:a="http://schemas.openxmlformats.org/drawingml/2006/main">
            <a:off x="1257300" y="40290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202534"/>
                </a:solidFill>
              </a:defRPr>
            </a:pPr>
            <a:r>
              <a:rPr sz="1200" b="0" i="0">
                <a:solidFill>
                  <a:srgbClr val="202534"/>
                </a:solidFill>
              </a:rPr>
              <a:t>Filled nine missing cuisines with “Unknown”</a:t>
            </a:r>
          </a:p>
        </p:txBody>
      </p:sp>
      <p:sp>
        <p:nvSpPr>
          <p:cNvPr id="19" name="">
            <a:extLst xmlns:a="http://schemas.openxmlformats.org/drawingml/2006/main">
              <a:ext uri="{FF2B5EF4-FFF2-40B4-BE49-F238E27FC236}">
                <a16:creationId xmlns:a16="http://schemas.microsoft.com/office/drawing/2014/main" id="{1119C21F-3504-4B0A-BDF1-2EE27B37F6AF}"/>
              </a:ext>
            </a:extLst>
          </p:cNvPr>
          <p:cNvSpPr>
            <a:spLocks xmlns:a="http://schemas.openxmlformats.org/drawingml/2006/main" noGrp="1"/>
          </p:cNvSpPr>
          <p:nvPr/>
        </p:nvSpPr>
        <p:spPr>
          <a:xfrm xmlns:a="http://schemas.openxmlformats.org/drawingml/2006/main" rot="0">
            <a:off x="914400" y="4419600"/>
            <a:ext cx="209550" cy="2095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DF38498-177D-4A5C-88BE-7EB78CFB0375}"/>
              </a:ext>
            </a:extLst>
          </p:cNvPr>
          <p:cNvSpPr>
            <a:spLocks xmlns:a="http://schemas.openxmlformats.org/drawingml/2006/main" noGrp="1"/>
          </p:cNvSpPr>
          <p:nvPr/>
        </p:nvSpPr>
        <p:spPr>
          <a:xfrm xmlns:a="http://schemas.openxmlformats.org/drawingml/2006/main">
            <a:off x="914400" y="4461510"/>
            <a:ext cx="209550" cy="1215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a:t>
            </a:r>
          </a:p>
        </p:txBody>
      </p:sp>
      <p:sp>
        <p:nvSpPr>
          <p:cNvPr id="21" name="">
            <a:extLst xmlns:a="http://schemas.openxmlformats.org/drawingml/2006/main">
              <a:ext uri="{FF2B5EF4-FFF2-40B4-BE49-F238E27FC236}">
                <a16:creationId xmlns:a16="http://schemas.microsoft.com/office/drawing/2014/main" id="{0F0F0D73-C9F5-414F-92AF-EBEA521ACFC7}"/>
              </a:ext>
            </a:extLst>
          </p:cNvPr>
          <p:cNvSpPr>
            <a:spLocks xmlns:a="http://schemas.openxmlformats.org/drawingml/2006/main" noGrp="1"/>
          </p:cNvSpPr>
          <p:nvPr/>
        </p:nvSpPr>
        <p:spPr>
          <a:xfrm xmlns:a="http://schemas.openxmlformats.org/drawingml/2006/main">
            <a:off x="1257300" y="44100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202534"/>
                </a:solidFill>
              </a:defRPr>
            </a:pPr>
            <a:r>
              <a:rPr sz="1200" b="0" i="0">
                <a:solidFill>
                  <a:srgbClr val="202534"/>
                </a:solidFill>
              </a:rPr>
              <a:t>Confirmed no remaining missing values</a:t>
            </a:r>
          </a:p>
        </p:txBody>
      </p:sp>
      <p:sp>
        <p:nvSpPr>
          <p:cNvPr id="22" name="">
            <a:extLst xmlns:a="http://schemas.openxmlformats.org/drawingml/2006/main">
              <a:ext uri="{FF2B5EF4-FFF2-40B4-BE49-F238E27FC236}">
                <a16:creationId xmlns:a16="http://schemas.microsoft.com/office/drawing/2014/main" id="{8336974A-CCA6-4865-8765-0F5558C43148}"/>
              </a:ext>
            </a:extLst>
          </p:cNvPr>
          <p:cNvSpPr>
            <a:spLocks xmlns:a="http://schemas.openxmlformats.org/drawingml/2006/main" noGrp="1"/>
          </p:cNvSpPr>
          <p:nvPr/>
        </p:nvSpPr>
        <p:spPr>
          <a:xfrm xmlns:a="http://schemas.openxmlformats.org/drawingml/2006/main" rot="0">
            <a:off x="914400" y="4800600"/>
            <a:ext cx="209550" cy="2095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0D6E233-45EB-4A13-9CC7-AFA9D5BE3E7C}"/>
              </a:ext>
            </a:extLst>
          </p:cNvPr>
          <p:cNvSpPr>
            <a:spLocks xmlns:a="http://schemas.openxmlformats.org/drawingml/2006/main" noGrp="1"/>
          </p:cNvSpPr>
          <p:nvPr/>
        </p:nvSpPr>
        <p:spPr>
          <a:xfrm xmlns:a="http://schemas.openxmlformats.org/drawingml/2006/main">
            <a:off x="914400" y="4842510"/>
            <a:ext cx="209550" cy="1215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a:t>
            </a:r>
          </a:p>
        </p:txBody>
      </p:sp>
      <p:sp>
        <p:nvSpPr>
          <p:cNvPr id="24" name="">
            <a:extLst xmlns:a="http://schemas.openxmlformats.org/drawingml/2006/main">
              <a:ext uri="{FF2B5EF4-FFF2-40B4-BE49-F238E27FC236}">
                <a16:creationId xmlns:a16="http://schemas.microsoft.com/office/drawing/2014/main" id="{5016921E-46FF-43AD-84DE-3AC2A65FDE63}"/>
              </a:ext>
            </a:extLst>
          </p:cNvPr>
          <p:cNvSpPr>
            <a:spLocks xmlns:a="http://schemas.openxmlformats.org/drawingml/2006/main" noGrp="1"/>
          </p:cNvSpPr>
          <p:nvPr/>
        </p:nvSpPr>
        <p:spPr>
          <a:xfrm xmlns:a="http://schemas.openxmlformats.org/drawingml/2006/main">
            <a:off x="1257300" y="47910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202534"/>
                </a:solidFill>
              </a:defRPr>
            </a:pPr>
            <a:r>
              <a:rPr sz="1200" b="0" i="0">
                <a:solidFill>
                  <a:srgbClr val="202534"/>
                </a:solidFill>
              </a:rPr>
              <a:t>Separated unrated records from rated patterns</a:t>
            </a:r>
          </a:p>
        </p:txBody>
      </p:sp>
      <p:sp>
        <p:nvSpPr>
          <p:cNvPr id="25" name="">
            <a:extLst xmlns:a="http://schemas.openxmlformats.org/drawingml/2006/main">
              <a:ext uri="{FF2B5EF4-FFF2-40B4-BE49-F238E27FC236}">
                <a16:creationId xmlns:a16="http://schemas.microsoft.com/office/drawing/2014/main" id="{0C225E2C-D548-4562-8CE3-0E827CB5BDC3}"/>
              </a:ext>
            </a:extLst>
          </p:cNvPr>
          <p:cNvSpPr>
            <a:spLocks xmlns:a="http://schemas.openxmlformats.org/drawingml/2006/main" noGrp="1"/>
          </p:cNvSpPr>
          <p:nvPr/>
        </p:nvSpPr>
        <p:spPr>
          <a:xfrm xmlns:a="http://schemas.openxmlformats.org/drawingml/2006/main" rot="0">
            <a:off x="914400" y="5181600"/>
            <a:ext cx="209550" cy="209550"/>
          </a:xfrm>
          <a:prstGeom xmlns:a="http://schemas.openxmlformats.org/drawingml/2006/main" prst="ellipse">
            <a:avLst/>
          </a:prstGeom>
          <a:solidFill xmlns:a="http://schemas.openxmlformats.org/drawingml/2006/main">
            <a:srgbClr val="20357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4C3239E-EBE4-49CD-906A-BF251DD86D76}"/>
              </a:ext>
            </a:extLst>
          </p:cNvPr>
          <p:cNvSpPr>
            <a:spLocks xmlns:a="http://schemas.openxmlformats.org/drawingml/2006/main" noGrp="1"/>
          </p:cNvSpPr>
          <p:nvPr/>
        </p:nvSpPr>
        <p:spPr>
          <a:xfrm xmlns:a="http://schemas.openxmlformats.org/drawingml/2006/main">
            <a:off x="914400" y="5223510"/>
            <a:ext cx="209550" cy="1215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FFFFFF"/>
                </a:solidFill>
              </a:defRPr>
            </a:pPr>
            <a:r>
              <a:rPr sz="975" b="1" i="0">
                <a:solidFill>
                  <a:srgbClr val="FFFFFF"/>
                </a:solidFill>
              </a:rPr>
              <a:t>✓</a:t>
            </a:r>
          </a:p>
        </p:txBody>
      </p:sp>
      <p:sp>
        <p:nvSpPr>
          <p:cNvPr id="27" name="">
            <a:extLst xmlns:a="http://schemas.openxmlformats.org/drawingml/2006/main">
              <a:ext uri="{FF2B5EF4-FFF2-40B4-BE49-F238E27FC236}">
                <a16:creationId xmlns:a16="http://schemas.microsoft.com/office/drawing/2014/main" id="{F4BCE6C9-A4B2-42B7-8D8E-DC8B8B798DCF}"/>
              </a:ext>
            </a:extLst>
          </p:cNvPr>
          <p:cNvSpPr>
            <a:spLocks xmlns:a="http://schemas.openxmlformats.org/drawingml/2006/main" noGrp="1"/>
          </p:cNvSpPr>
          <p:nvPr/>
        </p:nvSpPr>
        <p:spPr>
          <a:xfrm xmlns:a="http://schemas.openxmlformats.org/drawingml/2006/main">
            <a:off x="1257300" y="51720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202534"/>
                </a:solidFill>
              </a:defRPr>
            </a:pPr>
            <a:r>
              <a:rPr sz="1200" b="0" i="0">
                <a:solidFill>
                  <a:srgbClr val="202534"/>
                </a:solidFill>
              </a:rPr>
              <a:t>Saved the original dataset unchanged</a:t>
            </a:r>
          </a:p>
        </p:txBody>
      </p:sp>
      <p:sp>
        <p:nvSpPr>
          <p:cNvPr id="28" name="">
            <a:extLst xmlns:a="http://schemas.openxmlformats.org/drawingml/2006/main">
              <a:ext uri="{FF2B5EF4-FFF2-40B4-BE49-F238E27FC236}">
                <a16:creationId xmlns:a16="http://schemas.microsoft.com/office/drawing/2014/main" id="{02B3673C-B9FA-45ED-9E5D-2DB883AB61BE}"/>
              </a:ext>
            </a:extLst>
          </p:cNvPr>
          <p:cNvSpPr>
            <a:spLocks xmlns:a="http://schemas.openxmlformats.org/drawingml/2006/main" noGrp="1"/>
          </p:cNvSpPr>
          <p:nvPr/>
        </p:nvSpPr>
        <p:spPr>
          <a:xfrm xmlns:a="http://schemas.openxmlformats.org/drawingml/2006/main">
            <a:off x="5886450" y="3009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42150"/>
                </a:solidFill>
              </a:defRPr>
            </a:pPr>
            <a:r>
              <a:rPr sz="1500" b="1" i="0">
                <a:solidFill>
                  <a:srgbClr val="142150"/>
                </a:solidFill>
              </a:rPr>
              <a:t>Rating categories</a:t>
            </a:r>
          </a:p>
        </p:txBody>
      </p:sp>
      <p:graphicFrame>
        <p:nvGraphicFramePr>
          <p:cNvPr id="60" name="Chart"/>
          <p:cNvGraphicFramePr/>
          <p:nvPr/>
        </p:nvGraphicFramePr>
        <p:xfrm>
          <a:off xmlns:a="http://schemas.openxmlformats.org/drawingml/2006/main" x="5810250" y="3333750"/>
          <a:ext xmlns:a="http://schemas.openxmlformats.org/drawingml/2006/main" cx="5200650" cy="2343150"/>
        </p:xfrm>
        <a:graphic xmlns:a="http://schemas.openxmlformats.org/drawingml/2006/main">
          <a:graphicData uri="http://schemas.openxmlformats.org/drawingml/2006/chart">
            <c:chart xmlns:r="http://schemas.openxmlformats.org/officeDocument/2006/relationships" xmlns:c="http://schemas.openxmlformats.org/drawingml/2006/chart" r:id="R7d983ad83dd942d7"/>
          </a:graphicData>
        </a:graphic>
      </p:graphicFrame>
      <p:sp>
        <p:nvSpPr>
          <p:cNvPr id="30" name="">
            <a:extLst xmlns:a="http://schemas.openxmlformats.org/drawingml/2006/main">
              <a:ext uri="{FF2B5EF4-FFF2-40B4-BE49-F238E27FC236}">
                <a16:creationId xmlns:a16="http://schemas.microsoft.com/office/drawing/2014/main" id="{78D8E0D6-2C88-435A-8B2E-BD0B553C7754}"/>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31" name="">
            <a:extLst xmlns:a="http://schemas.openxmlformats.org/drawingml/2006/main">
              <a:ext uri="{FF2B5EF4-FFF2-40B4-BE49-F238E27FC236}">
                <a16:creationId xmlns:a16="http://schemas.microsoft.com/office/drawing/2014/main" id="{CC5F8E62-0906-4239-8C60-2A030FCC9EBF}"/>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07</a:t>
            </a:r>
          </a:p>
        </p:txBody>
      </p:sp>
    </p:spTree>
    <p:extLst>
      <p:ext uri="{BB962C8B-B14F-4D97-AF65-F5344CB8AC3E}">
        <p14:creationId xmlns:p14="http://schemas.microsoft.com/office/powerpoint/2010/main" val="957686976"/>
      </p:ext>
    </p:extLst>
  </p:cSld>
</p:sld>
</file>

<file path=ppt/slides/slide8.xml><?xml version="1.0" encoding="utf-8"?>
<p:sld xmlns:p="http://schemas.openxmlformats.org/presentationml/2006/main">
  <p:cSld>
    <p:bg>
      <p:bgPr>
        <a:solidFill xmlns:a="http://schemas.openxmlformats.org/drawingml/2006/main">
          <a:srgbClr val="EEF3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10714F-00AE-4FC1-8A0E-6C232AA75F6B}"/>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LEVEL 1 FINDINGS</a:t>
            </a:r>
          </a:p>
        </p:txBody>
      </p:sp>
      <p:sp>
        <p:nvSpPr>
          <p:cNvPr id="2" name="">
            <a:extLst xmlns:a="http://schemas.openxmlformats.org/drawingml/2006/main">
              <a:ext uri="{FF2B5EF4-FFF2-40B4-BE49-F238E27FC236}">
                <a16:creationId xmlns:a16="http://schemas.microsoft.com/office/drawing/2014/main" id="{3902CD0E-979A-41B6-928E-E10B4A38C0DF}"/>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Demand concentrates in a few cuisines and Delhi-NCR cities</a:t>
            </a:r>
          </a:p>
        </p:txBody>
      </p:sp>
      <p:sp>
        <p:nvSpPr>
          <p:cNvPr id="3" name="">
            <a:extLst xmlns:a="http://schemas.openxmlformats.org/drawingml/2006/main">
              <a:ext uri="{FF2B5EF4-FFF2-40B4-BE49-F238E27FC236}">
                <a16:creationId xmlns:a16="http://schemas.microsoft.com/office/drawing/2014/main" id="{BD427DB2-CEA1-4B28-9093-3EDAD5E352C9}"/>
              </a:ext>
            </a:extLst>
          </p:cNvPr>
          <p:cNvSpPr>
            <a:spLocks xmlns:a="http://schemas.openxmlformats.org/drawingml/2006/main" noGrp="1"/>
          </p:cNvSpPr>
          <p:nvPr/>
        </p:nvSpPr>
        <p:spPr>
          <a:xfrm xmlns:a="http://schemas.openxmlformats.org/drawingml/2006/main">
            <a:off x="609600" y="14954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42150"/>
                </a:solidFill>
              </a:defRPr>
            </a:pPr>
            <a:r>
              <a:rPr sz="1425" b="1" i="0">
                <a:solidFill>
                  <a:srgbClr val="142150"/>
                </a:solidFill>
              </a:rPr>
              <a:t>Most frequent cuisines</a:t>
            </a:r>
          </a:p>
        </p:txBody>
      </p:sp>
      <p:graphicFrame>
        <p:nvGraphicFramePr>
          <p:cNvPr id="17" name="Chart"/>
          <p:cNvGraphicFramePr/>
          <p:nvPr/>
        </p:nvGraphicFramePr>
        <p:xfrm>
          <a:off xmlns:a="http://schemas.openxmlformats.org/drawingml/2006/main" x="514350" y="1781175"/>
          <a:ext xmlns:a="http://schemas.openxmlformats.org/drawingml/2006/main" cx="5238750" cy="3162300"/>
        </p:xfrm>
        <a:graphic xmlns:a="http://schemas.openxmlformats.org/drawingml/2006/main">
          <a:graphicData uri="http://schemas.openxmlformats.org/drawingml/2006/chart">
            <c:chart xmlns:r="http://schemas.openxmlformats.org/officeDocument/2006/relationships" xmlns:c="http://schemas.openxmlformats.org/drawingml/2006/chart" r:id="R01965ac703f04f63"/>
          </a:graphicData>
        </a:graphic>
      </p:graphicFrame>
      <p:sp>
        <p:nvSpPr>
          <p:cNvPr id="5" name="">
            <a:extLst xmlns:a="http://schemas.openxmlformats.org/drawingml/2006/main">
              <a:ext uri="{FF2B5EF4-FFF2-40B4-BE49-F238E27FC236}">
                <a16:creationId xmlns:a16="http://schemas.microsoft.com/office/drawing/2014/main" id="{2704D433-6E95-4BFD-8C0E-FB1D0C0044F3}"/>
              </a:ext>
            </a:extLst>
          </p:cNvPr>
          <p:cNvSpPr>
            <a:spLocks xmlns:a="http://schemas.openxmlformats.org/drawingml/2006/main" noGrp="1"/>
          </p:cNvSpPr>
          <p:nvPr/>
        </p:nvSpPr>
        <p:spPr>
          <a:xfrm xmlns:a="http://schemas.openxmlformats.org/drawingml/2006/main">
            <a:off x="6191250" y="14954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42150"/>
                </a:solidFill>
              </a:defRPr>
            </a:pPr>
            <a:r>
              <a:rPr sz="1425" b="1" i="0">
                <a:solidFill>
                  <a:srgbClr val="142150"/>
                </a:solidFill>
              </a:rPr>
              <a:t>Top cities</a:t>
            </a:r>
          </a:p>
        </p:txBody>
      </p:sp>
      <p:graphicFrame>
        <p:nvGraphicFramePr>
          <p:cNvPr id="19" name="Chart"/>
          <p:cNvGraphicFramePr/>
          <p:nvPr/>
        </p:nvGraphicFramePr>
        <p:xfrm>
          <a:off xmlns:a="http://schemas.openxmlformats.org/drawingml/2006/main" x="6076950" y="1781175"/>
          <a:ext xmlns:a="http://schemas.openxmlformats.org/drawingml/2006/main" cx="5219700" cy="3162300"/>
        </p:xfrm>
        <a:graphic xmlns:a="http://schemas.openxmlformats.org/drawingml/2006/main">
          <a:graphicData uri="http://schemas.openxmlformats.org/drawingml/2006/chart">
            <c:chart xmlns:r="http://schemas.openxmlformats.org/officeDocument/2006/relationships" xmlns:c="http://schemas.openxmlformats.org/drawingml/2006/chart" r:id="R162c3687c0fc4686"/>
          </a:graphicData>
        </a:graphic>
      </p:graphicFrame>
      <p:sp>
        <p:nvSpPr>
          <p:cNvPr id="7" name="">
            <a:extLst xmlns:a="http://schemas.openxmlformats.org/drawingml/2006/main">
              <a:ext uri="{FF2B5EF4-FFF2-40B4-BE49-F238E27FC236}">
                <a16:creationId xmlns:a16="http://schemas.microsoft.com/office/drawing/2014/main" id="{42CDF895-B3E8-4309-87C6-65097652986C}"/>
              </a:ext>
            </a:extLst>
          </p:cNvPr>
          <p:cNvSpPr>
            <a:spLocks xmlns:a="http://schemas.openxmlformats.org/drawingml/2006/main" noGrp="1"/>
          </p:cNvSpPr>
          <p:nvPr/>
        </p:nvSpPr>
        <p:spPr>
          <a:xfrm xmlns:a="http://schemas.openxmlformats.org/drawingml/2006/main" rot="0">
            <a:off x="609600" y="5219700"/>
            <a:ext cx="10668000" cy="666750"/>
          </a:xfrm>
          <a:prstGeom xmlns:a="http://schemas.openxmlformats.org/drawingml/2006/main" prst="roundRect">
            <a:avLst>
              <a:gd name="adj" fmla="val 22857"/>
            </a:avLst>
          </a:prstGeom>
          <a:solidFill xmlns:a="http://schemas.openxmlformats.org/drawingml/2006/main">
            <a:srgbClr val="FFFFFF"/>
          </a:solidFill>
          <a:ln xmlns:a="http://schemas.openxmlformats.org/drawingml/2006/main" w="9525">
            <a:solidFill>
              <a:srgbClr val="D4DDED"/>
            </a:solidFill>
            <a:prstDash val="solid"/>
          </a:ln>
        </p:spPr>
      </p:sp>
      <p:sp>
        <p:nvSpPr>
          <p:cNvPr id="8" name="">
            <a:extLst xmlns:a="http://schemas.openxmlformats.org/drawingml/2006/main">
              <a:ext uri="{FF2B5EF4-FFF2-40B4-BE49-F238E27FC236}">
                <a16:creationId xmlns:a16="http://schemas.microsoft.com/office/drawing/2014/main" id="{ACC05B86-4F8B-4EAB-9DF6-C790029EC32A}"/>
              </a:ext>
            </a:extLst>
          </p:cNvPr>
          <p:cNvSpPr>
            <a:spLocks xmlns:a="http://schemas.openxmlformats.org/drawingml/2006/main" noGrp="1"/>
          </p:cNvSpPr>
          <p:nvPr/>
        </p:nvSpPr>
        <p:spPr>
          <a:xfrm xmlns:a="http://schemas.openxmlformats.org/drawingml/2006/main">
            <a:off x="857250" y="54102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574"/>
                </a:solidFill>
              </a:defRPr>
            </a:pPr>
            <a:r>
              <a:rPr sz="1350" b="1" i="0">
                <a:solidFill>
                  <a:srgbClr val="203574"/>
                </a:solidFill>
              </a:rPr>
              <a:t>9,052 valid coordinates</a:t>
            </a:r>
          </a:p>
        </p:txBody>
      </p:sp>
      <p:sp>
        <p:nvSpPr>
          <p:cNvPr id="9" name="">
            <a:extLst xmlns:a="http://schemas.openxmlformats.org/drawingml/2006/main">
              <a:ext uri="{FF2B5EF4-FFF2-40B4-BE49-F238E27FC236}">
                <a16:creationId xmlns:a16="http://schemas.microsoft.com/office/drawing/2014/main" id="{25AF2FF5-B08D-4409-ABCA-0DEAC5F376A3}"/>
              </a:ext>
            </a:extLst>
          </p:cNvPr>
          <p:cNvSpPr>
            <a:spLocks xmlns:a="http://schemas.openxmlformats.org/drawingml/2006/main" noGrp="1"/>
          </p:cNvSpPr>
          <p:nvPr/>
        </p:nvSpPr>
        <p:spPr>
          <a:xfrm xmlns:a="http://schemas.openxmlformats.org/drawingml/2006/main">
            <a:off x="3829050" y="5410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202534"/>
                </a:solidFill>
              </a:defRPr>
            </a:pPr>
            <a:r>
              <a:rPr sz="1275" b="0" i="0">
                <a:solidFill>
                  <a:srgbClr val="202534"/>
                </a:solidFill>
              </a:rPr>
              <a:t>Latitude–rating r = −0.124</a:t>
            </a:r>
          </a:p>
        </p:txBody>
      </p:sp>
      <p:sp>
        <p:nvSpPr>
          <p:cNvPr id="10" name="">
            <a:extLst xmlns:a="http://schemas.openxmlformats.org/drawingml/2006/main">
              <a:ext uri="{FF2B5EF4-FFF2-40B4-BE49-F238E27FC236}">
                <a16:creationId xmlns:a16="http://schemas.microsoft.com/office/drawing/2014/main" id="{7D0385CF-77EF-4E3A-8345-FC15AF59945F}"/>
              </a:ext>
            </a:extLst>
          </p:cNvPr>
          <p:cNvSpPr>
            <a:spLocks xmlns:a="http://schemas.openxmlformats.org/drawingml/2006/main" noGrp="1"/>
          </p:cNvSpPr>
          <p:nvPr/>
        </p:nvSpPr>
        <p:spPr>
          <a:xfrm xmlns:a="http://schemas.openxmlformats.org/drawingml/2006/main">
            <a:off x="7124700" y="54102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202534"/>
                </a:solidFill>
              </a:defRPr>
            </a:pPr>
            <a:r>
              <a:rPr sz="1275" b="0" i="0">
                <a:solidFill>
                  <a:srgbClr val="202534"/>
                </a:solidFill>
              </a:rPr>
              <a:t>Longitude–rating r = −0.206</a:t>
            </a:r>
          </a:p>
        </p:txBody>
      </p:sp>
      <p:sp>
        <p:nvSpPr>
          <p:cNvPr id="11" name="">
            <a:extLst xmlns:a="http://schemas.openxmlformats.org/drawingml/2006/main">
              <a:ext uri="{FF2B5EF4-FFF2-40B4-BE49-F238E27FC236}">
                <a16:creationId xmlns:a16="http://schemas.microsoft.com/office/drawing/2014/main" id="{7BB299EB-B23F-49A1-8AC8-50557E8739FD}"/>
              </a:ext>
            </a:extLst>
          </p:cNvPr>
          <p:cNvSpPr>
            <a:spLocks xmlns:a="http://schemas.openxmlformats.org/drawingml/2006/main" noGrp="1"/>
          </p:cNvSpPr>
          <p:nvPr/>
        </p:nvSpPr>
        <p:spPr>
          <a:xfrm xmlns:a="http://schemas.openxmlformats.org/drawingml/2006/main">
            <a:off x="8620125" y="56864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i="1">
                <a:solidFill>
                  <a:srgbClr val="5E6A83"/>
                </a:solidFill>
              </a:defRPr>
            </a:pPr>
            <a:r>
              <a:rPr sz="900" b="0" i="1">
                <a:solidFill>
                  <a:srgbClr val="5E6A83"/>
                </a:solidFill>
              </a:rPr>
              <a:t>Coordinates alone do not explain ratings.</a:t>
            </a:r>
          </a:p>
        </p:txBody>
      </p:sp>
      <p:sp>
        <p:nvSpPr>
          <p:cNvPr id="12" name="">
            <a:extLst xmlns:a="http://schemas.openxmlformats.org/drawingml/2006/main">
              <a:ext uri="{FF2B5EF4-FFF2-40B4-BE49-F238E27FC236}">
                <a16:creationId xmlns:a16="http://schemas.microsoft.com/office/drawing/2014/main" id="{32818B93-7AFD-4B2C-A4E2-26CB0557A875}"/>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13" name="">
            <a:extLst xmlns:a="http://schemas.openxmlformats.org/drawingml/2006/main">
              <a:ext uri="{FF2B5EF4-FFF2-40B4-BE49-F238E27FC236}">
                <a16:creationId xmlns:a16="http://schemas.microsoft.com/office/drawing/2014/main" id="{1EF346A0-BC90-4EB8-8B99-A8152521A061}"/>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08</a:t>
            </a:r>
          </a:p>
        </p:txBody>
      </p:sp>
    </p:spTree>
    <p:extLst>
      <p:ext uri="{BB962C8B-B14F-4D97-AF65-F5344CB8AC3E}">
        <p14:creationId xmlns:p14="http://schemas.microsoft.com/office/powerpoint/2010/main" val="576615848"/>
      </p:ext>
    </p:extLst>
  </p:cSld>
</p:sld>
</file>

<file path=ppt/slides/slide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74523E-20DE-4339-B022-382E7BFAFCAC}"/>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LEVEL 2 FINDINGS</a:t>
            </a:r>
          </a:p>
        </p:txBody>
      </p:sp>
      <p:sp>
        <p:nvSpPr>
          <p:cNvPr id="2" name="">
            <a:extLst xmlns:a="http://schemas.openxmlformats.org/drawingml/2006/main">
              <a:ext uri="{FF2B5EF4-FFF2-40B4-BE49-F238E27FC236}">
                <a16:creationId xmlns:a16="http://schemas.microsoft.com/office/drawing/2014/main" id="{877D573D-340E-489C-97DA-195971C628E3}"/>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Booking is limited but aligns with higher ratings</a:t>
            </a:r>
          </a:p>
        </p:txBody>
      </p:sp>
      <p:sp>
        <p:nvSpPr>
          <p:cNvPr id="3" name="">
            <a:extLst xmlns:a="http://schemas.openxmlformats.org/drawingml/2006/main">
              <a:ext uri="{FF2B5EF4-FFF2-40B4-BE49-F238E27FC236}">
                <a16:creationId xmlns:a16="http://schemas.microsoft.com/office/drawing/2014/main" id="{477E1B6F-C065-4321-A202-FEB3A485B93A}"/>
              </a:ext>
            </a:extLst>
          </p:cNvPr>
          <p:cNvSpPr>
            <a:spLocks xmlns:a="http://schemas.openxmlformats.org/drawingml/2006/main" noGrp="1"/>
          </p:cNvSpPr>
          <p:nvPr/>
        </p:nvSpPr>
        <p:spPr>
          <a:xfrm xmlns:a="http://schemas.openxmlformats.org/drawingml/2006/main">
            <a:off x="609600" y="15240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42150"/>
                </a:solidFill>
              </a:defRPr>
            </a:pPr>
            <a:r>
              <a:rPr sz="1425" b="1" i="0">
                <a:solidFill>
                  <a:srgbClr val="142150"/>
                </a:solidFill>
              </a:rPr>
              <a:t>Availability across all restaurants (%)</a:t>
            </a:r>
          </a:p>
        </p:txBody>
      </p:sp>
      <p:graphicFrame>
        <p:nvGraphicFramePr>
          <p:cNvPr id="16" name="Chart"/>
          <p:cNvGraphicFramePr/>
          <p:nvPr/>
        </p:nvGraphicFramePr>
        <p:xfrm>
          <a:off xmlns:a="http://schemas.openxmlformats.org/drawingml/2006/main" x="609600" y="1885950"/>
          <a:ext xmlns:a="http://schemas.openxmlformats.org/drawingml/2006/main" cx="4953000" cy="2819400"/>
        </p:xfrm>
        <a:graphic xmlns:a="http://schemas.openxmlformats.org/drawingml/2006/main">
          <a:graphicData uri="http://schemas.openxmlformats.org/drawingml/2006/chart">
            <c:chart xmlns:r="http://schemas.openxmlformats.org/officeDocument/2006/relationships" xmlns:c="http://schemas.openxmlformats.org/drawingml/2006/chart" r:id="Ra17ac020ed2d4b95"/>
          </a:graphicData>
        </a:graphic>
      </p:graphicFrame>
      <p:sp>
        <p:nvSpPr>
          <p:cNvPr id="5" name="">
            <a:extLst xmlns:a="http://schemas.openxmlformats.org/drawingml/2006/main">
              <a:ext uri="{FF2B5EF4-FFF2-40B4-BE49-F238E27FC236}">
                <a16:creationId xmlns:a16="http://schemas.microsoft.com/office/drawing/2014/main" id="{7F6FFC17-0482-4CAC-88D0-F85F4F3AFC1C}"/>
              </a:ext>
            </a:extLst>
          </p:cNvPr>
          <p:cNvSpPr>
            <a:spLocks xmlns:a="http://schemas.openxmlformats.org/drawingml/2006/main" noGrp="1"/>
          </p:cNvSpPr>
          <p:nvPr/>
        </p:nvSpPr>
        <p:spPr>
          <a:xfrm xmlns:a="http://schemas.openxmlformats.org/drawingml/2006/main">
            <a:off x="6191250" y="15240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42150"/>
                </a:solidFill>
              </a:defRPr>
            </a:pPr>
            <a:r>
              <a:rPr sz="1425" b="1" i="0">
                <a:solidFill>
                  <a:srgbClr val="142150"/>
                </a:solidFill>
              </a:rPr>
              <a:t>Average rating by table-booking status</a:t>
            </a:r>
          </a:p>
        </p:txBody>
      </p:sp>
      <p:graphicFrame>
        <p:nvGraphicFramePr>
          <p:cNvPr id="18" name="Chart"/>
          <p:cNvGraphicFramePr/>
          <p:nvPr/>
        </p:nvGraphicFramePr>
        <p:xfrm>
          <a:off xmlns:a="http://schemas.openxmlformats.org/drawingml/2006/main" x="6191250" y="1885950"/>
          <a:ext xmlns:a="http://schemas.openxmlformats.org/drawingml/2006/main" cx="4953000" cy="2819400"/>
        </p:xfrm>
        <a:graphic xmlns:a="http://schemas.openxmlformats.org/drawingml/2006/main">
          <a:graphicData uri="http://schemas.openxmlformats.org/drawingml/2006/chart">
            <c:chart xmlns:r="http://schemas.openxmlformats.org/officeDocument/2006/relationships" xmlns:c="http://schemas.openxmlformats.org/drawingml/2006/chart" r:id="Rf4d72fa30d8a4e5c"/>
          </a:graphicData>
        </a:graphic>
      </p:graphicFrame>
      <p:sp>
        <p:nvSpPr>
          <p:cNvPr id="7" name="">
            <a:extLst xmlns:a="http://schemas.openxmlformats.org/drawingml/2006/main">
              <a:ext uri="{FF2B5EF4-FFF2-40B4-BE49-F238E27FC236}">
                <a16:creationId xmlns:a16="http://schemas.microsoft.com/office/drawing/2014/main" id="{7E4D832C-A8F7-404E-BFC6-7160D3CAE5FF}"/>
              </a:ext>
            </a:extLst>
          </p:cNvPr>
          <p:cNvSpPr>
            <a:spLocks xmlns:a="http://schemas.openxmlformats.org/drawingml/2006/main" noGrp="1"/>
          </p:cNvSpPr>
          <p:nvPr/>
        </p:nvSpPr>
        <p:spPr>
          <a:xfrm xmlns:a="http://schemas.openxmlformats.org/drawingml/2006/main" rot="0">
            <a:off x="609600" y="5124450"/>
            <a:ext cx="10534650" cy="704850"/>
          </a:xfrm>
          <a:prstGeom xmlns:a="http://schemas.openxmlformats.org/drawingml/2006/main" prst="roundRect">
            <a:avLst>
              <a:gd name="adj" fmla="val 21622"/>
            </a:avLst>
          </a:prstGeom>
          <a:solidFill xmlns:a="http://schemas.openxmlformats.org/drawingml/2006/main">
            <a:srgbClr val="EEF3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4D98A2-04F9-4575-9813-296E36251AF5}"/>
              </a:ext>
            </a:extLst>
          </p:cNvPr>
          <p:cNvSpPr>
            <a:spLocks xmlns:a="http://schemas.openxmlformats.org/drawingml/2006/main" noGrp="1"/>
          </p:cNvSpPr>
          <p:nvPr/>
        </p:nvSpPr>
        <p:spPr>
          <a:xfrm xmlns:a="http://schemas.openxmlformats.org/drawingml/2006/main">
            <a:off x="876300" y="52578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3C9664"/>
                </a:solidFill>
              </a:defRPr>
            </a:pPr>
            <a:r>
              <a:rPr sz="2250" b="1" i="0">
                <a:solidFill>
                  <a:srgbClr val="3C9664"/>
                </a:solidFill>
              </a:rPr>
              <a:t>+0.883</a:t>
            </a:r>
          </a:p>
        </p:txBody>
      </p:sp>
      <p:sp>
        <p:nvSpPr>
          <p:cNvPr id="9" name="">
            <a:extLst xmlns:a="http://schemas.openxmlformats.org/drawingml/2006/main">
              <a:ext uri="{FF2B5EF4-FFF2-40B4-BE49-F238E27FC236}">
                <a16:creationId xmlns:a16="http://schemas.microsoft.com/office/drawing/2014/main" id="{F7CFB1CB-53A8-4C99-9A86-F6C59CCF79CF}"/>
              </a:ext>
            </a:extLst>
          </p:cNvPr>
          <p:cNvSpPr>
            <a:spLocks xmlns:a="http://schemas.openxmlformats.org/drawingml/2006/main" noGrp="1"/>
          </p:cNvSpPr>
          <p:nvPr/>
        </p:nvSpPr>
        <p:spPr>
          <a:xfrm xmlns:a="http://schemas.openxmlformats.org/drawingml/2006/main">
            <a:off x="2190750" y="52959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rating-point difference for restaurants with table booking</a:t>
            </a:r>
          </a:p>
        </p:txBody>
      </p:sp>
      <p:sp>
        <p:nvSpPr>
          <p:cNvPr id="10" name="">
            <a:extLst xmlns:a="http://schemas.openxmlformats.org/drawingml/2006/main">
              <a:ext uri="{FF2B5EF4-FFF2-40B4-BE49-F238E27FC236}">
                <a16:creationId xmlns:a16="http://schemas.microsoft.com/office/drawing/2014/main" id="{B31B239D-8C2E-4BC8-96C1-47FFCDCC6AF1}"/>
              </a:ext>
            </a:extLst>
          </p:cNvPr>
          <p:cNvSpPr>
            <a:spLocks xmlns:a="http://schemas.openxmlformats.org/drawingml/2006/main" noGrp="1"/>
          </p:cNvSpPr>
          <p:nvPr/>
        </p:nvSpPr>
        <p:spPr>
          <a:xfrm xmlns:a="http://schemas.openxmlformats.org/drawingml/2006/main">
            <a:off x="7753350" y="530542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i="1">
                <a:solidFill>
                  <a:srgbClr val="5E6A83"/>
                </a:solidFill>
              </a:defRPr>
            </a:pPr>
            <a:r>
              <a:rPr sz="1050" b="0" i="1">
                <a:solidFill>
                  <a:srgbClr val="5E6A83"/>
                </a:solidFill>
              </a:rPr>
              <a:t>Descriptive association — not causal proof</a:t>
            </a:r>
          </a:p>
        </p:txBody>
      </p:sp>
      <p:sp>
        <p:nvSpPr>
          <p:cNvPr id="11" name="">
            <a:extLst xmlns:a="http://schemas.openxmlformats.org/drawingml/2006/main">
              <a:ext uri="{FF2B5EF4-FFF2-40B4-BE49-F238E27FC236}">
                <a16:creationId xmlns:a16="http://schemas.microsoft.com/office/drawing/2014/main" id="{F9CB58B8-1633-4E25-9580-5AD7F8EDAFFC}"/>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12" name="">
            <a:extLst xmlns:a="http://schemas.openxmlformats.org/drawingml/2006/main">
              <a:ext uri="{FF2B5EF4-FFF2-40B4-BE49-F238E27FC236}">
                <a16:creationId xmlns:a16="http://schemas.microsoft.com/office/drawing/2014/main" id="{E2046C6C-D4C4-42B3-A091-69F37E618111}"/>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09</a:t>
            </a:r>
          </a:p>
        </p:txBody>
      </p:sp>
    </p:spTree>
    <p:extLst>
      <p:ext uri="{BB962C8B-B14F-4D97-AF65-F5344CB8AC3E}">
        <p14:creationId xmlns:p14="http://schemas.microsoft.com/office/powerpoint/2010/main" val="1606184841"/>
      </p:ext>
    </p:extLst>
  </p:cSld>
</p:sld>
</file>

<file path=ppt/slides/slide10.xml><?xml version="1.0" encoding="utf-8"?>
<p:sld xmlns:p="http://schemas.openxmlformats.org/presentationml/2006/main">
  <p:cSld>
    <p:bg>
      <p:bgPr>
        <a:solidFill xmlns:a="http://schemas.openxmlformats.org/drawingml/2006/main">
          <a:srgbClr val="EEF3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3E3411-2D19-4962-93FD-7DA016F01B74}"/>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PRICE RANGE ANALYSIS</a:t>
            </a:r>
          </a:p>
        </p:txBody>
      </p:sp>
      <p:sp>
        <p:nvSpPr>
          <p:cNvPr id="2" name="">
            <a:extLst xmlns:a="http://schemas.openxmlformats.org/drawingml/2006/main">
              <a:ext uri="{FF2B5EF4-FFF2-40B4-BE49-F238E27FC236}">
                <a16:creationId xmlns:a16="http://schemas.microsoft.com/office/drawing/2014/main" id="{0561D2AF-667F-42C0-B2FF-AD00F1087DDD}"/>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Ratings rise with price, while Range 1 dominates volume</a:t>
            </a:r>
          </a:p>
        </p:txBody>
      </p:sp>
      <p:sp>
        <p:nvSpPr>
          <p:cNvPr id="3" name="">
            <a:extLst xmlns:a="http://schemas.openxmlformats.org/drawingml/2006/main">
              <a:ext uri="{FF2B5EF4-FFF2-40B4-BE49-F238E27FC236}">
                <a16:creationId xmlns:a16="http://schemas.microsoft.com/office/drawing/2014/main" id="{F4A84C5D-83A8-4DC4-8A96-B51CF79C978A}"/>
              </a:ext>
            </a:extLst>
          </p:cNvPr>
          <p:cNvSpPr>
            <a:spLocks xmlns:a="http://schemas.openxmlformats.org/drawingml/2006/main" noGrp="1"/>
          </p:cNvSpPr>
          <p:nvPr/>
        </p:nvSpPr>
        <p:spPr>
          <a:xfrm xmlns:a="http://schemas.openxmlformats.org/drawingml/2006/main">
            <a:off x="609600" y="1504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42150"/>
                </a:solidFill>
              </a:defRPr>
            </a:pPr>
            <a:r>
              <a:rPr sz="1425" b="1" i="0">
                <a:solidFill>
                  <a:srgbClr val="142150"/>
                </a:solidFill>
              </a:rPr>
              <a:t>Restaurant count</a:t>
            </a:r>
          </a:p>
        </p:txBody>
      </p:sp>
      <p:graphicFrame>
        <p:nvGraphicFramePr>
          <p:cNvPr id="15" name="Chart"/>
          <p:cNvGraphicFramePr/>
          <p:nvPr/>
        </p:nvGraphicFramePr>
        <p:xfrm>
          <a:off xmlns:a="http://schemas.openxmlformats.org/drawingml/2006/main" x="533400" y="1790700"/>
          <a:ext xmlns:a="http://schemas.openxmlformats.org/drawingml/2006/main" cx="5124450" cy="3238500"/>
        </p:xfrm>
        <a:graphic xmlns:a="http://schemas.openxmlformats.org/drawingml/2006/main">
          <a:graphicData uri="http://schemas.openxmlformats.org/drawingml/2006/chart">
            <c:chart xmlns:r="http://schemas.openxmlformats.org/officeDocument/2006/relationships" xmlns:c="http://schemas.openxmlformats.org/drawingml/2006/chart" r:id="R267810acf7d54d53"/>
          </a:graphicData>
        </a:graphic>
      </p:graphicFrame>
      <p:sp>
        <p:nvSpPr>
          <p:cNvPr id="5" name="">
            <a:extLst xmlns:a="http://schemas.openxmlformats.org/drawingml/2006/main">
              <a:ext uri="{FF2B5EF4-FFF2-40B4-BE49-F238E27FC236}">
                <a16:creationId xmlns:a16="http://schemas.microsoft.com/office/drawing/2014/main" id="{044FED78-5803-4C04-88E0-D51D6878CA27}"/>
              </a:ext>
            </a:extLst>
          </p:cNvPr>
          <p:cNvSpPr>
            <a:spLocks xmlns:a="http://schemas.openxmlformats.org/drawingml/2006/main" noGrp="1"/>
          </p:cNvSpPr>
          <p:nvPr/>
        </p:nvSpPr>
        <p:spPr>
          <a:xfrm xmlns:a="http://schemas.openxmlformats.org/drawingml/2006/main">
            <a:off x="6191250" y="1504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42150"/>
                </a:solidFill>
              </a:defRPr>
            </a:pPr>
            <a:r>
              <a:rPr sz="1425" b="1" i="0">
                <a:solidFill>
                  <a:srgbClr val="142150"/>
                </a:solidFill>
              </a:rPr>
              <a:t>Average aggregate rating</a:t>
            </a:r>
          </a:p>
        </p:txBody>
      </p:sp>
      <p:graphicFrame>
        <p:nvGraphicFramePr>
          <p:cNvPr id="17" name="Chart"/>
          <p:cNvGraphicFramePr/>
          <p:nvPr/>
        </p:nvGraphicFramePr>
        <p:xfrm>
          <a:off xmlns:a="http://schemas.openxmlformats.org/drawingml/2006/main" x="6096000" y="1790700"/>
          <a:ext xmlns:a="http://schemas.openxmlformats.org/drawingml/2006/main" cx="5124450" cy="3238500"/>
        </p:xfrm>
        <a:graphic xmlns:a="http://schemas.openxmlformats.org/drawingml/2006/main">
          <a:graphicData uri="http://schemas.openxmlformats.org/drawingml/2006/chart">
            <c:chart xmlns:r="http://schemas.openxmlformats.org/officeDocument/2006/relationships" xmlns:c="http://schemas.openxmlformats.org/drawingml/2006/chart" r:id="Ref31d63dfe6445d9"/>
          </a:graphicData>
        </a:graphic>
      </p:graphicFrame>
      <p:sp>
        <p:nvSpPr>
          <p:cNvPr id="7" name="">
            <a:extLst xmlns:a="http://schemas.openxmlformats.org/drawingml/2006/main">
              <a:ext uri="{FF2B5EF4-FFF2-40B4-BE49-F238E27FC236}">
                <a16:creationId xmlns:a16="http://schemas.microsoft.com/office/drawing/2014/main" id="{422A4EF1-0B83-49BB-A719-B0F133F292F3}"/>
              </a:ext>
            </a:extLst>
          </p:cNvPr>
          <p:cNvSpPr>
            <a:spLocks xmlns:a="http://schemas.openxmlformats.org/drawingml/2006/main" noGrp="1"/>
          </p:cNvSpPr>
          <p:nvPr/>
        </p:nvSpPr>
        <p:spPr>
          <a:xfrm xmlns:a="http://schemas.openxmlformats.org/drawingml/2006/main" rot="0">
            <a:off x="609600" y="5267325"/>
            <a:ext cx="10610850" cy="57150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D4DDED"/>
            </a:solidFill>
            <a:prstDash val="solid"/>
          </a:ln>
        </p:spPr>
      </p:sp>
      <p:sp>
        <p:nvSpPr>
          <p:cNvPr id="8" name="">
            <a:extLst xmlns:a="http://schemas.openxmlformats.org/drawingml/2006/main">
              <a:ext uri="{FF2B5EF4-FFF2-40B4-BE49-F238E27FC236}">
                <a16:creationId xmlns:a16="http://schemas.microsoft.com/office/drawing/2014/main" id="{9EEA1D87-6BB0-4311-953C-091B3F042364}"/>
              </a:ext>
            </a:extLst>
          </p:cNvPr>
          <p:cNvSpPr>
            <a:spLocks xmlns:a="http://schemas.openxmlformats.org/drawingml/2006/main" noGrp="1"/>
          </p:cNvSpPr>
          <p:nvPr/>
        </p:nvSpPr>
        <p:spPr>
          <a:xfrm xmlns:a="http://schemas.openxmlformats.org/drawingml/2006/main">
            <a:off x="838200" y="5429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D9822B"/>
                </a:solidFill>
              </a:defRPr>
            </a:pPr>
            <a:r>
              <a:rPr sz="1125" b="1" i="0">
                <a:solidFill>
                  <a:srgbClr val="D9822B"/>
                </a:solidFill>
              </a:rPr>
              <a:t>Key takeaway</a:t>
            </a:r>
          </a:p>
        </p:txBody>
      </p:sp>
      <p:sp>
        <p:nvSpPr>
          <p:cNvPr id="9" name="">
            <a:extLst xmlns:a="http://schemas.openxmlformats.org/drawingml/2006/main">
              <a:ext uri="{FF2B5EF4-FFF2-40B4-BE49-F238E27FC236}">
                <a16:creationId xmlns:a16="http://schemas.microsoft.com/office/drawing/2014/main" id="{8C5C2A70-7DB5-4115-A8B9-55C48B110097}"/>
              </a:ext>
            </a:extLst>
          </p:cNvPr>
          <p:cNvSpPr>
            <a:spLocks xmlns:a="http://schemas.openxmlformats.org/drawingml/2006/main" noGrp="1"/>
          </p:cNvSpPr>
          <p:nvPr/>
        </p:nvSpPr>
        <p:spPr>
          <a:xfrm xmlns:a="http://schemas.openxmlformats.org/drawingml/2006/main">
            <a:off x="2286000" y="5410200"/>
            <a:ext cx="845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202534"/>
                </a:solidFill>
              </a:defRPr>
            </a:pPr>
            <a:r>
              <a:rPr sz="1350" b="0" i="0">
                <a:solidFill>
                  <a:srgbClr val="202534"/>
                </a:solidFill>
              </a:rPr>
              <a:t>Range 4 achieves the highest average rating (3.82), but represents only 586 restaurants.</a:t>
            </a:r>
          </a:p>
        </p:txBody>
      </p:sp>
      <p:sp>
        <p:nvSpPr>
          <p:cNvPr id="10" name="">
            <a:extLst xmlns:a="http://schemas.openxmlformats.org/drawingml/2006/main">
              <a:ext uri="{FF2B5EF4-FFF2-40B4-BE49-F238E27FC236}">
                <a16:creationId xmlns:a16="http://schemas.microsoft.com/office/drawing/2014/main" id="{DCC8ECFD-8412-435A-A403-C139579991B4}"/>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11" name="">
            <a:extLst xmlns:a="http://schemas.openxmlformats.org/drawingml/2006/main">
              <a:ext uri="{FF2B5EF4-FFF2-40B4-BE49-F238E27FC236}">
                <a16:creationId xmlns:a16="http://schemas.microsoft.com/office/drawing/2014/main" id="{D91731EE-5EF9-4B9B-977F-8062A2290099}"/>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10</a:t>
            </a:r>
          </a:p>
        </p:txBody>
      </p:sp>
    </p:spTree>
    <p:extLst>
      <p:ext uri="{BB962C8B-B14F-4D97-AF65-F5344CB8AC3E}">
        <p14:creationId xmlns:p14="http://schemas.microsoft.com/office/powerpoint/2010/main" val="1449641046"/>
      </p:ext>
    </p:extLst>
  </p:cSld>
</p:sld>
</file>

<file path=ppt/slides/slide1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32404C-4212-4DB3-8CD2-E53375A13F93}"/>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FEATURE ENGINEERING</a:t>
            </a:r>
          </a:p>
        </p:txBody>
      </p:sp>
      <p:sp>
        <p:nvSpPr>
          <p:cNvPr id="2" name="">
            <a:extLst xmlns:a="http://schemas.openxmlformats.org/drawingml/2006/main">
              <a:ext uri="{FF2B5EF4-FFF2-40B4-BE49-F238E27FC236}">
                <a16:creationId xmlns:a16="http://schemas.microsoft.com/office/drawing/2014/main" id="{2BD03C03-A48D-4F79-813D-937CDC1EA634}"/>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Cuisine breadth and service flags carry the strongest signals</a:t>
            </a:r>
          </a:p>
        </p:txBody>
      </p:sp>
      <p:graphicFrame>
        <p:nvGraphicFramePr>
          <p:cNvPr id="18" name="Chart"/>
          <p:cNvGraphicFramePr/>
          <p:nvPr/>
        </p:nvGraphicFramePr>
        <p:xfrm>
          <a:off xmlns:a="http://schemas.openxmlformats.org/drawingml/2006/main" x="609600" y="1571625"/>
          <a:ext xmlns:a="http://schemas.openxmlformats.org/drawingml/2006/main" cx="7429500" cy="3429000"/>
        </p:xfrm>
        <a:graphic xmlns:a="http://schemas.openxmlformats.org/drawingml/2006/main">
          <a:graphicData uri="http://schemas.openxmlformats.org/drawingml/2006/chart">
            <c:chart xmlns:r="http://schemas.openxmlformats.org/officeDocument/2006/relationships" xmlns:c="http://schemas.openxmlformats.org/drawingml/2006/chart" r:id="R8a078fdd41ca4bb1"/>
          </a:graphicData>
        </a:graphic>
      </p:graphicFrame>
      <p:sp>
        <p:nvSpPr>
          <p:cNvPr id="4" name="">
            <a:extLst xmlns:a="http://schemas.openxmlformats.org/drawingml/2006/main">
              <a:ext uri="{FF2B5EF4-FFF2-40B4-BE49-F238E27FC236}">
                <a16:creationId xmlns:a16="http://schemas.microsoft.com/office/drawing/2014/main" id="{F15AF72D-FBE4-413D-BB91-3147069153EC}"/>
              </a:ext>
            </a:extLst>
          </p:cNvPr>
          <p:cNvSpPr>
            <a:spLocks xmlns:a="http://schemas.openxmlformats.org/drawingml/2006/main" noGrp="1"/>
          </p:cNvSpPr>
          <p:nvPr/>
        </p:nvSpPr>
        <p:spPr>
          <a:xfrm xmlns:a="http://schemas.openxmlformats.org/drawingml/2006/main">
            <a:off x="876300" y="5105400"/>
            <a:ext cx="701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5E6A83"/>
                </a:solidFill>
              </a:defRPr>
            </a:pPr>
            <a:r>
              <a:rPr sz="975" b="0" i="0">
                <a:solidFill>
                  <a:srgbClr val="5E6A83"/>
                </a:solidFill>
              </a:rPr>
              <a:t>Other correlations: booking +0.190 • delivering +0.019 • address +0.002 • name −0.035</a:t>
            </a:r>
          </a:p>
        </p:txBody>
      </p:sp>
      <p:sp>
        <p:nvSpPr>
          <p:cNvPr id="5" name="">
            <a:extLst xmlns:a="http://schemas.openxmlformats.org/drawingml/2006/main">
              <a:ext uri="{FF2B5EF4-FFF2-40B4-BE49-F238E27FC236}">
                <a16:creationId xmlns:a16="http://schemas.microsoft.com/office/drawing/2014/main" id="{BEDA51AA-FA21-4F07-A3A8-E83E8A6628EC}"/>
              </a:ext>
            </a:extLst>
          </p:cNvPr>
          <p:cNvSpPr>
            <a:spLocks xmlns:a="http://schemas.openxmlformats.org/drawingml/2006/main" noGrp="1"/>
          </p:cNvSpPr>
          <p:nvPr/>
        </p:nvSpPr>
        <p:spPr>
          <a:xfrm xmlns:a="http://schemas.openxmlformats.org/drawingml/2006/main" rot="0">
            <a:off x="8458200" y="1685925"/>
            <a:ext cx="2952750" cy="3714750"/>
          </a:xfrm>
          <a:prstGeom xmlns:a="http://schemas.openxmlformats.org/drawingml/2006/main" prst="roundRect">
            <a:avLst>
              <a:gd name="adj" fmla="val 5806"/>
            </a:avLst>
          </a:prstGeom>
          <a:solidFill xmlns:a="http://schemas.openxmlformats.org/drawingml/2006/main">
            <a:srgbClr val="EE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C6400EC-BE09-490B-9886-F3A830EBD8BD}"/>
              </a:ext>
            </a:extLst>
          </p:cNvPr>
          <p:cNvSpPr>
            <a:spLocks xmlns:a="http://schemas.openxmlformats.org/drawingml/2006/main" noGrp="1"/>
          </p:cNvSpPr>
          <p:nvPr/>
        </p:nvSpPr>
        <p:spPr>
          <a:xfrm xmlns:a="http://schemas.openxmlformats.org/drawingml/2006/main">
            <a:off x="8724900" y="19716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42150"/>
                </a:solidFill>
              </a:defRPr>
            </a:pPr>
            <a:r>
              <a:rPr sz="1500" b="1" i="0">
                <a:solidFill>
                  <a:srgbClr val="142150"/>
                </a:solidFill>
              </a:rPr>
              <a:t>What the correlations mean</a:t>
            </a:r>
          </a:p>
        </p:txBody>
      </p:sp>
      <p:sp>
        <p:nvSpPr>
          <p:cNvPr id="7" name="">
            <a:extLst xmlns:a="http://schemas.openxmlformats.org/drawingml/2006/main">
              <a:ext uri="{FF2B5EF4-FFF2-40B4-BE49-F238E27FC236}">
                <a16:creationId xmlns:a16="http://schemas.microsoft.com/office/drawing/2014/main" id="{98A941F8-DDE4-4377-A2B7-80D00A65FC59}"/>
              </a:ext>
            </a:extLst>
          </p:cNvPr>
          <p:cNvSpPr>
            <a:spLocks xmlns:a="http://schemas.openxmlformats.org/drawingml/2006/main" noGrp="1"/>
          </p:cNvSpPr>
          <p:nvPr/>
        </p:nvSpPr>
        <p:spPr>
          <a:xfrm xmlns:a="http://schemas.openxmlformats.org/drawingml/2006/main">
            <a:off x="8724900" y="27241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2F4B91"/>
                </a:solidFill>
              </a:defRPr>
            </a:pPr>
            <a:r>
              <a:rPr sz="2550" b="1" i="0">
                <a:solidFill>
                  <a:srgbClr val="2F4B91"/>
                </a:solidFill>
              </a:rPr>
              <a:t>+0.249</a:t>
            </a:r>
          </a:p>
        </p:txBody>
      </p:sp>
      <p:sp>
        <p:nvSpPr>
          <p:cNvPr id="8" name="">
            <a:extLst xmlns:a="http://schemas.openxmlformats.org/drawingml/2006/main">
              <a:ext uri="{FF2B5EF4-FFF2-40B4-BE49-F238E27FC236}">
                <a16:creationId xmlns:a16="http://schemas.microsoft.com/office/drawing/2014/main" id="{15BA7497-40F5-4B4A-976D-02ECD565ABA7}"/>
              </a:ext>
            </a:extLst>
          </p:cNvPr>
          <p:cNvSpPr>
            <a:spLocks xmlns:a="http://schemas.openxmlformats.org/drawingml/2006/main" noGrp="1"/>
          </p:cNvSpPr>
          <p:nvPr/>
        </p:nvSpPr>
        <p:spPr>
          <a:xfrm xmlns:a="http://schemas.openxmlformats.org/drawingml/2006/main">
            <a:off x="8724900" y="32194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E6A83"/>
                </a:solidFill>
              </a:defRPr>
            </a:pPr>
            <a:r>
              <a:rPr sz="1050" b="0" i="0">
                <a:solidFill>
                  <a:srgbClr val="5E6A83"/>
                </a:solidFill>
              </a:rPr>
              <a:t>Cuisine Count — strongest engineered signal</a:t>
            </a:r>
          </a:p>
        </p:txBody>
      </p:sp>
      <p:sp>
        <p:nvSpPr>
          <p:cNvPr id="9" name="">
            <a:extLst xmlns:a="http://schemas.openxmlformats.org/drawingml/2006/main">
              <a:ext uri="{FF2B5EF4-FFF2-40B4-BE49-F238E27FC236}">
                <a16:creationId xmlns:a16="http://schemas.microsoft.com/office/drawing/2014/main" id="{A65EDC36-F349-439F-8B98-69ED7108C1A5}"/>
              </a:ext>
            </a:extLst>
          </p:cNvPr>
          <p:cNvSpPr>
            <a:spLocks xmlns:a="http://schemas.openxmlformats.org/drawingml/2006/main" noGrp="1"/>
          </p:cNvSpPr>
          <p:nvPr/>
        </p:nvSpPr>
        <p:spPr>
          <a:xfrm xmlns:a="http://schemas.openxmlformats.org/drawingml/2006/main">
            <a:off x="8724900" y="36766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2C6EAE"/>
                </a:solidFill>
              </a:defRPr>
            </a:pPr>
            <a:r>
              <a:rPr sz="2550" b="1" i="0">
                <a:solidFill>
                  <a:srgbClr val="2C6EAE"/>
                </a:solidFill>
              </a:rPr>
              <a:t>+0.226</a:t>
            </a:r>
          </a:p>
        </p:txBody>
      </p:sp>
      <p:sp>
        <p:nvSpPr>
          <p:cNvPr id="10" name="">
            <a:extLst xmlns:a="http://schemas.openxmlformats.org/drawingml/2006/main">
              <a:ext uri="{FF2B5EF4-FFF2-40B4-BE49-F238E27FC236}">
                <a16:creationId xmlns:a16="http://schemas.microsoft.com/office/drawing/2014/main" id="{5D2BF0AF-6768-43D1-AA51-C981BFAA781C}"/>
              </a:ext>
            </a:extLst>
          </p:cNvPr>
          <p:cNvSpPr>
            <a:spLocks xmlns:a="http://schemas.openxmlformats.org/drawingml/2006/main" noGrp="1"/>
          </p:cNvSpPr>
          <p:nvPr/>
        </p:nvSpPr>
        <p:spPr>
          <a:xfrm xmlns:a="http://schemas.openxmlformats.org/drawingml/2006/main">
            <a:off x="8724900" y="41719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E6A83"/>
                </a:solidFill>
              </a:defRPr>
            </a:pPr>
            <a:r>
              <a:rPr sz="1050" b="0" i="0">
                <a:solidFill>
                  <a:srgbClr val="5E6A83"/>
                </a:solidFill>
              </a:rPr>
              <a:t>Online Delivery — second strongest</a:t>
            </a:r>
          </a:p>
        </p:txBody>
      </p:sp>
      <p:sp>
        <p:nvSpPr>
          <p:cNvPr id="11" name="">
            <a:extLst xmlns:a="http://schemas.openxmlformats.org/drawingml/2006/main">
              <a:ext uri="{FF2B5EF4-FFF2-40B4-BE49-F238E27FC236}">
                <a16:creationId xmlns:a16="http://schemas.microsoft.com/office/drawing/2014/main" id="{31073387-7D07-4477-AE40-1DC63904A2CB}"/>
              </a:ext>
            </a:extLst>
          </p:cNvPr>
          <p:cNvSpPr>
            <a:spLocks xmlns:a="http://schemas.openxmlformats.org/drawingml/2006/main" noGrp="1"/>
          </p:cNvSpPr>
          <p:nvPr/>
        </p:nvSpPr>
        <p:spPr>
          <a:xfrm xmlns:a="http://schemas.openxmlformats.org/drawingml/2006/main">
            <a:off x="8705850" y="4619625"/>
            <a:ext cx="238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E6A83"/>
                </a:solidFill>
              </a:defRPr>
            </a:pPr>
            <a:r>
              <a:rPr sz="1125" b="0" i="0">
                <a:solidFill>
                  <a:srgbClr val="5E6A83"/>
                </a:solidFill>
              </a:rPr>
              <a:t>Name length, address length and current-delivery status have negligible linear relationships with rating.</a:t>
            </a:r>
          </a:p>
        </p:txBody>
      </p:sp>
      <p:sp>
        <p:nvSpPr>
          <p:cNvPr id="12" name="">
            <a:extLst xmlns:a="http://schemas.openxmlformats.org/drawingml/2006/main">
              <a:ext uri="{FF2B5EF4-FFF2-40B4-BE49-F238E27FC236}">
                <a16:creationId xmlns:a16="http://schemas.microsoft.com/office/drawing/2014/main" id="{2EB7E95F-5CE1-4286-B591-BD0A266BA600}"/>
              </a:ext>
            </a:extLst>
          </p:cNvPr>
          <p:cNvSpPr>
            <a:spLocks xmlns:a="http://schemas.openxmlformats.org/drawingml/2006/main" noGrp="1"/>
          </p:cNvSpPr>
          <p:nvPr/>
        </p:nvSpPr>
        <p:spPr>
          <a:xfrm xmlns:a="http://schemas.openxmlformats.org/drawingml/2006/main" rot="0">
            <a:off x="609600" y="5638800"/>
            <a:ext cx="10801350" cy="476250"/>
          </a:xfrm>
          <a:prstGeom xmlns:a="http://schemas.openxmlformats.org/drawingml/2006/main" prst="roundRect">
            <a:avLst>
              <a:gd name="adj" fmla="val 28000"/>
            </a:avLst>
          </a:prstGeom>
          <a:solidFill xmlns:a="http://schemas.openxmlformats.org/drawingml/2006/main">
            <a:srgbClr val="20357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E013C0-277F-403F-B90F-15F1E352C27B}"/>
              </a:ext>
            </a:extLst>
          </p:cNvPr>
          <p:cNvSpPr>
            <a:spLocks xmlns:a="http://schemas.openxmlformats.org/drawingml/2006/main" noGrp="1"/>
          </p:cNvSpPr>
          <p:nvPr/>
        </p:nvSpPr>
        <p:spPr>
          <a:xfrm xmlns:a="http://schemas.openxmlformats.org/drawingml/2006/main">
            <a:off x="1371600" y="5762625"/>
            <a:ext cx="927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Enriched output: 21 original fields + 6 engineered variables = 27 columns</a:t>
            </a:r>
          </a:p>
        </p:txBody>
      </p:sp>
      <p:sp>
        <p:nvSpPr>
          <p:cNvPr id="14" name="">
            <a:extLst xmlns:a="http://schemas.openxmlformats.org/drawingml/2006/main">
              <a:ext uri="{FF2B5EF4-FFF2-40B4-BE49-F238E27FC236}">
                <a16:creationId xmlns:a16="http://schemas.microsoft.com/office/drawing/2014/main" id="{0E86901C-D355-4155-A9EC-40AFC29C06FF}"/>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15" name="">
            <a:extLst xmlns:a="http://schemas.openxmlformats.org/drawingml/2006/main">
              <a:ext uri="{FF2B5EF4-FFF2-40B4-BE49-F238E27FC236}">
                <a16:creationId xmlns:a16="http://schemas.microsoft.com/office/drawing/2014/main" id="{1F7CC12A-9149-4F52-A99D-388F1BBD9F6D}"/>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11</a:t>
            </a:r>
          </a:p>
        </p:txBody>
      </p:sp>
    </p:spTree>
    <p:extLst>
      <p:ext uri="{BB962C8B-B14F-4D97-AF65-F5344CB8AC3E}">
        <p14:creationId xmlns:p14="http://schemas.microsoft.com/office/powerpoint/2010/main" val="1682910682"/>
      </p:ext>
    </p:extLst>
  </p:cSld>
</p:sld>
</file>

<file path=ppt/slides/slide12.xml><?xml version="1.0" encoding="utf-8"?>
<p:sld xmlns:p="http://schemas.openxmlformats.org/presentationml/2006/main">
  <p:cSld>
    <p:bg>
      <p:bgPr>
        <a:solidFill xmlns:a="http://schemas.openxmlformats.org/drawingml/2006/main">
          <a:srgbClr val="14215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E3F79AE-4EC3-4321-BE65-FDE480B04A18}"/>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2B400"/>
                </a:solidFill>
              </a:defRPr>
            </a:pPr>
            <a:r>
              <a:rPr sz="975" b="1" i="0">
                <a:solidFill>
                  <a:srgbClr val="F2B400"/>
                </a:solidFill>
              </a:rPr>
              <a:t>OUTCOMES &amp; EVIDENCE</a:t>
            </a:r>
          </a:p>
        </p:txBody>
      </p:sp>
      <p:sp>
        <p:nvSpPr>
          <p:cNvPr id="2" name="">
            <a:extLst xmlns:a="http://schemas.openxmlformats.org/drawingml/2006/main">
              <a:ext uri="{FF2B5EF4-FFF2-40B4-BE49-F238E27FC236}">
                <a16:creationId xmlns:a16="http://schemas.microsoft.com/office/drawing/2014/main" id="{C0784F3E-6156-460C-8666-089ECAF96316}"/>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FFFFFF"/>
                </a:solidFill>
              </a:defRPr>
            </a:pPr>
            <a:r>
              <a:rPr sz="2700" b="1" i="0">
                <a:solidFill>
                  <a:srgbClr val="FFFFFF"/>
                </a:solidFill>
              </a:rPr>
              <a:t>Reproducible work and verified completion</a:t>
            </a:r>
          </a:p>
        </p:txBody>
      </p:sp>
      <p:sp>
        <p:nvSpPr>
          <p:cNvPr id="3" name="">
            <a:extLst xmlns:a="http://schemas.openxmlformats.org/drawingml/2006/main">
              <a:ext uri="{FF2B5EF4-FFF2-40B4-BE49-F238E27FC236}">
                <a16:creationId xmlns:a16="http://schemas.microsoft.com/office/drawing/2014/main" id="{823B9097-0F9A-43DF-8C11-EF9A9137390C}"/>
              </a:ext>
            </a:extLst>
          </p:cNvPr>
          <p:cNvSpPr>
            <a:spLocks xmlns:a="http://schemas.openxmlformats.org/drawingml/2006/main" noGrp="1"/>
          </p:cNvSpPr>
          <p:nvPr/>
        </p:nvSpPr>
        <p:spPr>
          <a:xfrm xmlns:a="http://schemas.openxmlformats.org/drawingml/2006/main">
            <a:off x="609600" y="157162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FFFF"/>
                </a:solidFill>
              </a:defRPr>
            </a:pPr>
            <a:r>
              <a:rPr sz="1575" b="1" i="0">
                <a:solidFill>
                  <a:srgbClr val="FFFFFF"/>
                </a:solidFill>
              </a:rPr>
              <a:t>Completed work products</a:t>
            </a:r>
          </a:p>
        </p:txBody>
      </p:sp>
      <p:sp>
        <p:nvSpPr>
          <p:cNvPr id="4" name="">
            <a:extLst xmlns:a="http://schemas.openxmlformats.org/drawingml/2006/main">
              <a:ext uri="{FF2B5EF4-FFF2-40B4-BE49-F238E27FC236}">
                <a16:creationId xmlns:a16="http://schemas.microsoft.com/office/drawing/2014/main" id="{F9CAA1DE-65FD-4078-9FA8-BD90F64A49B3}"/>
              </a:ext>
            </a:extLst>
          </p:cNvPr>
          <p:cNvSpPr>
            <a:spLocks xmlns:a="http://schemas.openxmlformats.org/drawingml/2006/main" noGrp="1"/>
          </p:cNvSpPr>
          <p:nvPr/>
        </p:nvSpPr>
        <p:spPr>
          <a:xfrm xmlns:a="http://schemas.openxmlformats.org/drawingml/2006/main" rot="0">
            <a:off x="628650" y="2076450"/>
            <a:ext cx="323850" cy="3238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65AE92-F505-4B72-BC66-1FA67CB50A96}"/>
              </a:ext>
            </a:extLst>
          </p:cNvPr>
          <p:cNvSpPr>
            <a:spLocks xmlns:a="http://schemas.openxmlformats.org/drawingml/2006/main" noGrp="1"/>
          </p:cNvSpPr>
          <p:nvPr/>
        </p:nvSpPr>
        <p:spPr>
          <a:xfrm xmlns:a="http://schemas.openxmlformats.org/drawingml/2006/main">
            <a:off x="628650" y="2141220"/>
            <a:ext cx="323850" cy="187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a:t>
            </a:r>
          </a:p>
        </p:txBody>
      </p:sp>
      <p:sp>
        <p:nvSpPr>
          <p:cNvPr id="6" name="">
            <a:extLst xmlns:a="http://schemas.openxmlformats.org/drawingml/2006/main">
              <a:ext uri="{FF2B5EF4-FFF2-40B4-BE49-F238E27FC236}">
                <a16:creationId xmlns:a16="http://schemas.microsoft.com/office/drawing/2014/main" id="{A33628D5-0217-420A-ABF5-A72443122E99}"/>
              </a:ext>
            </a:extLst>
          </p:cNvPr>
          <p:cNvSpPr>
            <a:spLocks xmlns:a="http://schemas.openxmlformats.org/drawingml/2006/main" noGrp="1"/>
          </p:cNvSpPr>
          <p:nvPr/>
        </p:nvSpPr>
        <p:spPr>
          <a:xfrm xmlns:a="http://schemas.openxmlformats.org/drawingml/2006/main">
            <a:off x="1123950" y="20669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Dataset .csv</a:t>
            </a:r>
          </a:p>
        </p:txBody>
      </p:sp>
      <p:sp>
        <p:nvSpPr>
          <p:cNvPr id="7" name="">
            <a:extLst xmlns:a="http://schemas.openxmlformats.org/drawingml/2006/main">
              <a:ext uri="{FF2B5EF4-FFF2-40B4-BE49-F238E27FC236}">
                <a16:creationId xmlns:a16="http://schemas.microsoft.com/office/drawing/2014/main" id="{17EDC52D-A21F-43D4-82DC-6E5B12567D5E}"/>
              </a:ext>
            </a:extLst>
          </p:cNvPr>
          <p:cNvSpPr>
            <a:spLocks xmlns:a="http://schemas.openxmlformats.org/drawingml/2006/main" noGrp="1"/>
          </p:cNvSpPr>
          <p:nvPr/>
        </p:nvSpPr>
        <p:spPr>
          <a:xfrm xmlns:a="http://schemas.openxmlformats.org/drawingml/2006/main">
            <a:off x="1123950" y="23336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BFCBE8"/>
                </a:solidFill>
              </a:defRPr>
            </a:pPr>
            <a:r>
              <a:rPr sz="975" b="0" i="0">
                <a:solidFill>
                  <a:srgbClr val="BFCBE8"/>
                </a:solidFill>
              </a:rPr>
              <a:t>original 9,551 × 21 source</a:t>
            </a:r>
          </a:p>
        </p:txBody>
      </p:sp>
      <p:sp>
        <p:nvSpPr>
          <p:cNvPr id="8" name="">
            <a:extLst xmlns:a="http://schemas.openxmlformats.org/drawingml/2006/main">
              <a:ext uri="{FF2B5EF4-FFF2-40B4-BE49-F238E27FC236}">
                <a16:creationId xmlns:a16="http://schemas.microsoft.com/office/drawing/2014/main" id="{D840129E-F49C-4C1C-A1CB-35B641E736FD}"/>
              </a:ext>
            </a:extLst>
          </p:cNvPr>
          <p:cNvSpPr>
            <a:spLocks xmlns:a="http://schemas.openxmlformats.org/drawingml/2006/main" noGrp="1"/>
          </p:cNvSpPr>
          <p:nvPr/>
        </p:nvSpPr>
        <p:spPr>
          <a:xfrm xmlns:a="http://schemas.openxmlformats.org/drawingml/2006/main" rot="0">
            <a:off x="628650" y="2743200"/>
            <a:ext cx="323850" cy="3238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FA1085-B4F6-4E8A-94C9-D9AC371890B9}"/>
              </a:ext>
            </a:extLst>
          </p:cNvPr>
          <p:cNvSpPr>
            <a:spLocks xmlns:a="http://schemas.openxmlformats.org/drawingml/2006/main" noGrp="1"/>
          </p:cNvSpPr>
          <p:nvPr/>
        </p:nvSpPr>
        <p:spPr>
          <a:xfrm xmlns:a="http://schemas.openxmlformats.org/drawingml/2006/main">
            <a:off x="628650" y="2807970"/>
            <a:ext cx="323850" cy="187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a:t>
            </a:r>
          </a:p>
        </p:txBody>
      </p:sp>
      <p:sp>
        <p:nvSpPr>
          <p:cNvPr id="10" name="">
            <a:extLst xmlns:a="http://schemas.openxmlformats.org/drawingml/2006/main">
              <a:ext uri="{FF2B5EF4-FFF2-40B4-BE49-F238E27FC236}">
                <a16:creationId xmlns:a16="http://schemas.microsoft.com/office/drawing/2014/main" id="{0BCB38CC-301A-4221-8A57-817D1B14EBE8}"/>
              </a:ext>
            </a:extLst>
          </p:cNvPr>
          <p:cNvSpPr>
            <a:spLocks xmlns:a="http://schemas.openxmlformats.org/drawingml/2006/main" noGrp="1"/>
          </p:cNvSpPr>
          <p:nvPr/>
        </p:nvSpPr>
        <p:spPr>
          <a:xfrm xmlns:a="http://schemas.openxmlformats.org/drawingml/2006/main">
            <a:off x="1123950" y="27336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level1_tasks.py</a:t>
            </a:r>
          </a:p>
        </p:txBody>
      </p:sp>
      <p:sp>
        <p:nvSpPr>
          <p:cNvPr id="11" name="">
            <a:extLst xmlns:a="http://schemas.openxmlformats.org/drawingml/2006/main">
              <a:ext uri="{FF2B5EF4-FFF2-40B4-BE49-F238E27FC236}">
                <a16:creationId xmlns:a16="http://schemas.microsoft.com/office/drawing/2014/main" id="{7C0E1F2B-216B-472F-95EA-025029F29918}"/>
              </a:ext>
            </a:extLst>
          </p:cNvPr>
          <p:cNvSpPr>
            <a:spLocks xmlns:a="http://schemas.openxmlformats.org/drawingml/2006/main" noGrp="1"/>
          </p:cNvSpPr>
          <p:nvPr/>
        </p:nvSpPr>
        <p:spPr>
          <a:xfrm xmlns:a="http://schemas.openxmlformats.org/drawingml/2006/main">
            <a:off x="1123950" y="30003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BFCBE8"/>
                </a:solidFill>
              </a:defRPr>
            </a:pPr>
            <a:r>
              <a:rPr sz="975" b="0" i="0">
                <a:solidFill>
                  <a:srgbClr val="BFCBE8"/>
                </a:solidFill>
              </a:rPr>
              <a:t>exploration, description and geospatial analysis</a:t>
            </a:r>
          </a:p>
        </p:txBody>
      </p:sp>
      <p:sp>
        <p:nvSpPr>
          <p:cNvPr id="12" name="">
            <a:extLst xmlns:a="http://schemas.openxmlformats.org/drawingml/2006/main">
              <a:ext uri="{FF2B5EF4-FFF2-40B4-BE49-F238E27FC236}">
                <a16:creationId xmlns:a16="http://schemas.microsoft.com/office/drawing/2014/main" id="{11BCD268-113E-4C80-994D-5306D64CC059}"/>
              </a:ext>
            </a:extLst>
          </p:cNvPr>
          <p:cNvSpPr>
            <a:spLocks xmlns:a="http://schemas.openxmlformats.org/drawingml/2006/main" noGrp="1"/>
          </p:cNvSpPr>
          <p:nvPr/>
        </p:nvSpPr>
        <p:spPr>
          <a:xfrm xmlns:a="http://schemas.openxmlformats.org/drawingml/2006/main" rot="0">
            <a:off x="628650" y="3409950"/>
            <a:ext cx="323850" cy="3238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368C326-476C-4BC5-BA95-8BD35DE625DB}"/>
              </a:ext>
            </a:extLst>
          </p:cNvPr>
          <p:cNvSpPr>
            <a:spLocks xmlns:a="http://schemas.openxmlformats.org/drawingml/2006/main" noGrp="1"/>
          </p:cNvSpPr>
          <p:nvPr/>
        </p:nvSpPr>
        <p:spPr>
          <a:xfrm xmlns:a="http://schemas.openxmlformats.org/drawingml/2006/main">
            <a:off x="628650" y="3474720"/>
            <a:ext cx="323850" cy="187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a:t>
            </a:r>
          </a:p>
        </p:txBody>
      </p:sp>
      <p:sp>
        <p:nvSpPr>
          <p:cNvPr id="14" name="">
            <a:extLst xmlns:a="http://schemas.openxmlformats.org/drawingml/2006/main">
              <a:ext uri="{FF2B5EF4-FFF2-40B4-BE49-F238E27FC236}">
                <a16:creationId xmlns:a16="http://schemas.microsoft.com/office/drawing/2014/main" id="{68796146-C0DC-4178-A3B2-599E4F07576A}"/>
              </a:ext>
            </a:extLst>
          </p:cNvPr>
          <p:cNvSpPr>
            <a:spLocks xmlns:a="http://schemas.openxmlformats.org/drawingml/2006/main" noGrp="1"/>
          </p:cNvSpPr>
          <p:nvPr/>
        </p:nvSpPr>
        <p:spPr>
          <a:xfrm xmlns:a="http://schemas.openxmlformats.org/drawingml/2006/main">
            <a:off x="1123950" y="34004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level2_tasks.py</a:t>
            </a:r>
          </a:p>
        </p:txBody>
      </p:sp>
      <p:sp>
        <p:nvSpPr>
          <p:cNvPr id="15" name="">
            <a:extLst xmlns:a="http://schemas.openxmlformats.org/drawingml/2006/main">
              <a:ext uri="{FF2B5EF4-FFF2-40B4-BE49-F238E27FC236}">
                <a16:creationId xmlns:a16="http://schemas.microsoft.com/office/drawing/2014/main" id="{508EDC12-675E-4443-95DB-FEABF59A1A3D}"/>
              </a:ext>
            </a:extLst>
          </p:cNvPr>
          <p:cNvSpPr>
            <a:spLocks xmlns:a="http://schemas.openxmlformats.org/drawingml/2006/main" noGrp="1"/>
          </p:cNvSpPr>
          <p:nvPr/>
        </p:nvSpPr>
        <p:spPr>
          <a:xfrm xmlns:a="http://schemas.openxmlformats.org/drawingml/2006/main">
            <a:off x="1123950" y="36671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BFCBE8"/>
                </a:solidFill>
              </a:defRPr>
            </a:pPr>
            <a:r>
              <a:rPr sz="975" b="0" i="0">
                <a:solidFill>
                  <a:srgbClr val="BFCBE8"/>
                </a:solidFill>
              </a:rPr>
              <a:t>services, price ranges and feature engineering</a:t>
            </a:r>
          </a:p>
        </p:txBody>
      </p:sp>
      <p:sp>
        <p:nvSpPr>
          <p:cNvPr id="16" name="">
            <a:extLst xmlns:a="http://schemas.openxmlformats.org/drawingml/2006/main">
              <a:ext uri="{FF2B5EF4-FFF2-40B4-BE49-F238E27FC236}">
                <a16:creationId xmlns:a16="http://schemas.microsoft.com/office/drawing/2014/main" id="{8D0CA8E9-C472-4DD8-96A6-89E450CB133F}"/>
              </a:ext>
            </a:extLst>
          </p:cNvPr>
          <p:cNvSpPr>
            <a:spLocks xmlns:a="http://schemas.openxmlformats.org/drawingml/2006/main" noGrp="1"/>
          </p:cNvSpPr>
          <p:nvPr/>
        </p:nvSpPr>
        <p:spPr>
          <a:xfrm xmlns:a="http://schemas.openxmlformats.org/drawingml/2006/main" rot="0">
            <a:off x="628650" y="4076700"/>
            <a:ext cx="323850" cy="323850"/>
          </a:xfrm>
          <a:prstGeom xmlns:a="http://schemas.openxmlformats.org/drawingml/2006/main" prst="ellipse">
            <a:avLst/>
          </a:prstGeom>
          <a:solidFill xmlns:a="http://schemas.openxmlformats.org/drawingml/2006/main">
            <a:srgbClr val="F2B4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19229BB-5247-455A-BE39-6A53E1C7CCC2}"/>
              </a:ext>
            </a:extLst>
          </p:cNvPr>
          <p:cNvSpPr>
            <a:spLocks xmlns:a="http://schemas.openxmlformats.org/drawingml/2006/main" noGrp="1"/>
          </p:cNvSpPr>
          <p:nvPr/>
        </p:nvSpPr>
        <p:spPr>
          <a:xfrm xmlns:a="http://schemas.openxmlformats.org/drawingml/2006/main">
            <a:off x="628650" y="4141470"/>
            <a:ext cx="323850" cy="187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42150"/>
                </a:solidFill>
              </a:defRPr>
            </a:pPr>
            <a:r>
              <a:rPr sz="1200" b="1" i="0">
                <a:solidFill>
                  <a:srgbClr val="142150"/>
                </a:solidFill>
              </a:rPr>
              <a:t>✓</a:t>
            </a:r>
          </a:p>
        </p:txBody>
      </p:sp>
      <p:sp>
        <p:nvSpPr>
          <p:cNvPr id="18" name="">
            <a:extLst xmlns:a="http://schemas.openxmlformats.org/drawingml/2006/main">
              <a:ext uri="{FF2B5EF4-FFF2-40B4-BE49-F238E27FC236}">
                <a16:creationId xmlns:a16="http://schemas.microsoft.com/office/drawing/2014/main" id="{88F44606-EE46-40B9-8F39-E255BF3CCD39}"/>
              </a:ext>
            </a:extLst>
          </p:cNvPr>
          <p:cNvSpPr>
            <a:spLocks xmlns:a="http://schemas.openxmlformats.org/drawingml/2006/main" noGrp="1"/>
          </p:cNvSpPr>
          <p:nvPr/>
        </p:nvSpPr>
        <p:spPr>
          <a:xfrm xmlns:a="http://schemas.openxmlformats.org/drawingml/2006/main">
            <a:off x="1123950" y="40671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Dataset_Enriched.csv</a:t>
            </a:r>
          </a:p>
        </p:txBody>
      </p:sp>
      <p:sp>
        <p:nvSpPr>
          <p:cNvPr id="19" name="">
            <a:extLst xmlns:a="http://schemas.openxmlformats.org/drawingml/2006/main">
              <a:ext uri="{FF2B5EF4-FFF2-40B4-BE49-F238E27FC236}">
                <a16:creationId xmlns:a16="http://schemas.microsoft.com/office/drawing/2014/main" id="{D515610F-A62E-49EB-9123-CA1B8691F3BB}"/>
              </a:ext>
            </a:extLst>
          </p:cNvPr>
          <p:cNvSpPr>
            <a:spLocks xmlns:a="http://schemas.openxmlformats.org/drawingml/2006/main" noGrp="1"/>
          </p:cNvSpPr>
          <p:nvPr/>
        </p:nvSpPr>
        <p:spPr>
          <a:xfrm xmlns:a="http://schemas.openxmlformats.org/drawingml/2006/main">
            <a:off x="1123950" y="433387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BFCBE8"/>
                </a:solidFill>
              </a:defRPr>
            </a:pPr>
            <a:r>
              <a:rPr sz="975" b="0" i="0">
                <a:solidFill>
                  <a:srgbClr val="BFCBE8"/>
                </a:solidFill>
              </a:rPr>
              <a:t>final 9,551 × 27 analytical dataset</a:t>
            </a:r>
          </a:p>
        </p:txBody>
      </p:sp>
      <p:sp>
        <p:nvSpPr>
          <p:cNvPr id="20" name="">
            <a:extLst xmlns:a="http://schemas.openxmlformats.org/drawingml/2006/main">
              <a:ext uri="{FF2B5EF4-FFF2-40B4-BE49-F238E27FC236}">
                <a16:creationId xmlns:a16="http://schemas.microsoft.com/office/drawing/2014/main" id="{C9003250-69A6-4443-8E8F-A26CDE5B6426}"/>
              </a:ext>
            </a:extLst>
          </p:cNvPr>
          <p:cNvSpPr>
            <a:spLocks xmlns:a="http://schemas.openxmlformats.org/drawingml/2006/main" noGrp="1"/>
          </p:cNvSpPr>
          <p:nvPr/>
        </p:nvSpPr>
        <p:spPr>
          <a:xfrm xmlns:a="http://schemas.openxmlformats.org/drawingml/2006/main" rot="0">
            <a:off x="628650" y="4743450"/>
            <a:ext cx="323850" cy="323850"/>
          </a:xfrm>
          <a:prstGeom xmlns:a="http://schemas.openxmlformats.org/drawingml/2006/main" prst="ellipse">
            <a:avLst/>
          </a:prstGeom>
          <a:solidFill xmlns:a="http://schemas.openxmlformats.org/drawingml/2006/main">
            <a:srgbClr val="2F4B9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A68861B-F32D-4D2A-A3E9-B974A13A9152}"/>
              </a:ext>
            </a:extLst>
          </p:cNvPr>
          <p:cNvSpPr>
            <a:spLocks xmlns:a="http://schemas.openxmlformats.org/drawingml/2006/main" noGrp="1"/>
          </p:cNvSpPr>
          <p:nvPr/>
        </p:nvSpPr>
        <p:spPr>
          <a:xfrm xmlns:a="http://schemas.openxmlformats.org/drawingml/2006/main">
            <a:off x="628650" y="4808220"/>
            <a:ext cx="323850" cy="1878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FFFFFF"/>
                </a:solidFill>
              </a:defRPr>
            </a:pPr>
            <a:r>
              <a:rPr sz="1200" b="1" i="0">
                <a:solidFill>
                  <a:srgbClr val="FFFFFF"/>
                </a:solidFill>
              </a:rPr>
              <a:t>✓</a:t>
            </a:r>
          </a:p>
        </p:txBody>
      </p:sp>
      <p:sp>
        <p:nvSpPr>
          <p:cNvPr id="22" name="">
            <a:extLst xmlns:a="http://schemas.openxmlformats.org/drawingml/2006/main">
              <a:ext uri="{FF2B5EF4-FFF2-40B4-BE49-F238E27FC236}">
                <a16:creationId xmlns:a16="http://schemas.microsoft.com/office/drawing/2014/main" id="{64B0C82B-01AC-417C-84AC-2F0702CE631E}"/>
              </a:ext>
            </a:extLst>
          </p:cNvPr>
          <p:cNvSpPr>
            <a:spLocks xmlns:a="http://schemas.openxmlformats.org/drawingml/2006/main" noGrp="1"/>
          </p:cNvSpPr>
          <p:nvPr/>
        </p:nvSpPr>
        <p:spPr>
          <a:xfrm xmlns:a="http://schemas.openxmlformats.org/drawingml/2006/main">
            <a:off x="1123950" y="47339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FFFFFF"/>
                </a:solidFill>
              </a:defRPr>
            </a:pPr>
            <a:r>
              <a:rPr sz="1275" b="1" i="0">
                <a:solidFill>
                  <a:srgbClr val="FFFFFF"/>
                </a:solidFill>
              </a:rPr>
              <a:t>Cognifyz_Task_Report.html</a:t>
            </a:r>
          </a:p>
        </p:txBody>
      </p:sp>
      <p:sp>
        <p:nvSpPr>
          <p:cNvPr id="23" name="">
            <a:extLst xmlns:a="http://schemas.openxmlformats.org/drawingml/2006/main">
              <a:ext uri="{FF2B5EF4-FFF2-40B4-BE49-F238E27FC236}">
                <a16:creationId xmlns:a16="http://schemas.microsoft.com/office/drawing/2014/main" id="{143F8CC3-A3C0-4816-9DF0-640FD8378652}"/>
              </a:ext>
            </a:extLst>
          </p:cNvPr>
          <p:cNvSpPr>
            <a:spLocks xmlns:a="http://schemas.openxmlformats.org/drawingml/2006/main" noGrp="1"/>
          </p:cNvSpPr>
          <p:nvPr/>
        </p:nvSpPr>
        <p:spPr>
          <a:xfrm xmlns:a="http://schemas.openxmlformats.org/drawingml/2006/main">
            <a:off x="1123950" y="50006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BFCBE8"/>
                </a:solidFill>
              </a:defRPr>
            </a:pPr>
            <a:r>
              <a:rPr sz="975" b="0" i="0">
                <a:solidFill>
                  <a:srgbClr val="BFCBE8"/>
                </a:solidFill>
              </a:rPr>
              <a:t>formatted evidence and verified insights</a:t>
            </a:r>
          </a:p>
        </p:txBody>
      </p:sp>
      <p:sp>
        <p:nvSpPr>
          <p:cNvPr id="24" name="">
            <a:extLst xmlns:a="http://schemas.openxmlformats.org/drawingml/2006/main">
              <a:ext uri="{FF2B5EF4-FFF2-40B4-BE49-F238E27FC236}">
                <a16:creationId xmlns:a16="http://schemas.microsoft.com/office/drawing/2014/main" id="{410921BD-D3C4-4A8E-9B12-F5922702F5F3}"/>
              </a:ext>
            </a:extLst>
          </p:cNvPr>
          <p:cNvSpPr>
            <a:spLocks xmlns:a="http://schemas.openxmlformats.org/drawingml/2006/main" noGrp="1"/>
          </p:cNvSpPr>
          <p:nvPr/>
        </p:nvSpPr>
        <p:spPr>
          <a:xfrm xmlns:a="http://schemas.openxmlformats.org/drawingml/2006/main" rot="0">
            <a:off x="6743700" y="1428750"/>
            <a:ext cx="4095750" cy="461010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db77165fbc414749"/>
          <a:stretch xmlns:a="http://schemas.openxmlformats.org/drawingml/2006/main"/>
        </p:blipFill>
        <p:spPr>
          <a:xfrm xmlns:a="http://schemas.openxmlformats.org/drawingml/2006/main">
            <a:off x="7142884" y="1600200"/>
            <a:ext cx="3297382" cy="42672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7F3B55AE-A3FF-423B-8596-5EC0C67472AE}"/>
              </a:ext>
            </a:extLst>
          </p:cNvPr>
          <p:cNvSpPr>
            <a:spLocks xmlns:a="http://schemas.openxmlformats.org/drawingml/2006/main" noGrp="1"/>
          </p:cNvSpPr>
          <p:nvPr/>
        </p:nvSpPr>
        <p:spPr>
          <a:xfrm xmlns:a="http://schemas.openxmlformats.org/drawingml/2006/main">
            <a:off x="6753225" y="60960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BFCBE8"/>
                </a:solidFill>
              </a:defRPr>
            </a:pPr>
            <a:r>
              <a:rPr sz="975" b="0" i="0">
                <a:solidFill>
                  <a:srgbClr val="BFCBE8"/>
                </a:solidFill>
              </a:rPr>
              <a:t>Intern ID: CTI/A1/C328746</a:t>
            </a:r>
          </a:p>
        </p:txBody>
      </p:sp>
      <p:sp>
        <p:nvSpPr>
          <p:cNvPr id="27" name="">
            <a:extLst xmlns:a="http://schemas.openxmlformats.org/drawingml/2006/main">
              <a:ext uri="{FF2B5EF4-FFF2-40B4-BE49-F238E27FC236}">
                <a16:creationId xmlns:a16="http://schemas.microsoft.com/office/drawing/2014/main" id="{59042756-87A0-4B4D-BDBD-84A3DF643CF7}"/>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AAB7D8"/>
                </a:solidFill>
              </a:defRPr>
            </a:pPr>
            <a:r>
              <a:rPr sz="750" b="0" i="0">
                <a:solidFill>
                  <a:srgbClr val="AAB7D8"/>
                </a:solidFill>
              </a:rPr>
              <a:t>Data Science Internship • Tushar Singh</a:t>
            </a:r>
          </a:p>
        </p:txBody>
      </p:sp>
      <p:sp>
        <p:nvSpPr>
          <p:cNvPr id="28" name="">
            <a:extLst xmlns:a="http://schemas.openxmlformats.org/drawingml/2006/main">
              <a:ext uri="{FF2B5EF4-FFF2-40B4-BE49-F238E27FC236}">
                <a16:creationId xmlns:a16="http://schemas.microsoft.com/office/drawing/2014/main" id="{F8D27339-6FA0-4689-BBAA-9E7B1AD19E1F}"/>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AAB7D8"/>
                </a:solidFill>
              </a:defRPr>
            </a:pPr>
            <a:r>
              <a:rPr sz="750" b="0" i="0">
                <a:solidFill>
                  <a:srgbClr val="AAB7D8"/>
                </a:solidFill>
              </a:rPr>
              <a:t>12</a:t>
            </a:r>
          </a:p>
        </p:txBody>
      </p:sp>
    </p:spTree>
    <p:extLst>
      <p:ext uri="{BB962C8B-B14F-4D97-AF65-F5344CB8AC3E}">
        <p14:creationId xmlns:p14="http://schemas.microsoft.com/office/powerpoint/2010/main" val="809637636"/>
      </p:ext>
    </p:extLst>
  </p:cSld>
</p:sld>
</file>

<file path=ppt/slides/slide1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8585654-F483-4123-8ECC-DFB15528473D}"/>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03574"/>
                </a:solidFill>
              </a:defRPr>
            </a:pPr>
            <a:r>
              <a:rPr sz="975" b="1" i="0">
                <a:solidFill>
                  <a:srgbClr val="203574"/>
                </a:solidFill>
              </a:rPr>
              <a:t>CONCLUSION</a:t>
            </a:r>
          </a:p>
        </p:txBody>
      </p:sp>
      <p:sp>
        <p:nvSpPr>
          <p:cNvPr id="2" name="">
            <a:extLst xmlns:a="http://schemas.openxmlformats.org/drawingml/2006/main">
              <a:ext uri="{FF2B5EF4-FFF2-40B4-BE49-F238E27FC236}">
                <a16:creationId xmlns:a16="http://schemas.microsoft.com/office/drawing/2014/main" id="{F9A4DABF-2ABE-4482-A495-DC5887C419FD}"/>
              </a:ext>
            </a:extLst>
          </p:cNvPr>
          <p:cNvSpPr>
            <a:spLocks xmlns:a="http://schemas.openxmlformats.org/drawingml/2006/main" noGrp="1"/>
          </p:cNvSpPr>
          <p:nvPr/>
        </p:nvSpPr>
        <p:spPr>
          <a:xfrm xmlns:a="http://schemas.openxmlformats.org/drawingml/2006/main">
            <a:off x="609600" y="78105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02534"/>
                </a:solidFill>
              </a:defRPr>
            </a:pPr>
            <a:r>
              <a:rPr sz="2700" b="1" i="0">
                <a:solidFill>
                  <a:srgbClr val="202534"/>
                </a:solidFill>
              </a:rPr>
              <a:t>Raw restaurant data became useful business evidence</a:t>
            </a:r>
          </a:p>
        </p:txBody>
      </p:sp>
      <p:sp>
        <p:nvSpPr>
          <p:cNvPr id="3" name="">
            <a:extLst xmlns:a="http://schemas.openxmlformats.org/drawingml/2006/main">
              <a:ext uri="{FF2B5EF4-FFF2-40B4-BE49-F238E27FC236}">
                <a16:creationId xmlns:a16="http://schemas.microsoft.com/office/drawing/2014/main" id="{653BF316-B024-446D-B58D-0229A065F242}"/>
              </a:ext>
            </a:extLst>
          </p:cNvPr>
          <p:cNvSpPr>
            <a:spLocks xmlns:a="http://schemas.openxmlformats.org/drawingml/2006/main" noGrp="1"/>
          </p:cNvSpPr>
          <p:nvPr/>
        </p:nvSpPr>
        <p:spPr>
          <a:xfrm xmlns:a="http://schemas.openxmlformats.org/drawingml/2006/main">
            <a:off x="609600" y="1657350"/>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F2B400"/>
                </a:solidFill>
              </a:defRPr>
            </a:pPr>
            <a:r>
              <a:rPr sz="2400" b="1" i="0">
                <a:solidFill>
                  <a:srgbClr val="F2B400"/>
                </a:solidFill>
              </a:rPr>
              <a:t>01</a:t>
            </a:r>
          </a:p>
        </p:txBody>
      </p:sp>
      <p:sp>
        <p:nvSpPr>
          <p:cNvPr id="4" name="">
            <a:extLst xmlns:a="http://schemas.openxmlformats.org/drawingml/2006/main">
              <a:ext uri="{FF2B5EF4-FFF2-40B4-BE49-F238E27FC236}">
                <a16:creationId xmlns:a16="http://schemas.microsoft.com/office/drawing/2014/main" id="{01B07CA1-FFEC-479D-8A0E-6F3AACB077D4}"/>
              </a:ext>
            </a:extLst>
          </p:cNvPr>
          <p:cNvSpPr>
            <a:spLocks xmlns:a="http://schemas.openxmlformats.org/drawingml/2006/main" noGrp="1"/>
          </p:cNvSpPr>
          <p:nvPr/>
        </p:nvSpPr>
        <p:spPr>
          <a:xfrm xmlns:a="http://schemas.openxmlformats.org/drawingml/2006/main">
            <a:off x="1504950" y="16573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42150"/>
                </a:solidFill>
              </a:defRPr>
            </a:pPr>
            <a:r>
              <a:rPr sz="1575" b="1" i="0">
                <a:solidFill>
                  <a:srgbClr val="142150"/>
                </a:solidFill>
              </a:rPr>
              <a:t>Reliable foundation</a:t>
            </a:r>
          </a:p>
        </p:txBody>
      </p:sp>
      <p:sp>
        <p:nvSpPr>
          <p:cNvPr id="5" name="">
            <a:extLst xmlns:a="http://schemas.openxmlformats.org/drawingml/2006/main">
              <a:ext uri="{FF2B5EF4-FFF2-40B4-BE49-F238E27FC236}">
                <a16:creationId xmlns:a16="http://schemas.microsoft.com/office/drawing/2014/main" id="{6802AB18-D7FB-4DF0-A7E6-5E1716A4F21D}"/>
              </a:ext>
            </a:extLst>
          </p:cNvPr>
          <p:cNvSpPr>
            <a:spLocks xmlns:a="http://schemas.openxmlformats.org/drawingml/2006/main" noGrp="1"/>
          </p:cNvSpPr>
          <p:nvPr/>
        </p:nvSpPr>
        <p:spPr>
          <a:xfrm xmlns:a="http://schemas.openxmlformats.org/drawingml/2006/main">
            <a:off x="1504950" y="2057400"/>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A83"/>
                </a:solidFill>
              </a:defRPr>
            </a:pPr>
            <a:r>
              <a:rPr sz="1275" b="0" i="0">
                <a:solidFill>
                  <a:srgbClr val="5E6A83"/>
                </a:solidFill>
              </a:rPr>
              <a:t>Missing values were resolved, unrated records identified, and the source preserved.</a:t>
            </a:r>
          </a:p>
        </p:txBody>
      </p:sp>
      <p:sp>
        <p:nvSpPr>
          <p:cNvPr id="6" name="">
            <a:extLst xmlns:a="http://schemas.openxmlformats.org/drawingml/2006/main">
              <a:ext uri="{FF2B5EF4-FFF2-40B4-BE49-F238E27FC236}">
                <a16:creationId xmlns:a16="http://schemas.microsoft.com/office/drawing/2014/main" id="{1395302B-FF48-4550-996A-CEF014317A28}"/>
              </a:ext>
            </a:extLst>
          </p:cNvPr>
          <p:cNvSpPr>
            <a:spLocks xmlns:a="http://schemas.openxmlformats.org/drawingml/2006/main" noGrp="1"/>
          </p:cNvSpPr>
          <p:nvPr/>
        </p:nvSpPr>
        <p:spPr>
          <a:xfrm xmlns:a="http://schemas.openxmlformats.org/drawingml/2006/main">
            <a:off x="1504950" y="2724150"/>
            <a:ext cx="8191500" cy="0"/>
          </a:xfrm>
          <a:prstGeom xmlns:a="http://schemas.openxmlformats.org/drawingml/2006/main" prst="line">
            <a:avLst/>
          </a:prstGeom>
          <a:noFill xmlns:a="http://schemas.openxmlformats.org/drawingml/2006/main"/>
          <a:ln xmlns:a="http://schemas.openxmlformats.org/drawingml/2006/main" w="9525">
            <a:solidFill>
              <a:srgbClr val="D4DDED"/>
            </a:solidFill>
            <a:prstDash val="solid"/>
          </a:ln>
        </p:spPr>
      </p:sp>
      <p:sp>
        <p:nvSpPr>
          <p:cNvPr id="7" name="">
            <a:extLst xmlns:a="http://schemas.openxmlformats.org/drawingml/2006/main">
              <a:ext uri="{FF2B5EF4-FFF2-40B4-BE49-F238E27FC236}">
                <a16:creationId xmlns:a16="http://schemas.microsoft.com/office/drawing/2014/main" id="{5ACDAC03-101D-4627-96B5-FF2EA54A6796}"/>
              </a:ext>
            </a:extLst>
          </p:cNvPr>
          <p:cNvSpPr>
            <a:spLocks xmlns:a="http://schemas.openxmlformats.org/drawingml/2006/main" noGrp="1"/>
          </p:cNvSpPr>
          <p:nvPr/>
        </p:nvSpPr>
        <p:spPr>
          <a:xfrm xmlns:a="http://schemas.openxmlformats.org/drawingml/2006/main">
            <a:off x="609600" y="2914650"/>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F2B400"/>
                </a:solidFill>
              </a:defRPr>
            </a:pPr>
            <a:r>
              <a:rPr sz="2400" b="1" i="0">
                <a:solidFill>
                  <a:srgbClr val="F2B400"/>
                </a:solidFill>
              </a:rPr>
              <a:t>02</a:t>
            </a:r>
          </a:p>
        </p:txBody>
      </p:sp>
      <p:sp>
        <p:nvSpPr>
          <p:cNvPr id="8" name="">
            <a:extLst xmlns:a="http://schemas.openxmlformats.org/drawingml/2006/main">
              <a:ext uri="{FF2B5EF4-FFF2-40B4-BE49-F238E27FC236}">
                <a16:creationId xmlns:a16="http://schemas.microsoft.com/office/drawing/2014/main" id="{9B539EF0-8405-44A0-BF57-6CA0C5FADBA1}"/>
              </a:ext>
            </a:extLst>
          </p:cNvPr>
          <p:cNvSpPr>
            <a:spLocks xmlns:a="http://schemas.openxmlformats.org/drawingml/2006/main" noGrp="1"/>
          </p:cNvSpPr>
          <p:nvPr/>
        </p:nvSpPr>
        <p:spPr>
          <a:xfrm xmlns:a="http://schemas.openxmlformats.org/drawingml/2006/main">
            <a:off x="1504950" y="29146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42150"/>
                </a:solidFill>
              </a:defRPr>
            </a:pPr>
            <a:r>
              <a:rPr sz="1575" b="1" i="0">
                <a:solidFill>
                  <a:srgbClr val="142150"/>
                </a:solidFill>
              </a:rPr>
              <a:t>Interpretable findings</a:t>
            </a:r>
          </a:p>
        </p:txBody>
      </p:sp>
      <p:sp>
        <p:nvSpPr>
          <p:cNvPr id="9" name="">
            <a:extLst xmlns:a="http://schemas.openxmlformats.org/drawingml/2006/main">
              <a:ext uri="{FF2B5EF4-FFF2-40B4-BE49-F238E27FC236}">
                <a16:creationId xmlns:a16="http://schemas.microsoft.com/office/drawing/2014/main" id="{E41FDD7D-2399-4439-95A7-D1BA1D0F25E3}"/>
              </a:ext>
            </a:extLst>
          </p:cNvPr>
          <p:cNvSpPr>
            <a:spLocks xmlns:a="http://schemas.openxmlformats.org/drawingml/2006/main" noGrp="1"/>
          </p:cNvSpPr>
          <p:nvPr/>
        </p:nvSpPr>
        <p:spPr>
          <a:xfrm xmlns:a="http://schemas.openxmlformats.org/drawingml/2006/main">
            <a:off x="1504950" y="3314700"/>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A83"/>
                </a:solidFill>
              </a:defRPr>
            </a:pPr>
            <a:r>
              <a:rPr sz="1275" b="0" i="0">
                <a:solidFill>
                  <a:srgbClr val="5E6A83"/>
                </a:solidFill>
              </a:rPr>
              <a:t>Cuisine, city, service and price-range patterns were quantified with clear limits.</a:t>
            </a:r>
          </a:p>
        </p:txBody>
      </p:sp>
      <p:sp>
        <p:nvSpPr>
          <p:cNvPr id="10" name="">
            <a:extLst xmlns:a="http://schemas.openxmlformats.org/drawingml/2006/main">
              <a:ext uri="{FF2B5EF4-FFF2-40B4-BE49-F238E27FC236}">
                <a16:creationId xmlns:a16="http://schemas.microsoft.com/office/drawing/2014/main" id="{A49FBF49-F0DA-4416-AE8A-C321C5937DA1}"/>
              </a:ext>
            </a:extLst>
          </p:cNvPr>
          <p:cNvSpPr>
            <a:spLocks xmlns:a="http://schemas.openxmlformats.org/drawingml/2006/main" noGrp="1"/>
          </p:cNvSpPr>
          <p:nvPr/>
        </p:nvSpPr>
        <p:spPr>
          <a:xfrm xmlns:a="http://schemas.openxmlformats.org/drawingml/2006/main">
            <a:off x="1504950" y="3981450"/>
            <a:ext cx="8191500" cy="0"/>
          </a:xfrm>
          <a:prstGeom xmlns:a="http://schemas.openxmlformats.org/drawingml/2006/main" prst="line">
            <a:avLst/>
          </a:prstGeom>
          <a:noFill xmlns:a="http://schemas.openxmlformats.org/drawingml/2006/main"/>
          <a:ln xmlns:a="http://schemas.openxmlformats.org/drawingml/2006/main" w="9525">
            <a:solidFill>
              <a:srgbClr val="D4DDED"/>
            </a:solidFill>
            <a:prstDash val="solid"/>
          </a:ln>
        </p:spPr>
      </p:sp>
      <p:sp>
        <p:nvSpPr>
          <p:cNvPr id="11" name="">
            <a:extLst xmlns:a="http://schemas.openxmlformats.org/drawingml/2006/main">
              <a:ext uri="{FF2B5EF4-FFF2-40B4-BE49-F238E27FC236}">
                <a16:creationId xmlns:a16="http://schemas.microsoft.com/office/drawing/2014/main" id="{BF70C943-34E4-47DF-A084-C16E12DFEA52}"/>
              </a:ext>
            </a:extLst>
          </p:cNvPr>
          <p:cNvSpPr>
            <a:spLocks xmlns:a="http://schemas.openxmlformats.org/drawingml/2006/main" noGrp="1"/>
          </p:cNvSpPr>
          <p:nvPr/>
        </p:nvSpPr>
        <p:spPr>
          <a:xfrm xmlns:a="http://schemas.openxmlformats.org/drawingml/2006/main">
            <a:off x="609600" y="4171950"/>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F2B400"/>
                </a:solidFill>
              </a:defRPr>
            </a:pPr>
            <a:r>
              <a:rPr sz="2400" b="1" i="0">
                <a:solidFill>
                  <a:srgbClr val="F2B400"/>
                </a:solidFill>
              </a:rPr>
              <a:t>03</a:t>
            </a:r>
          </a:p>
        </p:txBody>
      </p:sp>
      <p:sp>
        <p:nvSpPr>
          <p:cNvPr id="12" name="">
            <a:extLst xmlns:a="http://schemas.openxmlformats.org/drawingml/2006/main">
              <a:ext uri="{FF2B5EF4-FFF2-40B4-BE49-F238E27FC236}">
                <a16:creationId xmlns:a16="http://schemas.microsoft.com/office/drawing/2014/main" id="{8882E107-8872-437A-854A-456787956E12}"/>
              </a:ext>
            </a:extLst>
          </p:cNvPr>
          <p:cNvSpPr>
            <a:spLocks xmlns:a="http://schemas.openxmlformats.org/drawingml/2006/main" noGrp="1"/>
          </p:cNvSpPr>
          <p:nvPr/>
        </p:nvSpPr>
        <p:spPr>
          <a:xfrm xmlns:a="http://schemas.openxmlformats.org/drawingml/2006/main">
            <a:off x="1504950" y="4171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42150"/>
                </a:solidFill>
              </a:defRPr>
            </a:pPr>
            <a:r>
              <a:rPr sz="1575" b="1" i="0">
                <a:solidFill>
                  <a:srgbClr val="142150"/>
                </a:solidFill>
              </a:rPr>
              <a:t>Reusable output</a:t>
            </a:r>
          </a:p>
        </p:txBody>
      </p:sp>
      <p:sp>
        <p:nvSpPr>
          <p:cNvPr id="13" name="">
            <a:extLst xmlns:a="http://schemas.openxmlformats.org/drawingml/2006/main">
              <a:ext uri="{FF2B5EF4-FFF2-40B4-BE49-F238E27FC236}">
                <a16:creationId xmlns:a16="http://schemas.microsoft.com/office/drawing/2014/main" id="{A865AB38-D3A4-41A5-B403-5CF4538A0591}"/>
              </a:ext>
            </a:extLst>
          </p:cNvPr>
          <p:cNvSpPr>
            <a:spLocks xmlns:a="http://schemas.openxmlformats.org/drawingml/2006/main" noGrp="1"/>
          </p:cNvSpPr>
          <p:nvPr/>
        </p:nvSpPr>
        <p:spPr>
          <a:xfrm xmlns:a="http://schemas.openxmlformats.org/drawingml/2006/main">
            <a:off x="1504950" y="4572000"/>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A83"/>
                </a:solidFill>
              </a:defRPr>
            </a:pPr>
            <a:r>
              <a:rPr sz="1275" b="0" i="0">
                <a:solidFill>
                  <a:srgbClr val="5E6A83"/>
                </a:solidFill>
              </a:rPr>
              <a:t>Six engineered variables created a documented 27-column dataset for future modelling.</a:t>
            </a:r>
          </a:p>
        </p:txBody>
      </p:sp>
      <p:sp>
        <p:nvSpPr>
          <p:cNvPr id="14" name="">
            <a:extLst xmlns:a="http://schemas.openxmlformats.org/drawingml/2006/main">
              <a:ext uri="{FF2B5EF4-FFF2-40B4-BE49-F238E27FC236}">
                <a16:creationId xmlns:a16="http://schemas.microsoft.com/office/drawing/2014/main" id="{A16C9B99-5196-4660-B6BF-D26124419C59}"/>
              </a:ext>
            </a:extLst>
          </p:cNvPr>
          <p:cNvSpPr>
            <a:spLocks xmlns:a="http://schemas.openxmlformats.org/drawingml/2006/main" noGrp="1"/>
          </p:cNvSpPr>
          <p:nvPr/>
        </p:nvSpPr>
        <p:spPr>
          <a:xfrm xmlns:a="http://schemas.openxmlformats.org/drawingml/2006/main" rot="0">
            <a:off x="9620250" y="1495425"/>
            <a:ext cx="1809750" cy="3943350"/>
          </a:xfrm>
          <a:prstGeom xmlns:a="http://schemas.openxmlformats.org/drawingml/2006/main" prst="roundRect">
            <a:avLst>
              <a:gd name="adj" fmla="val 12632"/>
            </a:avLst>
          </a:prstGeom>
          <a:solidFill xmlns:a="http://schemas.openxmlformats.org/drawingml/2006/main">
            <a:srgbClr val="203574"/>
          </a:solidFill>
          <a:ln xmlns:a="http://schemas.openxmlformats.org/drawingml/2006/main" w="0">
            <a:no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a6250333189441c"/>
          <a:stretch xmlns:a="http://schemas.openxmlformats.org/drawingml/2006/main"/>
        </p:blipFill>
        <p:spPr>
          <a:xfrm xmlns:a="http://schemas.openxmlformats.org/drawingml/2006/main">
            <a:off x="10078357" y="1905000"/>
            <a:ext cx="893536" cy="9525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0B99DB0-3616-4071-9EA5-C7C479E5379E}"/>
              </a:ext>
            </a:extLst>
          </p:cNvPr>
          <p:cNvSpPr>
            <a:spLocks xmlns:a="http://schemas.openxmlformats.org/drawingml/2006/main" noGrp="1"/>
          </p:cNvSpPr>
          <p:nvPr/>
        </p:nvSpPr>
        <p:spPr>
          <a:xfrm xmlns:a="http://schemas.openxmlformats.org/drawingml/2006/main">
            <a:off x="9810750" y="3219450"/>
            <a:ext cx="142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i="0">
                <a:solidFill>
                  <a:srgbClr val="FFFFFF"/>
                </a:solidFill>
              </a:defRPr>
            </a:pPr>
            <a:r>
              <a:rPr sz="2850" b="1" i="0">
                <a:solidFill>
                  <a:srgbClr val="FFFFFF"/>
                </a:solidFill>
              </a:rPr>
              <a:t>Thank</a:t>
            </a:r>
          </a:p>
          <a:p xmlns:a="http://schemas.openxmlformats.org/drawingml/2006/main">
            <a:pPr algn="ctr">
              <a:defRPr sz="2850" b="1" i="0">
                <a:solidFill>
                  <a:srgbClr val="FFFFFF"/>
                </a:solidFill>
              </a:defRPr>
            </a:pPr>
            <a:r>
              <a:rPr sz="2850" b="1" i="0">
                <a:solidFill>
                  <a:srgbClr val="FFFFFF"/>
                </a:solidFill>
              </a:rPr>
              <a:t>You</a:t>
            </a:r>
          </a:p>
        </p:txBody>
      </p:sp>
      <p:sp>
        <p:nvSpPr>
          <p:cNvPr id="17" name="">
            <a:extLst xmlns:a="http://schemas.openxmlformats.org/drawingml/2006/main">
              <a:ext uri="{FF2B5EF4-FFF2-40B4-BE49-F238E27FC236}">
                <a16:creationId xmlns:a16="http://schemas.microsoft.com/office/drawing/2014/main" id="{081DCD87-2B7D-4E7B-89BD-DAAB737F203D}"/>
              </a:ext>
            </a:extLst>
          </p:cNvPr>
          <p:cNvSpPr>
            <a:spLocks xmlns:a="http://schemas.openxmlformats.org/drawingml/2006/main" noGrp="1"/>
          </p:cNvSpPr>
          <p:nvPr/>
        </p:nvSpPr>
        <p:spPr>
          <a:xfrm xmlns:a="http://schemas.openxmlformats.org/drawingml/2006/main">
            <a:off x="10077450" y="4362450"/>
            <a:ext cx="895350" cy="0"/>
          </a:xfrm>
          <a:prstGeom xmlns:a="http://schemas.openxmlformats.org/drawingml/2006/main" prst="line">
            <a:avLst/>
          </a:prstGeom>
          <a:noFill xmlns:a="http://schemas.openxmlformats.org/drawingml/2006/main"/>
          <a:ln xmlns:a="http://schemas.openxmlformats.org/drawingml/2006/main" w="28575">
            <a:solidFill>
              <a:srgbClr val="F2B400"/>
            </a:solidFill>
            <a:prstDash val="solid"/>
          </a:ln>
        </p:spPr>
      </p:sp>
      <p:sp>
        <p:nvSpPr>
          <p:cNvPr id="18" name="">
            <a:extLst xmlns:a="http://schemas.openxmlformats.org/drawingml/2006/main">
              <a:ext uri="{FF2B5EF4-FFF2-40B4-BE49-F238E27FC236}">
                <a16:creationId xmlns:a16="http://schemas.microsoft.com/office/drawing/2014/main" id="{7184C494-790D-4A55-8E05-7A15DF9133A1}"/>
              </a:ext>
            </a:extLst>
          </p:cNvPr>
          <p:cNvSpPr>
            <a:spLocks xmlns:a="http://schemas.openxmlformats.org/drawingml/2006/main" noGrp="1"/>
          </p:cNvSpPr>
          <p:nvPr/>
        </p:nvSpPr>
        <p:spPr>
          <a:xfrm xmlns:a="http://schemas.openxmlformats.org/drawingml/2006/main">
            <a:off x="9753600" y="4619625"/>
            <a:ext cx="154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Tushar Singh</a:t>
            </a:r>
          </a:p>
        </p:txBody>
      </p:sp>
      <p:sp>
        <p:nvSpPr>
          <p:cNvPr id="19" name="">
            <a:extLst xmlns:a="http://schemas.openxmlformats.org/drawingml/2006/main">
              <a:ext uri="{FF2B5EF4-FFF2-40B4-BE49-F238E27FC236}">
                <a16:creationId xmlns:a16="http://schemas.microsoft.com/office/drawing/2014/main" id="{ECBFD4CE-5328-4EF6-85E1-989F39434AFF}"/>
              </a:ext>
            </a:extLst>
          </p:cNvPr>
          <p:cNvSpPr>
            <a:spLocks xmlns:a="http://schemas.openxmlformats.org/drawingml/2006/main" noGrp="1"/>
          </p:cNvSpPr>
          <p:nvPr/>
        </p:nvSpPr>
        <p:spPr>
          <a:xfrm xmlns:a="http://schemas.openxmlformats.org/drawingml/2006/main">
            <a:off x="9753600" y="4933950"/>
            <a:ext cx="154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BFCBE8"/>
                </a:solidFill>
              </a:defRPr>
            </a:pPr>
            <a:r>
              <a:rPr sz="1050" b="0" i="0">
                <a:solidFill>
                  <a:srgbClr val="BFCBE8"/>
                </a:solidFill>
              </a:rPr>
              <a:t>2410030146</a:t>
            </a:r>
          </a:p>
        </p:txBody>
      </p:sp>
      <p:sp>
        <p:nvSpPr>
          <p:cNvPr id="20" name="">
            <a:extLst xmlns:a="http://schemas.openxmlformats.org/drawingml/2006/main">
              <a:ext uri="{FF2B5EF4-FFF2-40B4-BE49-F238E27FC236}">
                <a16:creationId xmlns:a16="http://schemas.microsoft.com/office/drawing/2014/main" id="{BB63E62A-428A-495A-AA14-F45260AE133C}"/>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E6A83"/>
                </a:solidFill>
              </a:defRPr>
            </a:pPr>
            <a:r>
              <a:rPr sz="750" b="0" i="0">
                <a:solidFill>
                  <a:srgbClr val="5E6A83"/>
                </a:solidFill>
              </a:rPr>
              <a:t>Data Science Internship • Tushar Singh</a:t>
            </a:r>
          </a:p>
        </p:txBody>
      </p:sp>
      <p:sp>
        <p:nvSpPr>
          <p:cNvPr id="21" name="">
            <a:extLst xmlns:a="http://schemas.openxmlformats.org/drawingml/2006/main">
              <a:ext uri="{FF2B5EF4-FFF2-40B4-BE49-F238E27FC236}">
                <a16:creationId xmlns:a16="http://schemas.microsoft.com/office/drawing/2014/main" id="{56546DAF-7F36-40A0-AD3F-3BD3762E8E3A}"/>
              </a:ext>
            </a:extLst>
          </p:cNvPr>
          <p:cNvSpPr>
            <a:spLocks xmlns:a="http://schemas.openxmlformats.org/drawingml/2006/main" noGrp="1"/>
          </p:cNvSpPr>
          <p:nvPr/>
        </p:nvSpPr>
        <p:spPr>
          <a:xfrm xmlns:a="http://schemas.openxmlformats.org/drawingml/2006/main">
            <a:off x="11258550" y="649605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E6A83"/>
                </a:solidFill>
              </a:defRPr>
            </a:pPr>
            <a:r>
              <a:rPr sz="750" b="0" i="0">
                <a:solidFill>
                  <a:srgbClr val="5E6A83"/>
                </a:solidFill>
              </a:rPr>
              <a:t>13</a:t>
            </a:r>
          </a:p>
        </p:txBody>
      </p:sp>
    </p:spTree>
    <p:extLst>
      <p:ext uri="{BB962C8B-B14F-4D97-AF65-F5344CB8AC3E}">
        <p14:creationId xmlns:p14="http://schemas.microsoft.com/office/powerpoint/2010/main" val="1585037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2026-08-29T20:56:16.6560000Z</dcterms:created>
  <dcterms:modified xsi:type="dcterms:W3CDTF">2026-08-29T20:56:16.6560000Z</dcterms:modified>
</coreProperties>
</file>